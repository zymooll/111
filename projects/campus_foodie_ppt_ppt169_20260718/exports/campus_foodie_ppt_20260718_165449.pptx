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4.xml"/>
</Relationships>
</file>

<file path=ppt/notesSlides/_rels/notesSlide15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5.xml"/>
</Relationships>
</file>

<file path=ppt/notesSlides/_rels/notesSlide16.xml.rels><?xml version="1.0" encoding="UTF-8" standalone="yes"?>
<Relationships xmlns="http://schemas.openxmlformats.org/package/2006/relationships">
  <Relationship Id="rId1" Type="http://schemas.openxmlformats.org/officeDocument/2006/relationships/slide" Target="../slides/slide16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大家好，我们带来的项目是 Campus Foodie，一个面向校园场景的智能饮食推荐系统。它解决的不是“附近有什么店”这么宽的问题，而是学生每天最真实的那一句：今天具体吃什么。我们的核心思路是把菜品推荐、地图发现、真实评价和后台治理放进一个可演示的闭环里，同时让 AI 只做受约束增强，而不是替代系统判断。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校园里其实不缺餐饮信息，缺的是一条能快速做决定的路径。学生面对的是分散的档口、不同预算、口味忌口、评价质量和地点不熟这些因素，它们叠在一起，就把一次午饭变成了选择成本。Campus Foodie 的切入点，就是把这些碎片收敛成一个更短的决策链路。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所以我们的方案不是先推荐商家，再让用户进菜单里继续挑。Campus Foodie 直接把推荐主体前移到菜品或套餐，让用户第一眼就看到可以吃什么、在哪里、为什么适合自己。地图、评价、后台和 DeepSeek 不是分散功能，而是共同服务这一次具体决策。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用户旅程看，我们刻意把首次体验做得很轻。游客可以先浏览、筛选、收藏，甚至先写评价草稿；只有当评价需要真正发布、需要身份归属时，系统才要求登录。登录之后，游客收藏、偏好和草稿会被幂等合并，这样既降低进入门槛，又保证关键贡献能回到真实账号上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产品表面上有四个入口，但它们其实构成的是一个闭环。首页帮助学生快速决定吃什么，地图帮助他找到在哪里吃，评价入口把消费体验转化为公共信息，管理端再负责把这些信息维护和审核起来。对路演来说，我们不是展示一堆页面，而是在展示一个能转起来的产品系统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首页只服务一个问题：帮用户更快做出今天这顿饭的选择。顶部搜索、品类、地点和预算筛选共同收敛候选，推荐卡片直接展示菜品、商家、评分、价格和理由。这里的理由可以由 DeepSeek 辅助生成，但推荐对象始终来自数据库候选，所以用户看到的是可验证的真实菜品。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吃饭不是只有选择菜品，还要知道它在哪里，以及吃完之后如何反馈。地图页支持筛选、普通点、聚合点和收藏星标，即使没有高德 Key，也能用校园示意地图保持核心语义。另一边，“我也吃过”入口让用户评价不被埋在详情页深处，体验可以自然回流成下一位同学的参考。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如果没有管理端，推荐系统很容易变成一次性的展示页。Campus Foodie 的管理端独立于用户端，管理员可以维护商家和菜品、审核评价、预校验 CSV 数据，并查看审计日志。也就是说，系统不仅能产生内容，还能处理内容质量、数据错误和管理责任。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技术架构上，初版采用前后端分离的模块化单体。用户端运行在五一七三端口，管理端运行在五一七四端口，FastAPI 后端统一承接用户和管理 API，再连接数据库、图片存储、DeepSeek、邮件和地图能力。这种结构开发效率高，同时每个模块的边界足够清晰，未来可以按推荐、上传或审核等方向拆分。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这里是我们对 AI 使用最关键的设计：DeepSeek 只重排，不凭空创造。系统先由数据库按校园、上架状态和筛选条件召回候选，再把去标识化画像和候选摘要交给模型。模型返回后，服务端还会验证候选 ID 是否合法；只要出现超时、限流、坏 JSON、重复 ID 或虚构 ID，就直接回退确定性排序。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评价模块也遵循同样的可控原则。图片先做真实格式、大小、像素和解码校验，文本经过本地规则，再由 DeepSeek 辅助判断；如果结论不明确，就进入管理员人工审核队列。发布后的评价会参与公开评分和阅读影响统计，于是用户贡献、审核治理和推荐质量形成一个闭环。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项目里有一些看起来不显眼，但很关键的工程设计。校园业务数据全部带 campus_id，并在服务端校验跨校园引用；列表使用不透明游标，适合移动端持续加载；写请求使用 Idempotency-Key，避免网络重试导致重复提交；错误响应采用 Problem Details 风格，让前端展示和后端排查都更稳定。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安全和隐私上，我们的原则是把 AI 放进边界里，而不是把边界交给 AI。用户令牌和管理员令牌使用不同 audience，密码只保存安全哈希，图片上传会重编码并清除 EXIF。发送给模型的数据只包含口味、预算、区域和聚合行为，不发送邮箱、令牌、账号 ID、评价原文或原始搜索文本。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从工程交付角度，我们希望这个项目不只是能跑，而是可以被验收。后端用 Pytest 验证认证、校园隔离、评分、幂等、分页和管理 API；前端用 Vitest 和 Testing Library 覆盖页面状态和表单交互；端到端用 Playwright 串起评价到审核的闭环。再加上 static_audit、OpenAPI 导出和 Docker Compose，评委能看到一条清晰的质量路径。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最后总结三个让项目站得住的设计。第一是菜品级推荐，直接减少用户决策成本；第二是受约束 AI，让 DeepSeek 提升语义能力但不破坏系统可控性；第三是可靠降级和内容治理，即使没有外部 Key，核心体验仍然可演示、可提交、可审核。它不是简单套一个大模型接口，而是把 AI 放进真实产品闭环里。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Campus Foodie 当前已经形成 MVP 闭环：推荐、地图、评价、审核、影响统计和安全降级都能贯通。后续我们会围绕统一身份、实时营业数据、情境推荐和推荐效果指标继续迭代。我们的目标很简单，让校园里的每一次选择更轻一点，也让系统里的每一次智能增强都可验证、可回退、可治理。谢谢大家，接下来欢迎提问。</a:t>
            </a: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4.xml"/>
</Relationships>
</file>

<file path=ppt/slides/_rels/slide15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5.xml"/>
</Relationships>
</file>

<file path=ppt/slides/_rels/slide16.xml.rels><?xml version="1.0" encoding="UTF-8" standalone="yes"?>
<Relationships xmlns="http://schemas.openxmlformats.org/package/2006/relationships">
  <Relationship Id="rId1" Type="http://schemas.openxmlformats.org/officeDocument/2006/relationships/slideLayout" Target="../slideLayouts/slideLayout1.xml"/>
  <Relationship Id="rId2" Type="http://schemas.openxmlformats.org/officeDocument/2006/relationships/notesSlide" Target="../notesSlides/notesSlide16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381000" y="-476250"/>
            <a:ext cx="12573000" cy="8382000"/>
            <a:chOff x="-381000" y="-476250"/>
            <a:chExt cx="12573000" cy="8382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gradFill>
              <a:gsLst>
                <a:gs pos="0">
                  <a:srgbClr val="EAF7EF"/>
                </a:gs>
                <a:gs pos="100000">
                  <a:srgbClr val="FBFFF7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8763000" y="-476250"/>
              <a:ext cx="3238500" cy="3238500"/>
            </a:xfrm>
            <a:prstGeom prst="ellipse">
              <a:avLst/>
            </a:prstGeom>
            <a:solidFill>
              <a:srgbClr val="FFB703">
                <a:alpha val="16000"/>
              </a:srgbClr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-381000" y="3905250"/>
              <a:ext cx="4000500" cy="4000500"/>
            </a:xfrm>
            <a:prstGeom prst="ellipse">
              <a:avLst/>
            </a:prstGeom>
            <a:solidFill>
              <a:srgbClr val="3A86FF">
                <a:alpha val="10000"/>
              </a:srgbClr>
            </a:solidFill>
            <a:ln>
              <a:noFill/>
            </a:ln>
          </p:spPr>
        </p:sp>
        <p:sp>
          <p:nvSpPr>
            <p:cNvPr id="5" name="Freeform 5"/>
            <p:cNvSpPr/>
            <p:nvPr/>
          </p:nvSpPr>
          <p:spPr>
            <a:xfrm>
              <a:off x="7905750" y="0"/>
              <a:ext cx="4286250" cy="4171950"/>
            </a:xfrm>
            <a:custGeom>
              <a:avLst/>
              <a:gdLst/>
              <a:ahLst/>
              <a:cxnLst/>
              <a:rect l="l" t="t" r="r" b="b"/>
              <a:pathLst>
                <a:path w="4286250" h="4171950">
                  <a:moveTo>
                    <a:pt x="0" y="0"/>
                  </a:moveTo>
                  <a:cubicBezTo>
                    <a:pt x="1905000" y="781050"/>
                    <a:pt x="3333750" y="2247900"/>
                    <a:pt x="4286250" y="4171950"/>
                  </a:cubicBezTo>
                  <a:lnTo>
                    <a:pt x="4286250" y="0"/>
                  </a:lnTo>
                  <a:close/>
                </a:path>
              </a:pathLst>
            </a:custGeom>
            <a:solidFill>
              <a:srgbClr val="1F8A70">
                <a:alpha val="80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7143750" y="1447800"/>
            <a:ext cx="3467100" cy="4367212"/>
            <a:chOff x="7143750" y="1447800"/>
            <a:chExt cx="3467100" cy="4367212"/>
          </a:xfrm>
        </p:grpSpPr>
        <p:sp>
          <p:nvSpPr>
            <p:cNvPr id="7" name="Freeform 7"/>
            <p:cNvSpPr/>
            <p:nvPr/>
          </p:nvSpPr>
          <p:spPr>
            <a:xfrm>
              <a:off x="7677150" y="1981200"/>
              <a:ext cx="2400300" cy="3028950"/>
            </a:xfrm>
            <a:custGeom>
              <a:avLst/>
              <a:gdLst/>
              <a:ahLst/>
              <a:cxnLst/>
              <a:rect l="l" t="t" r="r" b="b"/>
              <a:pathLst>
                <a:path w="2400300" h="3028950">
                  <a:moveTo>
                    <a:pt x="0" y="0"/>
                  </a:moveTo>
                  <a:lnTo>
                    <a:pt x="2400300" y="1409700"/>
                  </a:lnTo>
                  <a:lnTo>
                    <a:pt x="247650" y="3028950"/>
                  </a:lnTo>
                  <a:close/>
                </a:path>
              </a:pathLst>
            </a:custGeom>
            <a:solidFill>
              <a:srgbClr val="FFFFFF">
                <a:alpha val="72000"/>
              </a:srgbClr>
            </a:solidFill>
            <a:ln w="19050">
              <a:solidFill>
                <a:srgbClr val="BFD9CC"/>
              </a:solidFill>
            </a:ln>
          </p:spPr>
        </p:sp>
        <p:sp>
          <p:nvSpPr>
            <p:cNvPr id="8" name="Ellipse 8"/>
            <p:cNvSpPr/>
            <p:nvPr/>
          </p:nvSpPr>
          <p:spPr>
            <a:xfrm>
              <a:off x="7143750" y="14478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11" name="Group 11"/>
            <p:cNvGrpSpPr/>
            <p:nvPr/>
          </p:nvGrpSpPr>
          <p:grpSpPr>
            <a:xfrm>
              <a:off x="7477121" y="1779852"/>
              <a:ext cx="383385" cy="418041"/>
              <a:chOff x="7477121" y="1779852"/>
              <a:chExt cx="383385" cy="418041"/>
            </a:xfrm>
          </p:grpSpPr>
          <p:sp>
            <p:nvSpPr>
              <p:cNvPr id="9" name="Freeform 9"/>
              <p:cNvSpPr/>
              <p:nvPr/>
            </p:nvSpPr>
            <p:spPr>
              <a:xfrm>
                <a:off x="7727156" y="1797844"/>
                <a:ext cx="116681" cy="266700"/>
              </a:xfrm>
              <a:custGeom>
                <a:avLst/>
                <a:gdLst/>
                <a:ahLst/>
                <a:cxnLst/>
                <a:rect l="l" t="t" r="r" b="b"/>
                <a:pathLst>
                  <a:path w="116681" h="266700">
                    <a:moveTo>
                      <a:pt x="116681" y="0"/>
                    </a:moveTo>
                    <a:lnTo>
                      <a:pt x="116681" y="266700"/>
                    </a:lnTo>
                    <a:lnTo>
                      <a:pt x="0" y="266700"/>
                    </a:lnTo>
                    <a:cubicBezTo>
                      <a:pt x="0" y="266700"/>
                      <a:pt x="0" y="50006"/>
                      <a:pt x="116681" y="0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0" name="Freeform 10"/>
              <p:cNvSpPr/>
              <p:nvPr/>
            </p:nvSpPr>
            <p:spPr>
              <a:xfrm>
                <a:off x="7477121" y="1779852"/>
                <a:ext cx="383385" cy="418041"/>
              </a:xfrm>
              <a:custGeom>
                <a:avLst/>
                <a:gdLst/>
                <a:ahLst/>
                <a:cxnLst/>
                <a:rect l="l" t="t" r="r" b="b"/>
                <a:pathLst>
                  <a:path w="383385" h="418041">
                    <a:moveTo>
                      <a:pt x="83348" y="118004"/>
                    </a:moveTo>
                    <a:lnTo>
                      <a:pt x="83348" y="17991"/>
                    </a:lnTo>
                    <a:cubicBezTo>
                      <a:pt x="83348" y="8785"/>
                      <a:pt x="90811" y="1323"/>
                      <a:pt x="100016" y="1323"/>
                    </a:cubicBezTo>
                    <a:cubicBezTo>
                      <a:pt x="109222" y="1323"/>
                      <a:pt x="116685" y="8785"/>
                      <a:pt x="116685" y="17991"/>
                    </a:cubicBezTo>
                    <a:lnTo>
                      <a:pt x="116685" y="118004"/>
                    </a:lnTo>
                    <a:cubicBezTo>
                      <a:pt x="116685" y="127210"/>
                      <a:pt x="109222" y="134673"/>
                      <a:pt x="100016" y="134673"/>
                    </a:cubicBezTo>
                    <a:cubicBezTo>
                      <a:pt x="90811" y="134673"/>
                      <a:pt x="83348" y="127210"/>
                      <a:pt x="83348" y="118004"/>
                    </a:cubicBezTo>
                    <a:close/>
                    <a:moveTo>
                      <a:pt x="383385" y="17991"/>
                    </a:moveTo>
                    <a:lnTo>
                      <a:pt x="383385" y="401373"/>
                    </a:lnTo>
                    <a:cubicBezTo>
                      <a:pt x="383385" y="410578"/>
                      <a:pt x="375922" y="418041"/>
                      <a:pt x="366716" y="418041"/>
                    </a:cubicBezTo>
                    <a:cubicBezTo>
                      <a:pt x="357511" y="418041"/>
                      <a:pt x="350048" y="410578"/>
                      <a:pt x="350048" y="401373"/>
                    </a:cubicBezTo>
                    <a:lnTo>
                      <a:pt x="350048" y="301360"/>
                    </a:lnTo>
                    <a:lnTo>
                      <a:pt x="250035" y="301360"/>
                    </a:lnTo>
                    <a:cubicBezTo>
                      <a:pt x="240829" y="301360"/>
                      <a:pt x="233366" y="293897"/>
                      <a:pt x="233366" y="284691"/>
                    </a:cubicBezTo>
                    <a:cubicBezTo>
                      <a:pt x="234140" y="244763"/>
                      <a:pt x="239184" y="205032"/>
                      <a:pt x="248410" y="166176"/>
                    </a:cubicBezTo>
                    <a:cubicBezTo>
                      <a:pt x="268788" y="81812"/>
                      <a:pt x="307417" y="25263"/>
                      <a:pt x="360153" y="2677"/>
                    </a:cubicBezTo>
                    <a:cubicBezTo>
                      <a:pt x="365302" y="471"/>
                      <a:pt x="371214" y="999"/>
                      <a:pt x="375890" y="4082"/>
                    </a:cubicBezTo>
                    <a:cubicBezTo>
                      <a:pt x="380567" y="7165"/>
                      <a:pt x="383383" y="12390"/>
                      <a:pt x="383385" y="17991"/>
                    </a:cubicBezTo>
                    <a:close/>
                    <a:moveTo>
                      <a:pt x="350048" y="46953"/>
                    </a:moveTo>
                    <a:cubicBezTo>
                      <a:pt x="283018" y="98147"/>
                      <a:pt x="269892" y="222850"/>
                      <a:pt x="267329" y="268023"/>
                    </a:cubicBezTo>
                    <a:lnTo>
                      <a:pt x="350048" y="268023"/>
                    </a:lnTo>
                    <a:close/>
                    <a:moveTo>
                      <a:pt x="183131" y="15262"/>
                    </a:moveTo>
                    <a:cubicBezTo>
                      <a:pt x="182242" y="9305"/>
                      <a:pt x="178209" y="4290"/>
                      <a:pt x="172581" y="2145"/>
                    </a:cubicBezTo>
                    <a:cubicBezTo>
                      <a:pt x="166953" y="0"/>
                      <a:pt x="160606" y="1058"/>
                      <a:pt x="155977" y="4912"/>
                    </a:cubicBezTo>
                    <a:cubicBezTo>
                      <a:pt x="151349" y="8767"/>
                      <a:pt x="149160" y="14818"/>
                      <a:pt x="150252" y="20742"/>
                    </a:cubicBezTo>
                    <a:lnTo>
                      <a:pt x="166691" y="119316"/>
                    </a:lnTo>
                    <a:cubicBezTo>
                      <a:pt x="166691" y="156140"/>
                      <a:pt x="136840" y="185991"/>
                      <a:pt x="100016" y="185991"/>
                    </a:cubicBezTo>
                    <a:cubicBezTo>
                      <a:pt x="63193" y="185991"/>
                      <a:pt x="33341" y="156140"/>
                      <a:pt x="33341" y="119316"/>
                    </a:cubicBezTo>
                    <a:lnTo>
                      <a:pt x="49760" y="20742"/>
                    </a:lnTo>
                    <a:cubicBezTo>
                      <a:pt x="50852" y="14818"/>
                      <a:pt x="48663" y="8767"/>
                      <a:pt x="44035" y="4912"/>
                    </a:cubicBezTo>
                    <a:cubicBezTo>
                      <a:pt x="39407" y="1058"/>
                      <a:pt x="33059" y="0"/>
                      <a:pt x="27431" y="2145"/>
                    </a:cubicBezTo>
                    <a:cubicBezTo>
                      <a:pt x="21803" y="4290"/>
                      <a:pt x="17770" y="9305"/>
                      <a:pt x="16881" y="15262"/>
                    </a:cubicBezTo>
                    <a:lnTo>
                      <a:pt x="212" y="115274"/>
                    </a:lnTo>
                    <a:cubicBezTo>
                      <a:pt x="70" y="116177"/>
                      <a:pt x="0" y="117090"/>
                      <a:pt x="4" y="118004"/>
                    </a:cubicBezTo>
                    <a:cubicBezTo>
                      <a:pt x="73" y="166778"/>
                      <a:pt x="35266" y="208411"/>
                      <a:pt x="83348" y="216599"/>
                    </a:cubicBezTo>
                    <a:lnTo>
                      <a:pt x="83348" y="401373"/>
                    </a:lnTo>
                    <a:cubicBezTo>
                      <a:pt x="83348" y="410578"/>
                      <a:pt x="90811" y="418041"/>
                      <a:pt x="100016" y="418041"/>
                    </a:cubicBezTo>
                    <a:cubicBezTo>
                      <a:pt x="109222" y="418041"/>
                      <a:pt x="116685" y="410578"/>
                      <a:pt x="116685" y="401373"/>
                    </a:cubicBezTo>
                    <a:lnTo>
                      <a:pt x="116685" y="216599"/>
                    </a:lnTo>
                    <a:cubicBezTo>
                      <a:pt x="164767" y="208411"/>
                      <a:pt x="199960" y="166778"/>
                      <a:pt x="200029" y="118004"/>
                    </a:cubicBezTo>
                    <a:cubicBezTo>
                      <a:pt x="200026" y="117089"/>
                      <a:pt x="199949" y="116177"/>
                      <a:pt x="199800" y="115274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2" name="TextBox 12"/>
            <p:cNvSpPr txBox="1"/>
            <p:nvPr/>
          </p:nvSpPr>
          <p:spPr>
            <a:xfrm>
              <a:off x="7453789" y="25727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吃什么</a:t>
              </a:r>
            </a:p>
          </p:txBody>
        </p:sp>
        <p:sp>
          <p:nvSpPr>
            <p:cNvPr id="13" name="Ellipse 13"/>
            <p:cNvSpPr/>
            <p:nvPr/>
          </p:nvSpPr>
          <p:spPr>
            <a:xfrm>
              <a:off x="9544050" y="285750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9894094" y="3157538"/>
              <a:ext cx="366712" cy="467726"/>
              <a:chOff x="9894094" y="3157538"/>
              <a:chExt cx="366712" cy="467726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9910762" y="3174206"/>
                <a:ext cx="333375" cy="433388"/>
              </a:xfrm>
              <a:custGeom>
                <a:avLst/>
                <a:gdLst/>
                <a:ahLst/>
                <a:cxnLst/>
                <a:rect l="l" t="t" r="r" b="b"/>
                <a:pathLst>
                  <a:path w="333375" h="433388">
                    <a:moveTo>
                      <a:pt x="166688" y="0"/>
                    </a:moveTo>
                    <a:cubicBezTo>
                      <a:pt x="74629" y="0"/>
                      <a:pt x="0" y="74629"/>
                      <a:pt x="0" y="166688"/>
                    </a:cubicBezTo>
                    <a:cubicBezTo>
                      <a:pt x="0" y="316706"/>
                      <a:pt x="166688" y="433388"/>
                      <a:pt x="166688" y="433388"/>
                    </a:cubicBezTo>
                    <a:cubicBezTo>
                      <a:pt x="166688" y="433388"/>
                      <a:pt x="333375" y="316706"/>
                      <a:pt x="333375" y="166688"/>
                    </a:cubicBezTo>
                    <a:cubicBezTo>
                      <a:pt x="333375" y="74629"/>
                      <a:pt x="258746" y="0"/>
                      <a:pt x="166688" y="0"/>
                    </a:cubicBezTo>
                    <a:close/>
                    <a:moveTo>
                      <a:pt x="166688" y="233362"/>
                    </a:moveTo>
                    <a:cubicBezTo>
                      <a:pt x="129864" y="233362"/>
                      <a:pt x="100012" y="203511"/>
                      <a:pt x="100012" y="166688"/>
                    </a:cubicBezTo>
                    <a:cubicBezTo>
                      <a:pt x="100012" y="129864"/>
                      <a:pt x="129864" y="100012"/>
                      <a:pt x="166688" y="100012"/>
                    </a:cubicBezTo>
                    <a:cubicBezTo>
                      <a:pt x="203511" y="100012"/>
                      <a:pt x="233362" y="129864"/>
                      <a:pt x="233362" y="166688"/>
                    </a:cubicBezTo>
                    <a:cubicBezTo>
                      <a:pt x="233362" y="203511"/>
                      <a:pt x="203511" y="233362"/>
                      <a:pt x="166688" y="233362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9894094" y="3157538"/>
                <a:ext cx="366712" cy="467726"/>
              </a:xfrm>
              <a:custGeom>
                <a:avLst/>
                <a:gdLst/>
                <a:ahLst/>
                <a:cxnLst/>
                <a:rect l="l" t="t" r="r" b="b"/>
                <a:pathLst>
                  <a:path w="366712" h="467726">
                    <a:moveTo>
                      <a:pt x="183356" y="100012"/>
                    </a:moveTo>
                    <a:cubicBezTo>
                      <a:pt x="137327" y="100012"/>
                      <a:pt x="100012" y="137327"/>
                      <a:pt x="100012" y="183356"/>
                    </a:cubicBezTo>
                    <a:cubicBezTo>
                      <a:pt x="100012" y="229386"/>
                      <a:pt x="137327" y="266700"/>
                      <a:pt x="183356" y="266700"/>
                    </a:cubicBezTo>
                    <a:cubicBezTo>
                      <a:pt x="229386" y="266700"/>
                      <a:pt x="266700" y="229386"/>
                      <a:pt x="266700" y="183356"/>
                    </a:cubicBezTo>
                    <a:cubicBezTo>
                      <a:pt x="266700" y="137327"/>
                      <a:pt x="229386" y="100012"/>
                      <a:pt x="183356" y="100012"/>
                    </a:cubicBezTo>
                    <a:close/>
                    <a:moveTo>
                      <a:pt x="183356" y="233362"/>
                    </a:moveTo>
                    <a:cubicBezTo>
                      <a:pt x="155739" y="233362"/>
                      <a:pt x="133350" y="210974"/>
                      <a:pt x="133350" y="183356"/>
                    </a:cubicBezTo>
                    <a:cubicBezTo>
                      <a:pt x="133350" y="155739"/>
                      <a:pt x="155739" y="133350"/>
                      <a:pt x="183356" y="133350"/>
                    </a:cubicBezTo>
                    <a:cubicBezTo>
                      <a:pt x="210974" y="133350"/>
                      <a:pt x="233362" y="155739"/>
                      <a:pt x="233362" y="183356"/>
                    </a:cubicBezTo>
                    <a:cubicBezTo>
                      <a:pt x="233362" y="210974"/>
                      <a:pt x="210974" y="233362"/>
                      <a:pt x="183356" y="233362"/>
                    </a:cubicBezTo>
                    <a:close/>
                    <a:moveTo>
                      <a:pt x="183356" y="0"/>
                    </a:moveTo>
                    <a:cubicBezTo>
                      <a:pt x="82139" y="115"/>
                      <a:pt x="115" y="82139"/>
                      <a:pt x="0" y="183356"/>
                    </a:cubicBezTo>
                    <a:cubicBezTo>
                      <a:pt x="0" y="248781"/>
                      <a:pt x="30233" y="318123"/>
                      <a:pt x="87511" y="383902"/>
                    </a:cubicBezTo>
                    <a:cubicBezTo>
                      <a:pt x="113248" y="413626"/>
                      <a:pt x="142215" y="440391"/>
                      <a:pt x="173876" y="463704"/>
                    </a:cubicBezTo>
                    <a:cubicBezTo>
                      <a:pt x="179617" y="467726"/>
                      <a:pt x="187262" y="467726"/>
                      <a:pt x="193003" y="463704"/>
                    </a:cubicBezTo>
                    <a:cubicBezTo>
                      <a:pt x="224606" y="440382"/>
                      <a:pt x="253517" y="413617"/>
                      <a:pt x="279202" y="383902"/>
                    </a:cubicBezTo>
                    <a:cubicBezTo>
                      <a:pt x="336396" y="318123"/>
                      <a:pt x="366712" y="248781"/>
                      <a:pt x="366712" y="183356"/>
                    </a:cubicBezTo>
                    <a:cubicBezTo>
                      <a:pt x="366598" y="82139"/>
                      <a:pt x="284574" y="115"/>
                      <a:pt x="183356" y="0"/>
                    </a:cubicBezTo>
                    <a:close/>
                    <a:moveTo>
                      <a:pt x="183356" y="429220"/>
                    </a:moveTo>
                    <a:cubicBezTo>
                      <a:pt x="148914" y="402134"/>
                      <a:pt x="33338" y="302642"/>
                      <a:pt x="33338" y="183356"/>
                    </a:cubicBezTo>
                    <a:cubicBezTo>
                      <a:pt x="33338" y="100503"/>
                      <a:pt x="100503" y="33338"/>
                      <a:pt x="183356" y="33338"/>
                    </a:cubicBezTo>
                    <a:cubicBezTo>
                      <a:pt x="266209" y="33338"/>
                      <a:pt x="333375" y="100503"/>
                      <a:pt x="333375" y="183356"/>
                    </a:cubicBezTo>
                    <a:cubicBezTo>
                      <a:pt x="333375" y="302600"/>
                      <a:pt x="217798" y="402134"/>
                      <a:pt x="183356" y="429220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9854089" y="3982402"/>
              <a:ext cx="44672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在哪吃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7391400" y="4476750"/>
              <a:ext cx="1066800" cy="1066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7691436" y="4760119"/>
              <a:ext cx="483395" cy="483478"/>
              <a:chOff x="7691436" y="4760119"/>
              <a:chExt cx="483395" cy="483478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7708278" y="4860220"/>
                <a:ext cx="366535" cy="366535"/>
              </a:xfrm>
              <a:custGeom>
                <a:avLst/>
                <a:gdLst/>
                <a:ahLst/>
                <a:cxnLst/>
                <a:rect l="l" t="t" r="r" b="b"/>
                <a:pathLst>
                  <a:path w="366535" h="366535">
                    <a:moveTo>
                      <a:pt x="355748" y="198749"/>
                    </a:moveTo>
                    <a:lnTo>
                      <a:pt x="248109" y="238337"/>
                    </a:lnTo>
                    <a:cubicBezTo>
                      <a:pt x="243573" y="239998"/>
                      <a:pt x="239998" y="243573"/>
                      <a:pt x="238337" y="248109"/>
                    </a:cubicBezTo>
                    <a:lnTo>
                      <a:pt x="198749" y="355748"/>
                    </a:lnTo>
                    <a:cubicBezTo>
                      <a:pt x="196356" y="362230"/>
                      <a:pt x="190178" y="366535"/>
                      <a:pt x="183268" y="366535"/>
                    </a:cubicBezTo>
                    <a:cubicBezTo>
                      <a:pt x="176358" y="366535"/>
                      <a:pt x="170179" y="362230"/>
                      <a:pt x="167787" y="355748"/>
                    </a:cubicBezTo>
                    <a:lnTo>
                      <a:pt x="128198" y="248109"/>
                    </a:lnTo>
                    <a:cubicBezTo>
                      <a:pt x="126537" y="243573"/>
                      <a:pt x="122963" y="239998"/>
                      <a:pt x="118426" y="238337"/>
                    </a:cubicBezTo>
                    <a:lnTo>
                      <a:pt x="10788" y="198749"/>
                    </a:lnTo>
                    <a:cubicBezTo>
                      <a:pt x="4305" y="196356"/>
                      <a:pt x="0" y="190178"/>
                      <a:pt x="0" y="183268"/>
                    </a:cubicBezTo>
                    <a:cubicBezTo>
                      <a:pt x="0" y="176358"/>
                      <a:pt x="4305" y="170179"/>
                      <a:pt x="10788" y="167787"/>
                    </a:cubicBezTo>
                    <a:lnTo>
                      <a:pt x="118426" y="128198"/>
                    </a:lnTo>
                    <a:cubicBezTo>
                      <a:pt x="122963" y="126537"/>
                      <a:pt x="126537" y="122963"/>
                      <a:pt x="128198" y="118426"/>
                    </a:cubicBezTo>
                    <a:lnTo>
                      <a:pt x="167787" y="10788"/>
                    </a:lnTo>
                    <a:cubicBezTo>
                      <a:pt x="170179" y="4305"/>
                      <a:pt x="176358" y="0"/>
                      <a:pt x="183268" y="0"/>
                    </a:cubicBezTo>
                    <a:cubicBezTo>
                      <a:pt x="190178" y="0"/>
                      <a:pt x="196356" y="4305"/>
                      <a:pt x="198749" y="10788"/>
                    </a:cubicBezTo>
                    <a:lnTo>
                      <a:pt x="238337" y="118426"/>
                    </a:lnTo>
                    <a:cubicBezTo>
                      <a:pt x="239998" y="122963"/>
                      <a:pt x="243573" y="126537"/>
                      <a:pt x="248109" y="128198"/>
                    </a:cubicBezTo>
                    <a:lnTo>
                      <a:pt x="355748" y="167787"/>
                    </a:lnTo>
                    <a:cubicBezTo>
                      <a:pt x="362230" y="170179"/>
                      <a:pt x="366535" y="176358"/>
                      <a:pt x="366535" y="183268"/>
                    </a:cubicBezTo>
                    <a:cubicBezTo>
                      <a:pt x="366535" y="190178"/>
                      <a:pt x="362230" y="196356"/>
                      <a:pt x="355748" y="198749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7691436" y="4760119"/>
                <a:ext cx="483395" cy="483478"/>
              </a:xfrm>
              <a:custGeom>
                <a:avLst/>
                <a:gdLst/>
                <a:ahLst/>
                <a:cxnLst/>
                <a:rect l="l" t="t" r="r" b="b"/>
                <a:pathLst>
                  <a:path w="483395" h="483478">
                    <a:moveTo>
                      <a:pt x="378340" y="252240"/>
                    </a:moveTo>
                    <a:lnTo>
                      <a:pt x="270806" y="212652"/>
                    </a:lnTo>
                    <a:lnTo>
                      <a:pt x="231218" y="105034"/>
                    </a:lnTo>
                    <a:cubicBezTo>
                      <a:pt x="226416" y="91989"/>
                      <a:pt x="213990" y="83322"/>
                      <a:pt x="200089" y="83322"/>
                    </a:cubicBezTo>
                    <a:cubicBezTo>
                      <a:pt x="186188" y="83322"/>
                      <a:pt x="173762" y="91989"/>
                      <a:pt x="168960" y="105034"/>
                    </a:cubicBezTo>
                    <a:lnTo>
                      <a:pt x="129330" y="212527"/>
                    </a:lnTo>
                    <a:lnTo>
                      <a:pt x="21712" y="252115"/>
                    </a:lnTo>
                    <a:cubicBezTo>
                      <a:pt x="8667" y="256917"/>
                      <a:pt x="0" y="269343"/>
                      <a:pt x="0" y="283244"/>
                    </a:cubicBezTo>
                    <a:cubicBezTo>
                      <a:pt x="0" y="297144"/>
                      <a:pt x="8667" y="309571"/>
                      <a:pt x="21712" y="314373"/>
                    </a:cubicBezTo>
                    <a:lnTo>
                      <a:pt x="129184" y="354211"/>
                    </a:lnTo>
                    <a:lnTo>
                      <a:pt x="168772" y="461766"/>
                    </a:lnTo>
                    <a:cubicBezTo>
                      <a:pt x="173574" y="474811"/>
                      <a:pt x="186001" y="483478"/>
                      <a:pt x="199901" y="483478"/>
                    </a:cubicBezTo>
                    <a:cubicBezTo>
                      <a:pt x="213802" y="483478"/>
                      <a:pt x="226228" y="474811"/>
                      <a:pt x="231030" y="461766"/>
                    </a:cubicBezTo>
                    <a:lnTo>
                      <a:pt x="270619" y="354232"/>
                    </a:lnTo>
                    <a:lnTo>
                      <a:pt x="378236" y="314643"/>
                    </a:lnTo>
                    <a:cubicBezTo>
                      <a:pt x="391281" y="309842"/>
                      <a:pt x="399949" y="297415"/>
                      <a:pt x="399949" y="283515"/>
                    </a:cubicBezTo>
                    <a:cubicBezTo>
                      <a:pt x="399949" y="269614"/>
                      <a:pt x="391281" y="257188"/>
                      <a:pt x="378236" y="252386"/>
                    </a:cubicBezTo>
                    <a:close/>
                    <a:moveTo>
                      <a:pt x="259180" y="322957"/>
                    </a:moveTo>
                    <a:cubicBezTo>
                      <a:pt x="250063" y="326303"/>
                      <a:pt x="242878" y="333488"/>
                      <a:pt x="239531" y="342605"/>
                    </a:cubicBezTo>
                    <a:lnTo>
                      <a:pt x="199943" y="449827"/>
                    </a:lnTo>
                    <a:lnTo>
                      <a:pt x="160438" y="342522"/>
                    </a:lnTo>
                    <a:cubicBezTo>
                      <a:pt x="157090" y="333454"/>
                      <a:pt x="149941" y="326305"/>
                      <a:pt x="140873" y="322957"/>
                    </a:cubicBezTo>
                    <a:lnTo>
                      <a:pt x="140873" y="322957"/>
                    </a:lnTo>
                    <a:lnTo>
                      <a:pt x="33651" y="283369"/>
                    </a:lnTo>
                    <a:lnTo>
                      <a:pt x="140873" y="243780"/>
                    </a:lnTo>
                    <a:cubicBezTo>
                      <a:pt x="149941" y="240432"/>
                      <a:pt x="157090" y="233283"/>
                      <a:pt x="160438" y="224216"/>
                    </a:cubicBezTo>
                    <a:lnTo>
                      <a:pt x="200026" y="116994"/>
                    </a:lnTo>
                    <a:lnTo>
                      <a:pt x="239615" y="224216"/>
                    </a:lnTo>
                    <a:cubicBezTo>
                      <a:pt x="242961" y="233333"/>
                      <a:pt x="250146" y="240518"/>
                      <a:pt x="259263" y="243864"/>
                    </a:cubicBezTo>
                    <a:lnTo>
                      <a:pt x="366485" y="283452"/>
                    </a:lnTo>
                    <a:close/>
                    <a:moveTo>
                      <a:pt x="266701" y="66675"/>
                    </a:moveTo>
                    <a:cubicBezTo>
                      <a:pt x="266701" y="57469"/>
                      <a:pt x="274164" y="50006"/>
                      <a:pt x="283370" y="50006"/>
                    </a:cubicBezTo>
                    <a:lnTo>
                      <a:pt x="316708" y="50006"/>
                    </a:lnTo>
                    <a:lnTo>
                      <a:pt x="316708" y="16669"/>
                    </a:lnTo>
                    <a:cubicBezTo>
                      <a:pt x="316708" y="7463"/>
                      <a:pt x="324170" y="0"/>
                      <a:pt x="333376" y="0"/>
                    </a:cubicBezTo>
                    <a:cubicBezTo>
                      <a:pt x="342582" y="0"/>
                      <a:pt x="350045" y="7463"/>
                      <a:pt x="350045" y="16669"/>
                    </a:cubicBezTo>
                    <a:lnTo>
                      <a:pt x="350045" y="50006"/>
                    </a:lnTo>
                    <a:lnTo>
                      <a:pt x="383383" y="50006"/>
                    </a:lnTo>
                    <a:cubicBezTo>
                      <a:pt x="392589" y="50006"/>
                      <a:pt x="400051" y="57469"/>
                      <a:pt x="400051" y="66675"/>
                    </a:cubicBezTo>
                    <a:cubicBezTo>
                      <a:pt x="400051" y="75881"/>
                      <a:pt x="392589" y="83344"/>
                      <a:pt x="383383" y="83344"/>
                    </a:cubicBezTo>
                    <a:lnTo>
                      <a:pt x="350045" y="83344"/>
                    </a:lnTo>
                    <a:lnTo>
                      <a:pt x="350045" y="116681"/>
                    </a:lnTo>
                    <a:cubicBezTo>
                      <a:pt x="350045" y="125887"/>
                      <a:pt x="342582" y="133350"/>
                      <a:pt x="333376" y="133350"/>
                    </a:cubicBezTo>
                    <a:cubicBezTo>
                      <a:pt x="324170" y="133350"/>
                      <a:pt x="316708" y="125887"/>
                      <a:pt x="316708" y="116681"/>
                    </a:cubicBezTo>
                    <a:lnTo>
                      <a:pt x="316708" y="83344"/>
                    </a:lnTo>
                    <a:lnTo>
                      <a:pt x="283370" y="83344"/>
                    </a:lnTo>
                    <a:cubicBezTo>
                      <a:pt x="274164" y="83344"/>
                      <a:pt x="266701" y="75881"/>
                      <a:pt x="266701" y="66675"/>
                    </a:cubicBezTo>
                    <a:close/>
                    <a:moveTo>
                      <a:pt x="483395" y="166688"/>
                    </a:moveTo>
                    <a:cubicBezTo>
                      <a:pt x="483395" y="175893"/>
                      <a:pt x="475932" y="183356"/>
                      <a:pt x="466726" y="183356"/>
                    </a:cubicBezTo>
                    <a:lnTo>
                      <a:pt x="450058" y="183356"/>
                    </a:lnTo>
                    <a:lnTo>
                      <a:pt x="450058" y="200025"/>
                    </a:lnTo>
                    <a:cubicBezTo>
                      <a:pt x="450058" y="209231"/>
                      <a:pt x="442595" y="216694"/>
                      <a:pt x="433389" y="216694"/>
                    </a:cubicBezTo>
                    <a:cubicBezTo>
                      <a:pt x="424183" y="216694"/>
                      <a:pt x="416720" y="209231"/>
                      <a:pt x="416720" y="200025"/>
                    </a:cubicBezTo>
                    <a:lnTo>
                      <a:pt x="416720" y="183356"/>
                    </a:lnTo>
                    <a:lnTo>
                      <a:pt x="400051" y="183356"/>
                    </a:lnTo>
                    <a:cubicBezTo>
                      <a:pt x="390845" y="183356"/>
                      <a:pt x="383383" y="175893"/>
                      <a:pt x="383383" y="166688"/>
                    </a:cubicBezTo>
                    <a:cubicBezTo>
                      <a:pt x="383383" y="157482"/>
                      <a:pt x="390845" y="150019"/>
                      <a:pt x="400051" y="150019"/>
                    </a:cubicBezTo>
                    <a:lnTo>
                      <a:pt x="416720" y="150019"/>
                    </a:lnTo>
                    <a:lnTo>
                      <a:pt x="416720" y="133350"/>
                    </a:lnTo>
                    <a:cubicBezTo>
                      <a:pt x="416720" y="124144"/>
                      <a:pt x="424183" y="116681"/>
                      <a:pt x="433389" y="116681"/>
                    </a:cubicBezTo>
                    <a:cubicBezTo>
                      <a:pt x="442595" y="116681"/>
                      <a:pt x="450058" y="124144"/>
                      <a:pt x="450058" y="133350"/>
                    </a:cubicBezTo>
                    <a:lnTo>
                      <a:pt x="450058" y="150019"/>
                    </a:lnTo>
                    <a:lnTo>
                      <a:pt x="466726" y="150019"/>
                    </a:lnTo>
                    <a:cubicBezTo>
                      <a:pt x="475932" y="150019"/>
                      <a:pt x="483395" y="157482"/>
                      <a:pt x="483395" y="166688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7561421" y="5601652"/>
              <a:ext cx="7267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为什么推荐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64820" y="914400"/>
            <a:ext cx="5650230" cy="3648075"/>
            <a:chOff x="464820" y="914400"/>
            <a:chExt cx="5650230" cy="3648075"/>
          </a:xfrm>
        </p:grpSpPr>
        <p:sp>
          <p:nvSpPr>
            <p:cNvPr id="24" name="Rectangle 24"/>
            <p:cNvSpPr/>
            <p:nvPr/>
          </p:nvSpPr>
          <p:spPr>
            <a:xfrm>
              <a:off x="533400" y="914400"/>
              <a:ext cx="20764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136332" y="1032510"/>
              <a:ext cx="87058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黑客松路演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64820" y="1760220"/>
              <a:ext cx="2783491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Campus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64820" y="2522220"/>
              <a:ext cx="2443248" cy="1097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5400" b="1" dirty="0">
                  <a:gradFill>
                    <a:gsLst>
                      <a:gs pos="0">
                        <a:srgbClr val="1F8A70"/>
                      </a:gs>
                      <a:gs pos="100000">
                        <a:srgbClr val="3A86FF"/>
                      </a:gs>
                    </a:gsLst>
                    <a:lin ang="0" scaled="1"/>
                  </a:gradFill>
                  <a:latin typeface="Trebuchet MS"/>
                  <a:ea typeface="Microsoft YaHei"/>
                  <a:cs typeface="Trebuchet MS"/>
                </a:rPr>
                <a:t>Foodie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44830" y="3430905"/>
              <a:ext cx="3640588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从“去哪吃”到“今天吃什么”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52450" y="3933825"/>
              <a:ext cx="5562600" cy="62865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550"/>
                </a:lnSpc>
              </a:pPr>
              <a:r>
                <a:rPr lang="zh-CN" sz="15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面向校园场景的菜品级推荐、地图发现、真实评价与后台治理闭环</a:t>
              </a:r>
              <a:r>
                <a:rPr lang="zh-CN" sz="15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DeepSeek 只做受约束重排，核心体验可验证、可降级、可演示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410200" y="1314450"/>
            <a:ext cx="1717381" cy="3352800"/>
            <a:chOff x="5410200" y="1314450"/>
            <a:chExt cx="1717381" cy="3352800"/>
          </a:xfrm>
        </p:grpSpPr>
        <p:sp>
          <p:nvSpPr>
            <p:cNvPr id="31" name="Rectangle 31"/>
            <p:cNvSpPr/>
            <p:nvPr/>
          </p:nvSpPr>
          <p:spPr>
            <a:xfrm>
              <a:off x="5410200" y="1314450"/>
              <a:ext cx="1695450" cy="3352800"/>
            </a:xfrm>
            <a:prstGeom prst="roundRect">
              <a:avLst>
                <a:gd name="adj" fmla="val 19101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32" name="Rectangle 32"/>
            <p:cNvSpPr/>
            <p:nvPr/>
          </p:nvSpPr>
          <p:spPr>
            <a:xfrm>
              <a:off x="5562600" y="1504950"/>
              <a:ext cx="1390650" cy="2971800"/>
            </a:xfrm>
            <a:prstGeom prst="roundRect">
              <a:avLst>
                <a:gd name="adj" fmla="val 1643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3" name="Rectangle 33"/>
            <p:cNvSpPr/>
            <p:nvPr/>
          </p:nvSpPr>
          <p:spPr>
            <a:xfrm>
              <a:off x="5791200" y="1752600"/>
              <a:ext cx="933450" cy="171450"/>
            </a:xfrm>
            <a:prstGeom prst="roundRect">
              <a:avLst>
                <a:gd name="adj" fmla="val 50000"/>
              </a:avLst>
            </a:prstGeom>
            <a:solidFill>
              <a:srgbClr val="DCEBE3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5753100" y="2152650"/>
              <a:ext cx="100965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5753100" y="2571750"/>
              <a:ext cx="1009650" cy="704850"/>
            </a:xfrm>
            <a:prstGeom prst="roundRect">
              <a:avLst>
                <a:gd name="adj" fmla="val 21622"/>
              </a:avLst>
            </a:prstGeom>
            <a:solidFill>
              <a:srgbClr val="FBFFF7"/>
            </a:solidFill>
            <a:ln w="9525">
              <a:solidFill>
                <a:srgbClr val="BFD9CC"/>
              </a:solidFill>
            </a:ln>
          </p:spPr>
        </p:sp>
        <p:grpSp>
          <p:nvGrpSpPr>
            <p:cNvPr id="38" name="Group 38"/>
            <p:cNvGrpSpPr/>
            <p:nvPr/>
          </p:nvGrpSpPr>
          <p:grpSpPr>
            <a:xfrm>
              <a:off x="5899547" y="2756379"/>
              <a:ext cx="278606" cy="267809"/>
              <a:chOff x="5899547" y="2756379"/>
              <a:chExt cx="278606" cy="267809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5910247" y="2874169"/>
                <a:ext cx="257207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257207" h="139303">
                    <a:moveTo>
                      <a:pt x="257191" y="0"/>
                    </a:moveTo>
                    <a:cubicBezTo>
                      <a:pt x="257207" y="50293"/>
                      <a:pt x="227901" y="95979"/>
                      <a:pt x="182181" y="116934"/>
                    </a:cubicBezTo>
                    <a:lnTo>
                      <a:pt x="182181" y="128588"/>
                    </a:lnTo>
                    <a:cubicBezTo>
                      <a:pt x="182181" y="134506"/>
                      <a:pt x="177384" y="139303"/>
                      <a:pt x="171466" y="139303"/>
                    </a:cubicBezTo>
                    <a:lnTo>
                      <a:pt x="85741" y="139303"/>
                    </a:lnTo>
                    <a:cubicBezTo>
                      <a:pt x="79823" y="139303"/>
                      <a:pt x="75025" y="134506"/>
                      <a:pt x="75025" y="128588"/>
                    </a:cubicBezTo>
                    <a:lnTo>
                      <a:pt x="75025" y="116934"/>
                    </a:lnTo>
                    <a:cubicBezTo>
                      <a:pt x="29306" y="95979"/>
                      <a:pt x="0" y="50293"/>
                      <a:pt x="16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7" name="Freeform 37"/>
              <p:cNvSpPr/>
              <p:nvPr/>
            </p:nvSpPr>
            <p:spPr>
              <a:xfrm>
                <a:off x="5899547" y="2756379"/>
                <a:ext cx="278606" cy="267809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67809">
                    <a:moveTo>
                      <a:pt x="267891" y="107074"/>
                    </a:moveTo>
                    <a:lnTo>
                      <a:pt x="256679" y="107074"/>
                    </a:lnTo>
                    <a:cubicBezTo>
                      <a:pt x="251099" y="46415"/>
                      <a:pt x="200218" y="0"/>
                      <a:pt x="139303" y="0"/>
                    </a:cubicBezTo>
                    <a:cubicBezTo>
                      <a:pt x="78388" y="0"/>
                      <a:pt x="27507" y="46415"/>
                      <a:pt x="21927" y="107074"/>
                    </a:cubicBezTo>
                    <a:lnTo>
                      <a:pt x="10716" y="107074"/>
                    </a:lnTo>
                    <a:cubicBezTo>
                      <a:pt x="4798" y="107074"/>
                      <a:pt x="0" y="111872"/>
                      <a:pt x="0" y="117790"/>
                    </a:cubicBezTo>
                    <a:cubicBezTo>
                      <a:pt x="96" y="169728"/>
                      <a:pt x="28983" y="217330"/>
                      <a:pt x="75009" y="241395"/>
                    </a:cubicBezTo>
                    <a:lnTo>
                      <a:pt x="75009" y="246377"/>
                    </a:lnTo>
                    <a:cubicBezTo>
                      <a:pt x="75009" y="258214"/>
                      <a:pt x="84604" y="267809"/>
                      <a:pt x="96441" y="267809"/>
                    </a:cubicBezTo>
                    <a:lnTo>
                      <a:pt x="182166" y="267809"/>
                    </a:lnTo>
                    <a:cubicBezTo>
                      <a:pt x="194002" y="267809"/>
                      <a:pt x="203597" y="258214"/>
                      <a:pt x="203597" y="246377"/>
                    </a:cubicBezTo>
                    <a:lnTo>
                      <a:pt x="203597" y="241395"/>
                    </a:lnTo>
                    <a:cubicBezTo>
                      <a:pt x="249623" y="217330"/>
                      <a:pt x="278510" y="169728"/>
                      <a:pt x="278606" y="117790"/>
                    </a:cubicBezTo>
                    <a:cubicBezTo>
                      <a:pt x="278606" y="111872"/>
                      <a:pt x="273809" y="107074"/>
                      <a:pt x="267891" y="107074"/>
                    </a:cubicBezTo>
                    <a:close/>
                    <a:moveTo>
                      <a:pt x="200221" y="43089"/>
                    </a:moveTo>
                    <a:cubicBezTo>
                      <a:pt x="202677" y="45098"/>
                      <a:pt x="205030" y="47219"/>
                      <a:pt x="207280" y="49451"/>
                    </a:cubicBezTo>
                    <a:cubicBezTo>
                      <a:pt x="178755" y="59486"/>
                      <a:pt x="155182" y="80108"/>
                      <a:pt x="141446" y="107047"/>
                    </a:cubicBezTo>
                    <a:lnTo>
                      <a:pt x="101932" y="107047"/>
                    </a:lnTo>
                    <a:cubicBezTo>
                      <a:pt x="115654" y="68583"/>
                      <a:pt x="152043" y="42870"/>
                      <a:pt x="192881" y="42781"/>
                    </a:cubicBezTo>
                    <a:cubicBezTo>
                      <a:pt x="195332" y="42781"/>
                      <a:pt x="197784" y="42901"/>
                      <a:pt x="200221" y="43089"/>
                    </a:cubicBezTo>
                    <a:close/>
                    <a:moveTo>
                      <a:pt x="221532" y="67467"/>
                    </a:moveTo>
                    <a:cubicBezTo>
                      <a:pt x="228932" y="79504"/>
                      <a:pt x="233575" y="93030"/>
                      <a:pt x="235128" y="107074"/>
                    </a:cubicBezTo>
                    <a:lnTo>
                      <a:pt x="166253" y="107074"/>
                    </a:lnTo>
                    <a:cubicBezTo>
                      <a:pt x="179244" y="87584"/>
                      <a:pt x="198899" y="73501"/>
                      <a:pt x="221532" y="67467"/>
                    </a:cubicBezTo>
                    <a:close/>
                    <a:moveTo>
                      <a:pt x="139303" y="21349"/>
                    </a:moveTo>
                    <a:cubicBezTo>
                      <a:pt x="147902" y="21355"/>
                      <a:pt x="156461" y="22513"/>
                      <a:pt x="164753" y="24792"/>
                    </a:cubicBezTo>
                    <a:cubicBezTo>
                      <a:pt x="123652" y="34987"/>
                      <a:pt x="91130" y="66365"/>
                      <a:pt x="79470" y="107074"/>
                    </a:cubicBezTo>
                    <a:lnTo>
                      <a:pt x="43479" y="107074"/>
                    </a:lnTo>
                    <a:cubicBezTo>
                      <a:pt x="48982" y="58293"/>
                      <a:pt x="90213" y="21408"/>
                      <a:pt x="139303" y="21349"/>
                    </a:cubicBezTo>
                    <a:close/>
                    <a:moveTo>
                      <a:pt x="188407" y="224946"/>
                    </a:moveTo>
                    <a:cubicBezTo>
                      <a:pt x="184590" y="226700"/>
                      <a:pt x="182150" y="230523"/>
                      <a:pt x="182166" y="234724"/>
                    </a:cubicBezTo>
                    <a:lnTo>
                      <a:pt x="182166" y="246377"/>
                    </a:lnTo>
                    <a:lnTo>
                      <a:pt x="96441" y="246377"/>
                    </a:lnTo>
                    <a:lnTo>
                      <a:pt x="96441" y="234724"/>
                    </a:lnTo>
                    <a:cubicBezTo>
                      <a:pt x="96457" y="230523"/>
                      <a:pt x="94016" y="226700"/>
                      <a:pt x="90199" y="224946"/>
                    </a:cubicBezTo>
                    <a:cubicBezTo>
                      <a:pt x="51846" y="207297"/>
                      <a:pt x="25810" y="170541"/>
                      <a:pt x="21887" y="128506"/>
                    </a:cubicBezTo>
                    <a:lnTo>
                      <a:pt x="256679" y="128506"/>
                    </a:lnTo>
                    <a:cubicBezTo>
                      <a:pt x="252763" y="170533"/>
                      <a:pt x="226745" y="207286"/>
                      <a:pt x="188407" y="224946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39" name="TextBox 39"/>
            <p:cNvSpPr txBox="1"/>
            <p:nvPr/>
          </p:nvSpPr>
          <p:spPr>
            <a:xfrm>
              <a:off x="6274118" y="2790349"/>
              <a:ext cx="84386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藤椒鸡双拼饭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276022" y="3016091"/>
              <a:ext cx="851559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微辣 · 20 元以内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5753100" y="3390900"/>
              <a:ext cx="1009650" cy="552450"/>
            </a:xfrm>
            <a:prstGeom prst="roundRect">
              <a:avLst>
                <a:gd name="adj" fmla="val 2413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2" name="TextBox 42"/>
            <p:cNvSpPr txBox="1"/>
            <p:nvPr/>
          </p:nvSpPr>
          <p:spPr>
            <a:xfrm>
              <a:off x="5875020" y="35509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推荐理由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876925" y="3757612"/>
              <a:ext cx="919162" cy="1524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近图书馆，口味匹配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520065" y="6210300"/>
            <a:ext cx="11151870" cy="385762"/>
            <a:chOff x="520065" y="6210300"/>
            <a:chExt cx="11151870" cy="385762"/>
          </a:xfrm>
        </p:grpSpPr>
        <p:sp>
          <p:nvSpPr>
            <p:cNvPr id="45" name="Line 45"/>
            <p:cNvSpPr/>
            <p:nvPr/>
          </p:nvSpPr>
          <p:spPr>
            <a:xfrm>
              <a:off x="533400" y="6210300"/>
              <a:ext cx="11125200" cy="9525"/>
            </a:xfrm>
            <a:custGeom>
              <a:avLst/>
              <a:gdLst/>
              <a:ahLst/>
              <a:cxnLst/>
              <a:rect l="l" t="t" r="r" b="b"/>
              <a:pathLst>
                <a:path w="11125200" h="9525">
                  <a:moveTo>
                    <a:pt x="0" y="0"/>
                  </a:moveTo>
                  <a:lnTo>
                    <a:pt x="11125200" y="0"/>
                  </a:lnTo>
                </a:path>
              </a:pathLst>
            </a:custGeom>
            <a:noFill/>
            <a:ln w="9525">
              <a:solidFill>
                <a:srgbClr val="BFD9CC"/>
              </a:solidFill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520065" y="6382702"/>
              <a:ext cx="237896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Campus Foodie MVP · Product Pitch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1176206" y="6382702"/>
              <a:ext cx="49572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01 / 16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-762000" y="0"/>
            <a:ext cx="13125450" cy="7353300"/>
            <a:chOff x="-762000" y="0"/>
            <a:chExt cx="13125450" cy="73533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-762000" y="1238250"/>
              <a:ext cx="6191250" cy="4095750"/>
            </a:xfrm>
            <a:prstGeom prst="roundRect">
              <a:avLst>
                <a:gd name="adj" fmla="val 13953"/>
              </a:avLst>
            </a:prstGeom>
            <a:gradFill>
              <a:gsLst>
                <a:gs pos="0">
                  <a:srgbClr val="EAF7EF"/>
                </a:gs>
                <a:gs pos="100000">
                  <a:srgbClr val="FBFFF7"/>
                </a:gs>
              </a:gsLst>
              <a:lin ang="0" scaled="1"/>
            </a:gra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362950" y="3352800"/>
              <a:ext cx="4000500" cy="4000500"/>
            </a:xfrm>
            <a:prstGeom prst="ellipse">
              <a:avLst/>
            </a:prstGeom>
            <a:solidFill>
              <a:srgbClr val="FFB703">
                <a:alpha val="12000"/>
              </a:srgbClr>
            </a:solidFill>
            <a:ln>
              <a:noFill/>
            </a:ln>
          </p:spPr>
        </p:sp>
        <p:sp>
          <p:nvSpPr>
            <p:cNvPr id="5" name="Ellipse 5"/>
            <p:cNvSpPr/>
            <p:nvPr/>
          </p:nvSpPr>
          <p:spPr>
            <a:xfrm>
              <a:off x="8763000" y="285750"/>
              <a:ext cx="2286000" cy="2286000"/>
            </a:xfrm>
            <a:prstGeom prst="ellipse">
              <a:avLst/>
            </a:prstGeom>
            <a:solidFill>
              <a:srgbClr val="3A86FF">
                <a:alpha val="1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20065" y="629602"/>
            <a:ext cx="11149012" cy="213360"/>
            <a:chOff x="520065" y="629602"/>
            <a:chExt cx="11149012" cy="213360"/>
          </a:xfrm>
        </p:grpSpPr>
        <p:sp>
          <p:nvSpPr>
            <p:cNvPr id="7" name="TextBox 7"/>
            <p:cNvSpPr txBox="1"/>
            <p:nvPr/>
          </p:nvSpPr>
          <p:spPr>
            <a:xfrm>
              <a:off x="520065" y="629602"/>
              <a:ext cx="148215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BACKGROUND AND PAIN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6538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02 / 16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01040" y="1591864"/>
            <a:ext cx="6422708" cy="3018236"/>
            <a:chOff x="701040" y="1591864"/>
            <a:chExt cx="6422708" cy="3018236"/>
          </a:xfrm>
        </p:grpSpPr>
        <p:grpSp>
          <p:nvGrpSpPr>
            <p:cNvPr id="12" name="Group 12"/>
            <p:cNvGrpSpPr/>
            <p:nvPr/>
          </p:nvGrpSpPr>
          <p:grpSpPr>
            <a:xfrm>
              <a:off x="804187" y="1591864"/>
              <a:ext cx="639508" cy="565807"/>
              <a:chOff x="804187" y="1591864"/>
              <a:chExt cx="639508" cy="565807"/>
            </a:xfrm>
          </p:grpSpPr>
          <p:sp>
            <p:nvSpPr>
              <p:cNvPr id="10" name="Freeform 10"/>
              <p:cNvSpPr/>
              <p:nvPr/>
            </p:nvSpPr>
            <p:spPr>
              <a:xfrm>
                <a:off x="818555" y="1606626"/>
                <a:ext cx="610791" cy="528164"/>
              </a:xfrm>
              <a:custGeom>
                <a:avLst/>
                <a:gdLst/>
                <a:ahLst/>
                <a:cxnLst/>
                <a:rect l="l" t="t" r="r" b="b"/>
                <a:pathLst>
                  <a:path w="610791" h="528164">
                    <a:moveTo>
                      <a:pt x="552709" y="528164"/>
                    </a:moveTo>
                    <a:lnTo>
                      <a:pt x="58082" y="528164"/>
                    </a:lnTo>
                    <a:cubicBezTo>
                      <a:pt x="22396" y="528164"/>
                      <a:pt x="0" y="490810"/>
                      <a:pt x="17334" y="460553"/>
                    </a:cubicBezTo>
                    <a:lnTo>
                      <a:pt x="264648" y="31105"/>
                    </a:lnTo>
                    <a:cubicBezTo>
                      <a:pt x="282462" y="0"/>
                      <a:pt x="328328" y="0"/>
                      <a:pt x="346143" y="31105"/>
                    </a:cubicBezTo>
                    <a:lnTo>
                      <a:pt x="593457" y="460553"/>
                    </a:lnTo>
                    <a:cubicBezTo>
                      <a:pt x="610791" y="490810"/>
                      <a:pt x="588395" y="528164"/>
                      <a:pt x="552709" y="528164"/>
                    </a:cubicBezTo>
                    <a:close/>
                  </a:path>
                </a:pathLst>
              </a:custGeom>
              <a:solidFill>
                <a:srgbClr val="E4585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1" name="Freeform 11"/>
              <p:cNvSpPr/>
              <p:nvPr/>
            </p:nvSpPr>
            <p:spPr>
              <a:xfrm>
                <a:off x="804187" y="1591864"/>
                <a:ext cx="639508" cy="565807"/>
              </a:xfrm>
              <a:custGeom>
                <a:avLst/>
                <a:gdLst/>
                <a:ahLst/>
                <a:cxnLst/>
                <a:rect l="l" t="t" r="r" b="b"/>
                <a:pathLst>
                  <a:path w="639508" h="565807">
                    <a:moveTo>
                      <a:pt x="627420" y="464005"/>
                    </a:moveTo>
                    <a:lnTo>
                      <a:pt x="380135" y="34557"/>
                    </a:lnTo>
                    <a:lnTo>
                      <a:pt x="380135" y="34557"/>
                    </a:lnTo>
                    <a:cubicBezTo>
                      <a:pt x="367561" y="13148"/>
                      <a:pt x="344591" y="0"/>
                      <a:pt x="319763" y="0"/>
                    </a:cubicBezTo>
                    <a:cubicBezTo>
                      <a:pt x="294935" y="0"/>
                      <a:pt x="271964" y="13148"/>
                      <a:pt x="259391" y="34557"/>
                    </a:cubicBezTo>
                    <a:lnTo>
                      <a:pt x="12105" y="464005"/>
                    </a:lnTo>
                    <a:cubicBezTo>
                      <a:pt x="0" y="484724"/>
                      <a:pt x="0" y="510359"/>
                      <a:pt x="12105" y="531079"/>
                    </a:cubicBezTo>
                    <a:cubicBezTo>
                      <a:pt x="24526" y="552630"/>
                      <a:pt x="47605" y="565807"/>
                      <a:pt x="72478" y="565549"/>
                    </a:cubicBezTo>
                    <a:lnTo>
                      <a:pt x="567048" y="565549"/>
                    </a:lnTo>
                    <a:cubicBezTo>
                      <a:pt x="591901" y="565787"/>
                      <a:pt x="614953" y="552612"/>
                      <a:pt x="627364" y="531079"/>
                    </a:cubicBezTo>
                    <a:cubicBezTo>
                      <a:pt x="639487" y="510369"/>
                      <a:pt x="639508" y="484734"/>
                      <a:pt x="627420" y="464005"/>
                    </a:cubicBezTo>
                    <a:close/>
                    <a:moveTo>
                      <a:pt x="588200" y="508429"/>
                    </a:moveTo>
                    <a:cubicBezTo>
                      <a:pt x="583811" y="515916"/>
                      <a:pt x="575726" y="520455"/>
                      <a:pt x="567048" y="520305"/>
                    </a:cubicBezTo>
                    <a:lnTo>
                      <a:pt x="72478" y="520305"/>
                    </a:lnTo>
                    <a:cubicBezTo>
                      <a:pt x="63800" y="520455"/>
                      <a:pt x="55715" y="515916"/>
                      <a:pt x="51326" y="508429"/>
                    </a:cubicBezTo>
                    <a:cubicBezTo>
                      <a:pt x="47349" y="501695"/>
                      <a:pt x="47349" y="493332"/>
                      <a:pt x="51326" y="486598"/>
                    </a:cubicBezTo>
                    <a:lnTo>
                      <a:pt x="298611" y="57150"/>
                    </a:lnTo>
                    <a:cubicBezTo>
                      <a:pt x="303085" y="49706"/>
                      <a:pt x="311134" y="45152"/>
                      <a:pt x="319819" y="45152"/>
                    </a:cubicBezTo>
                    <a:cubicBezTo>
                      <a:pt x="328505" y="45152"/>
                      <a:pt x="336554" y="49706"/>
                      <a:pt x="341028" y="57150"/>
                    </a:cubicBezTo>
                    <a:lnTo>
                      <a:pt x="588313" y="486598"/>
                    </a:lnTo>
                    <a:cubicBezTo>
                      <a:pt x="592255" y="493352"/>
                      <a:pt x="592212" y="501716"/>
                      <a:pt x="588200" y="508429"/>
                    </a:cubicBezTo>
                    <a:close/>
                    <a:moveTo>
                      <a:pt x="297141" y="339330"/>
                    </a:moveTo>
                    <a:lnTo>
                      <a:pt x="297141" y="226221"/>
                    </a:lnTo>
                    <a:cubicBezTo>
                      <a:pt x="297141" y="213727"/>
                      <a:pt x="307269" y="203599"/>
                      <a:pt x="319763" y="203599"/>
                    </a:cubicBezTo>
                    <a:cubicBezTo>
                      <a:pt x="332257" y="203599"/>
                      <a:pt x="342385" y="213727"/>
                      <a:pt x="342385" y="226221"/>
                    </a:cubicBezTo>
                    <a:lnTo>
                      <a:pt x="342385" y="339330"/>
                    </a:lnTo>
                    <a:cubicBezTo>
                      <a:pt x="342385" y="351824"/>
                      <a:pt x="332257" y="361952"/>
                      <a:pt x="319763" y="361952"/>
                    </a:cubicBezTo>
                    <a:cubicBezTo>
                      <a:pt x="307269" y="361952"/>
                      <a:pt x="297141" y="351824"/>
                      <a:pt x="297141" y="339330"/>
                    </a:cubicBezTo>
                    <a:close/>
                    <a:moveTo>
                      <a:pt x="353696" y="441128"/>
                    </a:moveTo>
                    <a:cubicBezTo>
                      <a:pt x="353696" y="459869"/>
                      <a:pt x="338504" y="475061"/>
                      <a:pt x="319763" y="475061"/>
                    </a:cubicBezTo>
                    <a:cubicBezTo>
                      <a:pt x="301022" y="475061"/>
                      <a:pt x="285830" y="459869"/>
                      <a:pt x="285830" y="441128"/>
                    </a:cubicBezTo>
                    <a:cubicBezTo>
                      <a:pt x="285830" y="422388"/>
                      <a:pt x="301022" y="407196"/>
                      <a:pt x="319763" y="407196"/>
                    </a:cubicBezTo>
                    <a:cubicBezTo>
                      <a:pt x="338504" y="407196"/>
                      <a:pt x="353696" y="422388"/>
                      <a:pt x="353696" y="441128"/>
                    </a:cubicBezTo>
                    <a:close/>
                  </a:path>
                </a:pathLst>
              </a:custGeom>
              <a:solidFill>
                <a:srgbClr val="E45858"/>
              </a:solidFill>
              <a:ln>
                <a:noFill/>
              </a:ln>
            </p:spPr>
          </p:sp>
        </p:grpSp>
        <p:sp>
          <p:nvSpPr>
            <p:cNvPr id="13" name="TextBox 13"/>
            <p:cNvSpPr txBox="1"/>
            <p:nvPr/>
          </p:nvSpPr>
          <p:spPr>
            <a:xfrm>
              <a:off x="701040" y="2282190"/>
              <a:ext cx="3962400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选择太多，</a:t>
              </a: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也是一种成本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77240" y="4244340"/>
              <a:ext cx="634650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校园餐饮不是缺信息，而是缺一条能快速做决定的路径。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6715125" y="1428750"/>
            <a:ext cx="3846195" cy="590550"/>
            <a:chOff x="6715125" y="1428750"/>
            <a:chExt cx="3846195" cy="590550"/>
          </a:xfrm>
        </p:grpSpPr>
        <p:sp>
          <p:nvSpPr>
            <p:cNvPr id="16" name="Rectangle 16"/>
            <p:cNvSpPr/>
            <p:nvPr/>
          </p:nvSpPr>
          <p:spPr>
            <a:xfrm>
              <a:off x="6715125" y="1428750"/>
              <a:ext cx="371475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029450" y="164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信息分散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290560" y="16802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食堂、档口、菜品散在不同入口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7810500" y="2381250"/>
            <a:ext cx="3846195" cy="590550"/>
            <a:chOff x="7810500" y="2381250"/>
            <a:chExt cx="3846195" cy="590550"/>
          </a:xfrm>
        </p:grpSpPr>
        <p:sp>
          <p:nvSpPr>
            <p:cNvPr id="20" name="Rectangle 20"/>
            <p:cNvSpPr/>
            <p:nvPr/>
          </p:nvSpPr>
          <p:spPr>
            <a:xfrm>
              <a:off x="7810500" y="2381250"/>
              <a:ext cx="337185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8124825" y="2600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选择困难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9385935" y="26327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平台告诉你去哪，不告诉你吃啥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6286500" y="3333750"/>
            <a:ext cx="4166235" cy="590550"/>
            <a:chOff x="6286500" y="3333750"/>
            <a:chExt cx="4166235" cy="590550"/>
          </a:xfrm>
        </p:grpSpPr>
        <p:sp>
          <p:nvSpPr>
            <p:cNvPr id="24" name="Rectangle 24"/>
            <p:cNvSpPr/>
            <p:nvPr/>
          </p:nvSpPr>
          <p:spPr>
            <a:xfrm>
              <a:off x="6286500" y="3333750"/>
              <a:ext cx="409575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6600825" y="3552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个体差异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861935" y="3585210"/>
              <a:ext cx="25908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预算、忌口、口味、活动区域都不同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524750" y="4286250"/>
            <a:ext cx="3657600" cy="590550"/>
            <a:chOff x="7524750" y="4286250"/>
            <a:chExt cx="3657600" cy="590550"/>
          </a:xfrm>
        </p:grpSpPr>
        <p:sp>
          <p:nvSpPr>
            <p:cNvPr id="28" name="Rectangle 28"/>
            <p:cNvSpPr/>
            <p:nvPr/>
          </p:nvSpPr>
          <p:spPr>
            <a:xfrm>
              <a:off x="7524750" y="4286250"/>
              <a:ext cx="365760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7839075" y="45053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评价治理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100185" y="4537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内容质量需要审核和回流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6191250" y="5238750"/>
            <a:ext cx="3526155" cy="590550"/>
            <a:chOff x="6191250" y="5238750"/>
            <a:chExt cx="3526155" cy="590550"/>
          </a:xfrm>
        </p:grpSpPr>
        <p:sp>
          <p:nvSpPr>
            <p:cNvPr id="32" name="Rectangle 32"/>
            <p:cNvSpPr/>
            <p:nvPr/>
          </p:nvSpPr>
          <p:spPr>
            <a:xfrm>
              <a:off x="6191250" y="5238750"/>
              <a:ext cx="3390900" cy="5905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6505575" y="54578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地点不熟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766685" y="5490210"/>
              <a:ext cx="195072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新生和跨校区学生更难判断</a:t>
              </a:r>
            </a:p>
          </p:txBody>
        </p:sp>
      </p:grpSp>
      <p:sp>
        <p:nvSpPr>
          <p:cNvPr id="36" name="TextBox 36"/>
          <p:cNvSpPr txBox="1"/>
          <p:nvPr/>
        </p:nvSpPr>
        <p:spPr>
          <a:xfrm>
            <a:off x="521018" y="6390799"/>
            <a:ext cx="1487448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Hook · problem framing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3238500" y="666750"/>
              <a:ext cx="5715000" cy="57150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810625" y="485775"/>
              <a:ext cx="1809750" cy="1809750"/>
            </a:xfrm>
            <a:prstGeom prst="ellipse">
              <a:avLst/>
            </a:prstGeom>
            <a:solidFill>
              <a:srgbClr val="FFB703">
                <a:alpha val="14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20065" y="629602"/>
            <a:ext cx="11149012" cy="213360"/>
            <a:chOff x="520065" y="629602"/>
            <a:chExt cx="11149012" cy="213360"/>
          </a:xfrm>
        </p:grpSpPr>
        <p:sp>
          <p:nvSpPr>
            <p:cNvPr id="6" name="TextBox 6"/>
            <p:cNvSpPr txBox="1"/>
            <p:nvPr/>
          </p:nvSpPr>
          <p:spPr>
            <a:xfrm>
              <a:off x="520065" y="629602"/>
              <a:ext cx="69560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SOLUTION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65389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03 / 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3048567" y="1016318"/>
            <a:ext cx="6094867" cy="1083944"/>
            <a:chOff x="3048567" y="1016318"/>
            <a:chExt cx="6094867" cy="1083944"/>
          </a:xfrm>
        </p:grpSpPr>
        <p:sp>
          <p:nvSpPr>
            <p:cNvPr id="9" name="TextBox 9"/>
            <p:cNvSpPr txBox="1"/>
            <p:nvPr/>
          </p:nvSpPr>
          <p:spPr>
            <a:xfrm>
              <a:off x="3604450" y="1016318"/>
              <a:ext cx="4983099" cy="8839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43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直接推荐具体菜品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048567" y="1764982"/>
              <a:ext cx="6094867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把推荐主体从“商家”前移到“菜品或套餐”，缩短决策链路。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819150" y="2724150"/>
            <a:ext cx="3714750" cy="2266950"/>
            <a:chOff x="819150" y="2724150"/>
            <a:chExt cx="3714750" cy="2266950"/>
          </a:xfrm>
        </p:grpSpPr>
        <p:sp>
          <p:nvSpPr>
            <p:cNvPr id="12" name="Rectangle 12"/>
            <p:cNvSpPr/>
            <p:nvPr/>
          </p:nvSpPr>
          <p:spPr>
            <a:xfrm>
              <a:off x="819150" y="2724150"/>
              <a:ext cx="3714750" cy="2266950"/>
            </a:xfrm>
            <a:prstGeom prst="roundRect">
              <a:avLst>
                <a:gd name="adj" fmla="val 12605"/>
              </a:avLst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1104900" y="3028950"/>
              <a:ext cx="781050" cy="781050"/>
            </a:xfrm>
            <a:prstGeom prst="roundRect">
              <a:avLst>
                <a:gd name="adj" fmla="val 2926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340642" y="3276600"/>
              <a:ext cx="309570" cy="285750"/>
              <a:chOff x="1340642" y="3276600"/>
              <a:chExt cx="309570" cy="285750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352550" y="3288506"/>
                <a:ext cx="285750" cy="154781"/>
              </a:xfrm>
              <a:custGeom>
                <a:avLst/>
                <a:gdLst/>
                <a:ahLst/>
                <a:cxnLst/>
                <a:rect l="l" t="t" r="r" b="b"/>
                <a:pathLst>
                  <a:path w="285750" h="154781">
                    <a:moveTo>
                      <a:pt x="285750" y="83344"/>
                    </a:moveTo>
                    <a:lnTo>
                      <a:pt x="285750" y="107156"/>
                    </a:lnTo>
                    <a:cubicBezTo>
                      <a:pt x="285750" y="133459"/>
                      <a:pt x="264428" y="154781"/>
                      <a:pt x="238125" y="154781"/>
                    </a:cubicBezTo>
                    <a:cubicBezTo>
                      <a:pt x="211822" y="154781"/>
                      <a:pt x="190500" y="133459"/>
                      <a:pt x="190500" y="107156"/>
                    </a:cubicBezTo>
                    <a:lnTo>
                      <a:pt x="190500" y="83344"/>
                    </a:lnTo>
                    <a:lnTo>
                      <a:pt x="95250" y="83344"/>
                    </a:lnTo>
                    <a:lnTo>
                      <a:pt x="95250" y="107156"/>
                    </a:lnTo>
                    <a:cubicBezTo>
                      <a:pt x="95250" y="133459"/>
                      <a:pt x="73928" y="154781"/>
                      <a:pt x="47625" y="154781"/>
                    </a:cubicBezTo>
                    <a:cubicBezTo>
                      <a:pt x="21322" y="154781"/>
                      <a:pt x="0" y="133459"/>
                      <a:pt x="0" y="107156"/>
                    </a:cubicBezTo>
                    <a:lnTo>
                      <a:pt x="0" y="83344"/>
                    </a:lnTo>
                    <a:lnTo>
                      <a:pt x="21342" y="8632"/>
                    </a:lnTo>
                    <a:cubicBezTo>
                      <a:pt x="22799" y="3539"/>
                      <a:pt x="27445" y="21"/>
                      <a:pt x="32742" y="0"/>
                    </a:cubicBezTo>
                    <a:lnTo>
                      <a:pt x="253008" y="0"/>
                    </a:lnTo>
                    <a:cubicBezTo>
                      <a:pt x="258322" y="1"/>
                      <a:pt x="262991" y="3523"/>
                      <a:pt x="264453" y="8632"/>
                    </a:cubicBezTo>
                    <a:close/>
                  </a:path>
                </a:pathLst>
              </a:custGeom>
              <a:solidFill>
                <a:srgbClr val="7480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340642" y="3276600"/>
                <a:ext cx="309570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09570" h="285750">
                    <a:moveTo>
                      <a:pt x="309564" y="95250"/>
                    </a:moveTo>
                    <a:cubicBezTo>
                      <a:pt x="309570" y="94143"/>
                      <a:pt x="309420" y="93041"/>
                      <a:pt x="309117" y="91976"/>
                    </a:cubicBezTo>
                    <a:lnTo>
                      <a:pt x="287761" y="17264"/>
                    </a:lnTo>
                    <a:cubicBezTo>
                      <a:pt x="284812" y="7083"/>
                      <a:pt x="275515" y="57"/>
                      <a:pt x="264915" y="0"/>
                    </a:cubicBezTo>
                    <a:lnTo>
                      <a:pt x="44650" y="0"/>
                    </a:lnTo>
                    <a:cubicBezTo>
                      <a:pt x="34051" y="57"/>
                      <a:pt x="24753" y="7083"/>
                      <a:pt x="21805" y="17264"/>
                    </a:cubicBezTo>
                    <a:lnTo>
                      <a:pt x="463" y="91976"/>
                    </a:lnTo>
                    <a:cubicBezTo>
                      <a:pt x="155" y="93040"/>
                      <a:pt x="0" y="94142"/>
                      <a:pt x="1" y="95250"/>
                    </a:cubicBezTo>
                    <a:lnTo>
                      <a:pt x="1" y="119062"/>
                    </a:lnTo>
                    <a:cubicBezTo>
                      <a:pt x="1" y="137800"/>
                      <a:pt x="8824" y="155445"/>
                      <a:pt x="23814" y="166688"/>
                    </a:cubicBezTo>
                    <a:lnTo>
                      <a:pt x="23814" y="261938"/>
                    </a:lnTo>
                    <a:cubicBezTo>
                      <a:pt x="23814" y="275089"/>
                      <a:pt x="34475" y="285750"/>
                      <a:pt x="47626" y="285750"/>
                    </a:cubicBezTo>
                    <a:lnTo>
                      <a:pt x="261939" y="285750"/>
                    </a:lnTo>
                    <a:cubicBezTo>
                      <a:pt x="275090" y="285750"/>
                      <a:pt x="285751" y="275089"/>
                      <a:pt x="285751" y="261938"/>
                    </a:cubicBezTo>
                    <a:lnTo>
                      <a:pt x="285751" y="166688"/>
                    </a:lnTo>
                    <a:cubicBezTo>
                      <a:pt x="300742" y="155445"/>
                      <a:pt x="309564" y="137800"/>
                      <a:pt x="309564" y="119062"/>
                    </a:cubicBezTo>
                    <a:close/>
                    <a:moveTo>
                      <a:pt x="44650" y="23812"/>
                    </a:moveTo>
                    <a:lnTo>
                      <a:pt x="264915" y="23812"/>
                    </a:lnTo>
                    <a:lnTo>
                      <a:pt x="281912" y="83344"/>
                    </a:lnTo>
                    <a:lnTo>
                      <a:pt x="27698" y="83344"/>
                    </a:lnTo>
                    <a:close/>
                    <a:moveTo>
                      <a:pt x="119064" y="107156"/>
                    </a:moveTo>
                    <a:lnTo>
                      <a:pt x="190501" y="107156"/>
                    </a:lnTo>
                    <a:lnTo>
                      <a:pt x="190501" y="119062"/>
                    </a:lnTo>
                    <a:cubicBezTo>
                      <a:pt x="190501" y="138789"/>
                      <a:pt x="174510" y="154781"/>
                      <a:pt x="154783" y="154781"/>
                    </a:cubicBezTo>
                    <a:cubicBezTo>
                      <a:pt x="135056" y="154781"/>
                      <a:pt x="119064" y="138789"/>
                      <a:pt x="119064" y="119062"/>
                    </a:cubicBezTo>
                    <a:close/>
                    <a:moveTo>
                      <a:pt x="95251" y="107156"/>
                    </a:moveTo>
                    <a:lnTo>
                      <a:pt x="95251" y="119062"/>
                    </a:lnTo>
                    <a:cubicBezTo>
                      <a:pt x="95251" y="138789"/>
                      <a:pt x="79260" y="154781"/>
                      <a:pt x="59533" y="154781"/>
                    </a:cubicBezTo>
                    <a:cubicBezTo>
                      <a:pt x="39806" y="154781"/>
                      <a:pt x="23814" y="138789"/>
                      <a:pt x="23814" y="119062"/>
                    </a:cubicBezTo>
                    <a:lnTo>
                      <a:pt x="23814" y="107156"/>
                    </a:lnTo>
                    <a:close/>
                    <a:moveTo>
                      <a:pt x="261939" y="261938"/>
                    </a:moveTo>
                    <a:lnTo>
                      <a:pt x="47626" y="261938"/>
                    </a:lnTo>
                    <a:lnTo>
                      <a:pt x="47626" y="177403"/>
                    </a:lnTo>
                    <a:cubicBezTo>
                      <a:pt x="51546" y="178193"/>
                      <a:pt x="55534" y="178592"/>
                      <a:pt x="59533" y="178594"/>
                    </a:cubicBezTo>
                    <a:cubicBezTo>
                      <a:pt x="78271" y="178594"/>
                      <a:pt x="95915" y="169772"/>
                      <a:pt x="107158" y="154781"/>
                    </a:cubicBezTo>
                    <a:cubicBezTo>
                      <a:pt x="118400" y="169772"/>
                      <a:pt x="136045" y="178594"/>
                      <a:pt x="154783" y="178594"/>
                    </a:cubicBezTo>
                    <a:cubicBezTo>
                      <a:pt x="173521" y="178594"/>
                      <a:pt x="191165" y="169772"/>
                      <a:pt x="202408" y="154781"/>
                    </a:cubicBezTo>
                    <a:cubicBezTo>
                      <a:pt x="213650" y="169772"/>
                      <a:pt x="231295" y="178594"/>
                      <a:pt x="250033" y="178594"/>
                    </a:cubicBezTo>
                    <a:cubicBezTo>
                      <a:pt x="254031" y="178592"/>
                      <a:pt x="258019" y="178193"/>
                      <a:pt x="261939" y="177403"/>
                    </a:cubicBezTo>
                    <a:close/>
                    <a:moveTo>
                      <a:pt x="250033" y="154781"/>
                    </a:moveTo>
                    <a:cubicBezTo>
                      <a:pt x="230306" y="154781"/>
                      <a:pt x="214314" y="138789"/>
                      <a:pt x="214314" y="119062"/>
                    </a:cubicBezTo>
                    <a:lnTo>
                      <a:pt x="214314" y="107156"/>
                    </a:lnTo>
                    <a:lnTo>
                      <a:pt x="285751" y="107156"/>
                    </a:lnTo>
                    <a:lnTo>
                      <a:pt x="285751" y="119062"/>
                    </a:lnTo>
                    <a:cubicBezTo>
                      <a:pt x="285751" y="138789"/>
                      <a:pt x="269760" y="154781"/>
                      <a:pt x="250033" y="154781"/>
                    </a:cubicBezTo>
                    <a:close/>
                  </a:path>
                </a:pathLst>
              </a:custGeom>
              <a:solidFill>
                <a:srgbClr val="74807C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108835" y="31232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传统路径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116455" y="3530918"/>
              <a:ext cx="165449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先找商家，再翻菜单</a:t>
              </a:r>
            </a:p>
          </p:txBody>
        </p:sp>
        <p:sp>
          <p:nvSpPr>
            <p:cNvPr id="19" name="Line 19"/>
            <p:cNvSpPr/>
            <p:nvPr/>
          </p:nvSpPr>
          <p:spPr>
            <a:xfrm>
              <a:off x="1219200" y="4171950"/>
              <a:ext cx="2876550" cy="9525"/>
            </a:xfrm>
            <a:custGeom>
              <a:avLst/>
              <a:gdLst/>
              <a:ahLst/>
              <a:cxnLst/>
              <a:rect l="l" t="t" r="r" b="b"/>
              <a:pathLst>
                <a:path w="2876550" h="9525">
                  <a:moveTo>
                    <a:pt x="0" y="0"/>
                  </a:moveTo>
                  <a:lnTo>
                    <a:pt x="2876550" y="0"/>
                  </a:lnTo>
                </a:path>
              </a:pathLst>
            </a:custGeom>
            <a:noFill/>
            <a:ln w="19050">
              <a:solidFill>
                <a:srgbClr val="DCEBE3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202055" y="4350068"/>
              <a:ext cx="131245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“这家好像不错”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202055" y="4673918"/>
              <a:ext cx="183451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但还要继续决定吃什么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4838700" y="3486150"/>
            <a:ext cx="2400300" cy="371476"/>
            <a:chOff x="4838700" y="3486150"/>
            <a:chExt cx="2400300" cy="371476"/>
          </a:xfrm>
        </p:grpSpPr>
        <p:sp>
          <p:nvSpPr>
            <p:cNvPr id="23" name="Line 23"/>
            <p:cNvSpPr/>
            <p:nvPr/>
          </p:nvSpPr>
          <p:spPr>
            <a:xfrm>
              <a:off x="4838700" y="3857625"/>
              <a:ext cx="2400300" cy="1"/>
            </a:xfrm>
            <a:prstGeom prst="line">
              <a:avLst/>
            </a:prstGeom>
            <a:noFill/>
            <a:ln w="47625" cap="rnd">
              <a:solidFill>
                <a:srgbClr val="1F8A70"/>
              </a:solidFill>
              <a:tailEnd type="triangle" w="lg" len="lg"/>
            </a:ln>
          </p:spPr>
        </p:sp>
        <p:sp>
          <p:nvSpPr>
            <p:cNvPr id="24" name="Rectangle 24"/>
            <p:cNvSpPr/>
            <p:nvPr/>
          </p:nvSpPr>
          <p:spPr>
            <a:xfrm>
              <a:off x="5314950" y="3486150"/>
              <a:ext cx="1409700" cy="3238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5690473" y="3583781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决策前移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58100" y="2514600"/>
            <a:ext cx="3714750" cy="2705100"/>
            <a:chOff x="7658100" y="2514600"/>
            <a:chExt cx="3714750" cy="2705100"/>
          </a:xfrm>
        </p:grpSpPr>
        <p:sp>
          <p:nvSpPr>
            <p:cNvPr id="27" name="Rectangle 27"/>
            <p:cNvSpPr/>
            <p:nvPr/>
          </p:nvSpPr>
          <p:spPr>
            <a:xfrm>
              <a:off x="7658100" y="2514600"/>
              <a:ext cx="3714750" cy="2705100"/>
            </a:xfrm>
            <a:prstGeom prst="roundRect">
              <a:avLst>
                <a:gd name="adj" fmla="val 11972"/>
              </a:avLst>
            </a:prstGeom>
            <a:solidFill>
              <a:srgbClr val="FFFFFF"/>
            </a:solidFill>
            <a:ln w="28575">
              <a:solidFill>
                <a:srgbClr val="1F8A70"/>
              </a:solidFill>
            </a:ln>
          </p:spPr>
        </p:sp>
        <p:sp>
          <p:nvSpPr>
            <p:cNvPr id="28" name="Rectangle 28"/>
            <p:cNvSpPr/>
            <p:nvPr/>
          </p:nvSpPr>
          <p:spPr>
            <a:xfrm>
              <a:off x="7962900" y="2857500"/>
              <a:ext cx="857250" cy="857250"/>
            </a:xfrm>
            <a:prstGeom prst="roundRect">
              <a:avLst>
                <a:gd name="adj" fmla="val 31111"/>
              </a:avLst>
            </a:prstGeom>
            <a:solidFill>
              <a:srgbClr val="FFB703">
                <a:alpha val="20000"/>
              </a:srgbClr>
            </a:solidFill>
            <a:ln>
              <a:noFill/>
            </a:ln>
          </p:spPr>
        </p:sp>
        <p:grpSp>
          <p:nvGrpSpPr>
            <p:cNvPr id="31" name="Group 31"/>
            <p:cNvGrpSpPr/>
            <p:nvPr/>
          </p:nvGrpSpPr>
          <p:grpSpPr>
            <a:xfrm>
              <a:off x="8213527" y="3108231"/>
              <a:ext cx="355998" cy="342201"/>
              <a:chOff x="8213527" y="3108231"/>
              <a:chExt cx="355998" cy="342201"/>
            </a:xfrm>
          </p:grpSpPr>
          <p:sp>
            <p:nvSpPr>
              <p:cNvPr id="29" name="Freeform 29"/>
              <p:cNvSpPr/>
              <p:nvPr/>
            </p:nvSpPr>
            <p:spPr>
              <a:xfrm>
                <a:off x="8227199" y="3258741"/>
                <a:ext cx="328654" cy="177999"/>
              </a:xfrm>
              <a:custGeom>
                <a:avLst/>
                <a:gdLst/>
                <a:ahLst/>
                <a:cxnLst/>
                <a:rect l="l" t="t" r="r" b="b"/>
                <a:pathLst>
                  <a:path w="328654" h="177999">
                    <a:moveTo>
                      <a:pt x="328634" y="0"/>
                    </a:moveTo>
                    <a:cubicBezTo>
                      <a:pt x="328654" y="64263"/>
                      <a:pt x="291207" y="122640"/>
                      <a:pt x="232788" y="149416"/>
                    </a:cubicBezTo>
                    <a:lnTo>
                      <a:pt x="232788" y="164307"/>
                    </a:lnTo>
                    <a:cubicBezTo>
                      <a:pt x="232788" y="171869"/>
                      <a:pt x="226658" y="177999"/>
                      <a:pt x="219096" y="177999"/>
                    </a:cubicBezTo>
                    <a:lnTo>
                      <a:pt x="109558" y="177999"/>
                    </a:lnTo>
                    <a:cubicBezTo>
                      <a:pt x="101996" y="177999"/>
                      <a:pt x="95866" y="171869"/>
                      <a:pt x="95866" y="164307"/>
                    </a:cubicBezTo>
                    <a:lnTo>
                      <a:pt x="95866" y="149416"/>
                    </a:lnTo>
                    <a:cubicBezTo>
                      <a:pt x="37447" y="122640"/>
                      <a:pt x="0" y="64263"/>
                      <a:pt x="20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0" name="Freeform 30"/>
              <p:cNvSpPr/>
              <p:nvPr/>
            </p:nvSpPr>
            <p:spPr>
              <a:xfrm>
                <a:off x="8213527" y="3108231"/>
                <a:ext cx="355998" cy="342201"/>
              </a:xfrm>
              <a:custGeom>
                <a:avLst/>
                <a:gdLst/>
                <a:ahLst/>
                <a:cxnLst/>
                <a:rect l="l" t="t" r="r" b="b"/>
                <a:pathLst>
                  <a:path w="355998" h="342201">
                    <a:moveTo>
                      <a:pt x="342306" y="136817"/>
                    </a:moveTo>
                    <a:lnTo>
                      <a:pt x="327980" y="136817"/>
                    </a:lnTo>
                    <a:cubicBezTo>
                      <a:pt x="320850" y="59308"/>
                      <a:pt x="255835" y="0"/>
                      <a:pt x="177999" y="0"/>
                    </a:cubicBezTo>
                    <a:cubicBezTo>
                      <a:pt x="100163" y="0"/>
                      <a:pt x="35148" y="59308"/>
                      <a:pt x="28018" y="136817"/>
                    </a:cubicBezTo>
                    <a:lnTo>
                      <a:pt x="13692" y="136817"/>
                    </a:lnTo>
                    <a:cubicBezTo>
                      <a:pt x="6130" y="136817"/>
                      <a:pt x="0" y="142948"/>
                      <a:pt x="0" y="150510"/>
                    </a:cubicBezTo>
                    <a:cubicBezTo>
                      <a:pt x="123" y="216875"/>
                      <a:pt x="37034" y="277700"/>
                      <a:pt x="95846" y="308450"/>
                    </a:cubicBezTo>
                    <a:lnTo>
                      <a:pt x="95846" y="314816"/>
                    </a:lnTo>
                    <a:cubicBezTo>
                      <a:pt x="95846" y="329940"/>
                      <a:pt x="108106" y="342201"/>
                      <a:pt x="123230" y="342201"/>
                    </a:cubicBezTo>
                    <a:lnTo>
                      <a:pt x="232768" y="342201"/>
                    </a:lnTo>
                    <a:cubicBezTo>
                      <a:pt x="247892" y="342201"/>
                      <a:pt x="260152" y="329940"/>
                      <a:pt x="260152" y="314816"/>
                    </a:cubicBezTo>
                    <a:lnTo>
                      <a:pt x="260152" y="308450"/>
                    </a:lnTo>
                    <a:cubicBezTo>
                      <a:pt x="318964" y="277700"/>
                      <a:pt x="355875" y="216875"/>
                      <a:pt x="355998" y="150510"/>
                    </a:cubicBezTo>
                    <a:cubicBezTo>
                      <a:pt x="355998" y="142948"/>
                      <a:pt x="349868" y="136817"/>
                      <a:pt x="342306" y="136817"/>
                    </a:cubicBezTo>
                    <a:close/>
                    <a:moveTo>
                      <a:pt x="255839" y="55058"/>
                    </a:moveTo>
                    <a:cubicBezTo>
                      <a:pt x="258977" y="57625"/>
                      <a:pt x="261984" y="60335"/>
                      <a:pt x="264859" y="63188"/>
                    </a:cubicBezTo>
                    <a:cubicBezTo>
                      <a:pt x="228410" y="76009"/>
                      <a:pt x="198289" y="102361"/>
                      <a:pt x="180737" y="136783"/>
                    </a:cubicBezTo>
                    <a:lnTo>
                      <a:pt x="130247" y="136783"/>
                    </a:lnTo>
                    <a:cubicBezTo>
                      <a:pt x="147781" y="87634"/>
                      <a:pt x="194277" y="54779"/>
                      <a:pt x="246460" y="54664"/>
                    </a:cubicBezTo>
                    <a:cubicBezTo>
                      <a:pt x="249592" y="54664"/>
                      <a:pt x="252724" y="54818"/>
                      <a:pt x="255839" y="55058"/>
                    </a:cubicBezTo>
                    <a:close/>
                    <a:moveTo>
                      <a:pt x="283070" y="86208"/>
                    </a:moveTo>
                    <a:cubicBezTo>
                      <a:pt x="292525" y="101588"/>
                      <a:pt x="298458" y="118872"/>
                      <a:pt x="300442" y="136817"/>
                    </a:cubicBezTo>
                    <a:lnTo>
                      <a:pt x="212435" y="136817"/>
                    </a:lnTo>
                    <a:cubicBezTo>
                      <a:pt x="229035" y="111913"/>
                      <a:pt x="254150" y="93918"/>
                      <a:pt x="283070" y="86208"/>
                    </a:cubicBezTo>
                    <a:close/>
                    <a:moveTo>
                      <a:pt x="177999" y="27280"/>
                    </a:moveTo>
                    <a:cubicBezTo>
                      <a:pt x="188986" y="27287"/>
                      <a:pt x="199923" y="28766"/>
                      <a:pt x="210518" y="31678"/>
                    </a:cubicBezTo>
                    <a:cubicBezTo>
                      <a:pt x="158000" y="44706"/>
                      <a:pt x="116444" y="84800"/>
                      <a:pt x="101545" y="136817"/>
                    </a:cubicBezTo>
                    <a:lnTo>
                      <a:pt x="55556" y="136817"/>
                    </a:lnTo>
                    <a:cubicBezTo>
                      <a:pt x="62588" y="74486"/>
                      <a:pt x="115272" y="27354"/>
                      <a:pt x="177999" y="27280"/>
                    </a:cubicBezTo>
                    <a:close/>
                    <a:moveTo>
                      <a:pt x="240744" y="287432"/>
                    </a:moveTo>
                    <a:cubicBezTo>
                      <a:pt x="235866" y="289673"/>
                      <a:pt x="232747" y="294558"/>
                      <a:pt x="232768" y="299926"/>
                    </a:cubicBezTo>
                    <a:lnTo>
                      <a:pt x="232768" y="314816"/>
                    </a:lnTo>
                    <a:lnTo>
                      <a:pt x="123230" y="314816"/>
                    </a:lnTo>
                    <a:lnTo>
                      <a:pt x="123230" y="299926"/>
                    </a:lnTo>
                    <a:cubicBezTo>
                      <a:pt x="123251" y="294558"/>
                      <a:pt x="120132" y="289673"/>
                      <a:pt x="115254" y="287432"/>
                    </a:cubicBezTo>
                    <a:cubicBezTo>
                      <a:pt x="66248" y="264881"/>
                      <a:pt x="32980" y="217915"/>
                      <a:pt x="27966" y="164202"/>
                    </a:cubicBezTo>
                    <a:lnTo>
                      <a:pt x="327980" y="164202"/>
                    </a:lnTo>
                    <a:cubicBezTo>
                      <a:pt x="322976" y="217903"/>
                      <a:pt x="289730" y="264867"/>
                      <a:pt x="240744" y="287432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32" name="TextBox 32"/>
            <p:cNvSpPr txBox="1"/>
            <p:nvPr/>
          </p:nvSpPr>
          <p:spPr>
            <a:xfrm>
              <a:off x="9041130" y="2992755"/>
              <a:ext cx="2067492" cy="4267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Campus Foodie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050655" y="3435668"/>
              <a:ext cx="2194560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直接给出菜品级候选和理由</a:t>
              </a:r>
            </a:p>
          </p:txBody>
        </p:sp>
        <p:sp>
          <p:nvSpPr>
            <p:cNvPr id="34" name="Line 34"/>
            <p:cNvSpPr/>
            <p:nvPr/>
          </p:nvSpPr>
          <p:spPr>
            <a:xfrm>
              <a:off x="8058150" y="4057650"/>
              <a:ext cx="2914650" cy="9525"/>
            </a:xfrm>
            <a:custGeom>
              <a:avLst/>
              <a:gdLst/>
              <a:ahLst/>
              <a:cxnLst/>
              <a:rect l="l" t="t" r="r" b="b"/>
              <a:pathLst>
                <a:path w="2914650" h="9525">
                  <a:moveTo>
                    <a:pt x="0" y="0"/>
                  </a:moveTo>
                  <a:lnTo>
                    <a:pt x="2914650" y="0"/>
                  </a:lnTo>
                </a:path>
              </a:pathLst>
            </a:custGeom>
            <a:noFill/>
            <a:ln w="19050">
              <a:solidFill>
                <a:srgbClr val="DCEBE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039100" y="4257675"/>
              <a:ext cx="1298258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藤椒鸡双拼饭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041958" y="4605814"/>
              <a:ext cx="224266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微辣、预算匹配、靠近图书馆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8041958" y="4891564"/>
              <a:ext cx="258270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可查看地图、评价并收藏所属商家</a:t>
              </a:r>
            </a:p>
          </p:txBody>
        </p:sp>
      </p:grpSp>
      <p:grpSp>
        <p:nvGrpSpPr>
          <p:cNvPr id="56" name="Group 56"/>
          <p:cNvGrpSpPr/>
          <p:nvPr/>
        </p:nvGrpSpPr>
        <p:grpSpPr>
          <a:xfrm>
            <a:off x="2266950" y="5676900"/>
            <a:ext cx="7658100" cy="495300"/>
            <a:chOff x="2266950" y="5676900"/>
            <a:chExt cx="7658100" cy="495300"/>
          </a:xfrm>
        </p:grpSpPr>
        <p:sp>
          <p:nvSpPr>
            <p:cNvPr id="39" name="Rectangle 39"/>
            <p:cNvSpPr/>
            <p:nvPr/>
          </p:nvSpPr>
          <p:spPr>
            <a:xfrm>
              <a:off x="2266950" y="5676900"/>
              <a:ext cx="7658100" cy="4953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8A70"/>
                </a:gs>
                <a:gs pos="100000">
                  <a:srgbClr val="3A86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613422" y="5807869"/>
              <a:ext cx="183356" cy="233863"/>
              <a:chOff x="2613422" y="5807869"/>
              <a:chExt cx="183356" cy="233863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621756" y="5816203"/>
                <a:ext cx="166688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166688" h="216694">
                    <a:moveTo>
                      <a:pt x="83344" y="0"/>
                    </a:moveTo>
                    <a:cubicBezTo>
                      <a:pt x="37314" y="0"/>
                      <a:pt x="0" y="37314"/>
                      <a:pt x="0" y="83344"/>
                    </a:cubicBezTo>
                    <a:cubicBezTo>
                      <a:pt x="0" y="158353"/>
                      <a:pt x="83344" y="216694"/>
                      <a:pt x="83344" y="216694"/>
                    </a:cubicBezTo>
                    <a:cubicBezTo>
                      <a:pt x="83344" y="216694"/>
                      <a:pt x="166688" y="158353"/>
                      <a:pt x="166688" y="83344"/>
                    </a:cubicBezTo>
                    <a:cubicBezTo>
                      <a:pt x="166688" y="37314"/>
                      <a:pt x="129373" y="0"/>
                      <a:pt x="83344" y="0"/>
                    </a:cubicBezTo>
                    <a:close/>
                    <a:moveTo>
                      <a:pt x="83344" y="116681"/>
                    </a:moveTo>
                    <a:cubicBezTo>
                      <a:pt x="64932" y="116681"/>
                      <a:pt x="50006" y="101756"/>
                      <a:pt x="50006" y="83344"/>
                    </a:cubicBezTo>
                    <a:cubicBezTo>
                      <a:pt x="50006" y="64932"/>
                      <a:pt x="64932" y="50006"/>
                      <a:pt x="83344" y="50006"/>
                    </a:cubicBezTo>
                    <a:cubicBezTo>
                      <a:pt x="101756" y="50006"/>
                      <a:pt x="116681" y="64932"/>
                      <a:pt x="116681" y="83344"/>
                    </a:cubicBezTo>
                    <a:cubicBezTo>
                      <a:pt x="116681" y="101756"/>
                      <a:pt x="101756" y="116681"/>
                      <a:pt x="83344" y="11668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613422" y="5807869"/>
                <a:ext cx="183356" cy="233863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233863">
                    <a:moveTo>
                      <a:pt x="91678" y="50006"/>
                    </a:moveTo>
                    <a:cubicBezTo>
                      <a:pt x="68663" y="50006"/>
                      <a:pt x="50006" y="68663"/>
                      <a:pt x="50006" y="91678"/>
                    </a:cubicBezTo>
                    <a:cubicBezTo>
                      <a:pt x="50006" y="114693"/>
                      <a:pt x="68663" y="133350"/>
                      <a:pt x="91678" y="133350"/>
                    </a:cubicBezTo>
                    <a:cubicBezTo>
                      <a:pt x="114693" y="133350"/>
                      <a:pt x="133350" y="114693"/>
                      <a:pt x="133350" y="91678"/>
                    </a:cubicBezTo>
                    <a:cubicBezTo>
                      <a:pt x="133350" y="68663"/>
                      <a:pt x="114693" y="50006"/>
                      <a:pt x="91678" y="50006"/>
                    </a:cubicBezTo>
                    <a:close/>
                    <a:moveTo>
                      <a:pt x="91678" y="116681"/>
                    </a:moveTo>
                    <a:cubicBezTo>
                      <a:pt x="77869" y="116681"/>
                      <a:pt x="66675" y="105487"/>
                      <a:pt x="66675" y="91678"/>
                    </a:cubicBezTo>
                    <a:cubicBezTo>
                      <a:pt x="66675" y="77869"/>
                      <a:pt x="77869" y="66675"/>
                      <a:pt x="91678" y="66675"/>
                    </a:cubicBezTo>
                    <a:cubicBezTo>
                      <a:pt x="105487" y="66675"/>
                      <a:pt x="116681" y="77869"/>
                      <a:pt x="116681" y="91678"/>
                    </a:cubicBezTo>
                    <a:cubicBezTo>
                      <a:pt x="116681" y="105487"/>
                      <a:pt x="105487" y="116681"/>
                      <a:pt x="91678" y="116681"/>
                    </a:cubicBezTo>
                    <a:close/>
                    <a:moveTo>
                      <a:pt x="91678" y="0"/>
                    </a:moveTo>
                    <a:cubicBezTo>
                      <a:pt x="41069" y="57"/>
                      <a:pt x="57" y="41069"/>
                      <a:pt x="0" y="91678"/>
                    </a:cubicBezTo>
                    <a:cubicBezTo>
                      <a:pt x="0" y="124391"/>
                      <a:pt x="15116" y="159062"/>
                      <a:pt x="43755" y="191951"/>
                    </a:cubicBezTo>
                    <a:cubicBezTo>
                      <a:pt x="56624" y="206813"/>
                      <a:pt x="71107" y="220196"/>
                      <a:pt x="86938" y="231852"/>
                    </a:cubicBezTo>
                    <a:cubicBezTo>
                      <a:pt x="89809" y="233863"/>
                      <a:pt x="93631" y="233863"/>
                      <a:pt x="96502" y="231852"/>
                    </a:cubicBezTo>
                    <a:cubicBezTo>
                      <a:pt x="112303" y="220191"/>
                      <a:pt x="126758" y="206808"/>
                      <a:pt x="139601" y="191951"/>
                    </a:cubicBezTo>
                    <a:cubicBezTo>
                      <a:pt x="168198" y="159062"/>
                      <a:pt x="183356" y="124391"/>
                      <a:pt x="183356" y="91678"/>
                    </a:cubicBezTo>
                    <a:cubicBezTo>
                      <a:pt x="183299" y="41069"/>
                      <a:pt x="142287" y="57"/>
                      <a:pt x="91678" y="0"/>
                    </a:cubicBezTo>
                    <a:close/>
                    <a:moveTo>
                      <a:pt x="91678" y="214610"/>
                    </a:moveTo>
                    <a:cubicBezTo>
                      <a:pt x="74457" y="201067"/>
                      <a:pt x="16669" y="151321"/>
                      <a:pt x="16669" y="91678"/>
                    </a:cubicBezTo>
                    <a:cubicBezTo>
                      <a:pt x="16669" y="50252"/>
                      <a:pt x="50252" y="16669"/>
                      <a:pt x="91678" y="16669"/>
                    </a:cubicBezTo>
                    <a:cubicBezTo>
                      <a:pt x="133105" y="16669"/>
                      <a:pt x="166688" y="50252"/>
                      <a:pt x="166688" y="91678"/>
                    </a:cubicBezTo>
                    <a:cubicBezTo>
                      <a:pt x="166688" y="151300"/>
                      <a:pt x="108899" y="201067"/>
                      <a:pt x="91678" y="2146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2936558" y="5863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地图发现</a:t>
              </a:r>
            </a:p>
          </p:txBody>
        </p:sp>
        <p:grpSp>
          <p:nvGrpSpPr>
            <p:cNvPr id="46" name="Group 46"/>
            <p:cNvGrpSpPr/>
            <p:nvPr/>
          </p:nvGrpSpPr>
          <p:grpSpPr>
            <a:xfrm>
              <a:off x="4306059" y="5816195"/>
              <a:ext cx="230781" cy="225184"/>
              <a:chOff x="4306059" y="5816195"/>
              <a:chExt cx="230781" cy="225184"/>
            </a:xfrm>
          </p:grpSpPr>
          <p:sp>
            <p:nvSpPr>
              <p:cNvPr id="44" name="Freeform 44"/>
              <p:cNvSpPr/>
              <p:nvPr/>
            </p:nvSpPr>
            <p:spPr>
              <a:xfrm>
                <a:off x="4311970" y="5816211"/>
                <a:ext cx="207647" cy="212846"/>
              </a:xfrm>
              <a:custGeom>
                <a:avLst/>
                <a:gdLst/>
                <a:ahLst/>
                <a:cxnLst/>
                <a:rect l="l" t="t" r="r" b="b"/>
                <a:pathLst>
                  <a:path w="207647" h="212846">
                    <a:moveTo>
                      <a:pt x="207643" y="108339"/>
                    </a:moveTo>
                    <a:cubicBezTo>
                      <a:pt x="207647" y="144088"/>
                      <a:pt x="188571" y="177120"/>
                      <a:pt x="157605" y="194983"/>
                    </a:cubicBezTo>
                    <a:cubicBezTo>
                      <a:pt x="126640" y="212846"/>
                      <a:pt x="88495" y="212823"/>
                      <a:pt x="57551" y="194923"/>
                    </a:cubicBezTo>
                    <a:lnTo>
                      <a:pt x="57551" y="194923"/>
                    </a:lnTo>
                    <a:lnTo>
                      <a:pt x="18598" y="207914"/>
                    </a:lnTo>
                    <a:cubicBezTo>
                      <a:pt x="15603" y="208913"/>
                      <a:pt x="12301" y="208134"/>
                      <a:pt x="10068" y="205901"/>
                    </a:cubicBezTo>
                    <a:cubicBezTo>
                      <a:pt x="7836" y="203669"/>
                      <a:pt x="7056" y="200366"/>
                      <a:pt x="8055" y="197371"/>
                    </a:cubicBezTo>
                    <a:lnTo>
                      <a:pt x="21046" y="158419"/>
                    </a:lnTo>
                    <a:lnTo>
                      <a:pt x="21046" y="158419"/>
                    </a:lnTo>
                    <a:cubicBezTo>
                      <a:pt x="0" y="122015"/>
                      <a:pt x="3972" y="76335"/>
                      <a:pt x="30986" y="44110"/>
                    </a:cubicBezTo>
                    <a:cubicBezTo>
                      <a:pt x="58000" y="11885"/>
                      <a:pt x="102286" y="0"/>
                      <a:pt x="141804" y="14368"/>
                    </a:cubicBezTo>
                    <a:cubicBezTo>
                      <a:pt x="181323" y="28737"/>
                      <a:pt x="207634" y="66290"/>
                      <a:pt x="207643" y="108339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5" name="Freeform 45"/>
              <p:cNvSpPr/>
              <p:nvPr/>
            </p:nvSpPr>
            <p:spPr>
              <a:xfrm>
                <a:off x="4306059" y="5816195"/>
                <a:ext cx="230781" cy="225184"/>
              </a:xfrm>
              <a:custGeom>
                <a:avLst/>
                <a:gdLst/>
                <a:ahLst/>
                <a:cxnLst/>
                <a:rect l="l" t="t" r="r" b="b"/>
                <a:pathLst>
                  <a:path w="230781" h="225184">
                    <a:moveTo>
                      <a:pt x="113541" y="8"/>
                    </a:moveTo>
                    <a:cubicBezTo>
                      <a:pt x="75492" y="0"/>
                      <a:pt x="40226" y="19951"/>
                      <a:pt x="20635" y="52570"/>
                    </a:cubicBezTo>
                    <a:cubicBezTo>
                      <a:pt x="1045" y="85189"/>
                      <a:pt x="0" y="125693"/>
                      <a:pt x="17883" y="159278"/>
                    </a:cubicBezTo>
                    <a:lnTo>
                      <a:pt x="6059" y="194751"/>
                    </a:lnTo>
                    <a:cubicBezTo>
                      <a:pt x="4061" y="200742"/>
                      <a:pt x="5620" y="207346"/>
                      <a:pt x="10085" y="211811"/>
                    </a:cubicBezTo>
                    <a:cubicBezTo>
                      <a:pt x="14550" y="216276"/>
                      <a:pt x="21155" y="217835"/>
                      <a:pt x="27145" y="215837"/>
                    </a:cubicBezTo>
                    <a:lnTo>
                      <a:pt x="62618" y="204013"/>
                    </a:lnTo>
                    <a:cubicBezTo>
                      <a:pt x="102422" y="225184"/>
                      <a:pt x="151176" y="219494"/>
                      <a:pt x="185035" y="189727"/>
                    </a:cubicBezTo>
                    <a:cubicBezTo>
                      <a:pt x="218894" y="159960"/>
                      <a:pt x="230781" y="112336"/>
                      <a:pt x="214884" y="70148"/>
                    </a:cubicBezTo>
                    <a:cubicBezTo>
                      <a:pt x="198986" y="27961"/>
                      <a:pt x="158625" y="27"/>
                      <a:pt x="113541" y="8"/>
                    </a:cubicBezTo>
                    <a:close/>
                    <a:moveTo>
                      <a:pt x="113541" y="200033"/>
                    </a:moveTo>
                    <a:cubicBezTo>
                      <a:pt x="97424" y="200044"/>
                      <a:pt x="81590" y="195800"/>
                      <a:pt x="67640" y="187730"/>
                    </a:cubicBezTo>
                    <a:cubicBezTo>
                      <a:pt x="65573" y="186531"/>
                      <a:pt x="63092" y="186277"/>
                      <a:pt x="60826" y="187032"/>
                    </a:cubicBezTo>
                    <a:lnTo>
                      <a:pt x="21863" y="200033"/>
                    </a:lnTo>
                    <a:lnTo>
                      <a:pt x="34854" y="161070"/>
                    </a:lnTo>
                    <a:cubicBezTo>
                      <a:pt x="35612" y="158805"/>
                      <a:pt x="35361" y="156324"/>
                      <a:pt x="34167" y="154257"/>
                    </a:cubicBezTo>
                    <a:cubicBezTo>
                      <a:pt x="13389" y="118334"/>
                      <a:pt x="19333" y="72933"/>
                      <a:pt x="48659" y="43570"/>
                    </a:cubicBezTo>
                    <a:cubicBezTo>
                      <a:pt x="77985" y="14207"/>
                      <a:pt x="123378" y="8205"/>
                      <a:pt x="159327" y="28938"/>
                    </a:cubicBezTo>
                    <a:cubicBezTo>
                      <a:pt x="195277" y="49670"/>
                      <a:pt x="212816" y="91966"/>
                      <a:pt x="202088" y="132055"/>
                    </a:cubicBezTo>
                    <a:cubicBezTo>
                      <a:pt x="191360" y="172144"/>
                      <a:pt x="155040" y="200026"/>
                      <a:pt x="113541" y="20003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47" name="TextBox 47"/>
            <p:cNvSpPr txBox="1"/>
            <p:nvPr/>
          </p:nvSpPr>
          <p:spPr>
            <a:xfrm>
              <a:off x="4651058" y="5863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真实评价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6025753" y="5832872"/>
              <a:ext cx="216694" cy="200025"/>
              <a:chOff x="6025753" y="5832872"/>
              <a:chExt cx="216694" cy="200025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6034088" y="5841206"/>
                <a:ext cx="200025" cy="108347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108347">
                    <a:moveTo>
                      <a:pt x="200025" y="16669"/>
                    </a:moveTo>
                    <a:lnTo>
                      <a:pt x="200025" y="108347"/>
                    </a:lnTo>
                    <a:lnTo>
                      <a:pt x="0" y="108347"/>
                    </a:lnTo>
                    <a:lnTo>
                      <a:pt x="0" y="16669"/>
                    </a:lnTo>
                    <a:cubicBezTo>
                      <a:pt x="0" y="7463"/>
                      <a:pt x="7463" y="0"/>
                      <a:pt x="16669" y="0"/>
                    </a:cubicBezTo>
                    <a:lnTo>
                      <a:pt x="183356" y="0"/>
                    </a:lnTo>
                    <a:cubicBezTo>
                      <a:pt x="192562" y="0"/>
                      <a:pt x="200025" y="7463"/>
                      <a:pt x="200025" y="16669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6025753" y="5832872"/>
                <a:ext cx="216694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200025">
                    <a:moveTo>
                      <a:pt x="191691" y="0"/>
                    </a:move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141684"/>
                    </a:lnTo>
                    <a:cubicBezTo>
                      <a:pt x="0" y="155493"/>
                      <a:pt x="11194" y="166688"/>
                      <a:pt x="25003" y="166688"/>
                    </a:cubicBezTo>
                    <a:lnTo>
                      <a:pt x="100012" y="166688"/>
                    </a:lnTo>
                    <a:lnTo>
                      <a:pt x="100012" y="183356"/>
                    </a:lnTo>
                    <a:lnTo>
                      <a:pt x="75009" y="183356"/>
                    </a:lnTo>
                    <a:cubicBezTo>
                      <a:pt x="70406" y="183356"/>
                      <a:pt x="66675" y="187088"/>
                      <a:pt x="66675" y="191691"/>
                    </a:cubicBezTo>
                    <a:cubicBezTo>
                      <a:pt x="66675" y="196294"/>
                      <a:pt x="70406" y="200025"/>
                      <a:pt x="75009" y="200025"/>
                    </a:cubicBezTo>
                    <a:lnTo>
                      <a:pt x="141684" y="200025"/>
                    </a:lnTo>
                    <a:cubicBezTo>
                      <a:pt x="146287" y="200025"/>
                      <a:pt x="150019" y="196294"/>
                      <a:pt x="150019" y="191691"/>
                    </a:cubicBezTo>
                    <a:cubicBezTo>
                      <a:pt x="150019" y="187088"/>
                      <a:pt x="146287" y="183356"/>
                      <a:pt x="141684" y="183356"/>
                    </a:cubicBezTo>
                    <a:lnTo>
                      <a:pt x="116681" y="183356"/>
                    </a:lnTo>
                    <a:lnTo>
                      <a:pt x="116681" y="166688"/>
                    </a:lnTo>
                    <a:lnTo>
                      <a:pt x="191691" y="166688"/>
                    </a:lnTo>
                    <a:cubicBezTo>
                      <a:pt x="205499" y="166688"/>
                      <a:pt x="216694" y="155493"/>
                      <a:pt x="216694" y="141684"/>
                    </a:cubicBezTo>
                    <a:lnTo>
                      <a:pt x="216694" y="25003"/>
                    </a:lnTo>
                    <a:cubicBezTo>
                      <a:pt x="216694" y="11194"/>
                      <a:pt x="205499" y="0"/>
                      <a:pt x="191691" y="0"/>
                    </a:cubicBezTo>
                    <a:close/>
                    <a:moveTo>
                      <a:pt x="25003" y="16669"/>
                    </a:moveTo>
                    <a:lnTo>
                      <a:pt x="191691" y="16669"/>
                    </a:lnTo>
                    <a:cubicBezTo>
                      <a:pt x="196294" y="16669"/>
                      <a:pt x="200025" y="20400"/>
                      <a:pt x="200025" y="25003"/>
                    </a:cubicBezTo>
                    <a:lnTo>
                      <a:pt x="200025" y="108347"/>
                    </a:lnTo>
                    <a:lnTo>
                      <a:pt x="16669" y="108347"/>
                    </a:lnTo>
                    <a:lnTo>
                      <a:pt x="16669" y="25003"/>
                    </a:lnTo>
                    <a:cubicBezTo>
                      <a:pt x="16669" y="20400"/>
                      <a:pt x="20400" y="16669"/>
                      <a:pt x="25003" y="16669"/>
                    </a:cubicBezTo>
                    <a:close/>
                    <a:moveTo>
                      <a:pt x="191691" y="150019"/>
                    </a:moveTo>
                    <a:lnTo>
                      <a:pt x="25003" y="150019"/>
                    </a:lnTo>
                    <a:cubicBezTo>
                      <a:pt x="20400" y="150019"/>
                      <a:pt x="16669" y="146287"/>
                      <a:pt x="16669" y="141684"/>
                    </a:cubicBezTo>
                    <a:lnTo>
                      <a:pt x="16669" y="125016"/>
                    </a:lnTo>
                    <a:lnTo>
                      <a:pt x="200025" y="125016"/>
                    </a:lnTo>
                    <a:lnTo>
                      <a:pt x="200025" y="141684"/>
                    </a:lnTo>
                    <a:cubicBezTo>
                      <a:pt x="200025" y="146287"/>
                      <a:pt x="196294" y="150019"/>
                      <a:pt x="191691" y="150019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6365558" y="58631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后台治理</a:t>
              </a:r>
            </a:p>
          </p:txBody>
        </p:sp>
        <p:grpSp>
          <p:nvGrpSpPr>
            <p:cNvPr id="54" name="Group 54"/>
            <p:cNvGrpSpPr/>
            <p:nvPr/>
          </p:nvGrpSpPr>
          <p:grpSpPr>
            <a:xfrm>
              <a:off x="7723577" y="5812015"/>
              <a:ext cx="250039" cy="216736"/>
              <a:chOff x="7723577" y="5812015"/>
              <a:chExt cx="250039" cy="216736"/>
            </a:xfrm>
          </p:grpSpPr>
          <p:sp>
            <p:nvSpPr>
              <p:cNvPr id="52" name="Freeform 52"/>
              <p:cNvSpPr/>
              <p:nvPr/>
            </p:nvSpPr>
            <p:spPr>
              <a:xfrm>
                <a:off x="7731874" y="5824538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3" name="Freeform 53"/>
              <p:cNvSpPr/>
              <p:nvPr/>
            </p:nvSpPr>
            <p:spPr>
              <a:xfrm>
                <a:off x="7723577" y="5812015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5" name="TextBox 55"/>
            <p:cNvSpPr txBox="1"/>
            <p:nvPr/>
          </p:nvSpPr>
          <p:spPr>
            <a:xfrm>
              <a:off x="8080058" y="5863114"/>
              <a:ext cx="773253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受约束 AI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1123950"/>
              <a:ext cx="11391900" cy="5029200"/>
            </a:xfrm>
            <a:prstGeom prst="roundRect">
              <a:avLst>
                <a:gd name="adj" fmla="val 492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从游客到贡献者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406298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产品先允许轻量浏览，再在关键动作上完成身份归属。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04 / 16</a:t>
              </a:r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2343150" y="1390650"/>
            <a:ext cx="9010650" cy="419100"/>
            <a:chOff x="2343150" y="1390650"/>
            <a:chExt cx="9010650" cy="419100"/>
          </a:xfrm>
        </p:grpSpPr>
        <p:sp>
          <p:nvSpPr>
            <p:cNvPr id="9" name="Rectangle 9"/>
            <p:cNvSpPr/>
            <p:nvPr/>
          </p:nvSpPr>
          <p:spPr>
            <a:xfrm>
              <a:off x="234315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286154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游客浏览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422910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474749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设置偏好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611505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663344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收藏商家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8001000" y="1390650"/>
              <a:ext cx="169545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8440638" y="1535906"/>
              <a:ext cx="816173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写评价草稿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9886950" y="1390650"/>
              <a:ext cx="1466850" cy="419100"/>
            </a:xfrm>
            <a:prstGeom prst="roundRect">
              <a:avLst>
                <a:gd name="adj" fmla="val 31818"/>
              </a:avLst>
            </a:prstGeom>
            <a:solidFill>
              <a:srgbClr val="FFB703">
                <a:alpha val="28000"/>
              </a:srgbClr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291048" y="15359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登录发布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83908" y="2176939"/>
            <a:ext cx="746474" cy="3345180"/>
            <a:chOff x="783908" y="2176939"/>
            <a:chExt cx="746474" cy="3345180"/>
          </a:xfrm>
        </p:grpSpPr>
        <p:sp>
          <p:nvSpPr>
            <p:cNvPr id="20" name="TextBox 20"/>
            <p:cNvSpPr txBox="1"/>
            <p:nvPr/>
          </p:nvSpPr>
          <p:spPr>
            <a:xfrm>
              <a:off x="783908" y="21769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用户动作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83908" y="32056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系统承接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83908" y="42343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价值变化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3908" y="5263039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身份归属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2076450" y="1981200"/>
            <a:ext cx="9277350" cy="3867150"/>
            <a:chOff x="2076450" y="1981200"/>
            <a:chExt cx="9277350" cy="3867150"/>
          </a:xfrm>
        </p:grpSpPr>
        <p:sp>
          <p:nvSpPr>
            <p:cNvPr id="25" name="Line 25"/>
            <p:cNvSpPr/>
            <p:nvPr/>
          </p:nvSpPr>
          <p:spPr>
            <a:xfrm>
              <a:off x="207645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sp>
          <p:nvSpPr>
            <p:cNvPr id="26" name="Line 26"/>
            <p:cNvSpPr/>
            <p:nvPr/>
          </p:nvSpPr>
          <p:spPr>
            <a:xfrm>
              <a:off x="413385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27" name="Line 27"/>
            <p:cNvSpPr/>
            <p:nvPr/>
          </p:nvSpPr>
          <p:spPr>
            <a:xfrm>
              <a:off x="601980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28" name="Line 28"/>
            <p:cNvSpPr/>
            <p:nvPr/>
          </p:nvSpPr>
          <p:spPr>
            <a:xfrm>
              <a:off x="790575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29" name="Line 29"/>
            <p:cNvSpPr/>
            <p:nvPr/>
          </p:nvSpPr>
          <p:spPr>
            <a:xfrm>
              <a:off x="9791700" y="1981200"/>
              <a:ext cx="9525" cy="3867150"/>
            </a:xfrm>
            <a:custGeom>
              <a:avLst/>
              <a:gdLst/>
              <a:ahLst/>
              <a:cxnLst/>
              <a:rect l="l" t="t" r="r" b="b"/>
              <a:pathLst>
                <a:path w="9525" h="3867150">
                  <a:moveTo>
                    <a:pt x="0" y="0"/>
                  </a:moveTo>
                  <a:lnTo>
                    <a:pt x="0" y="3867150"/>
                  </a:lnTo>
                </a:path>
              </a:pathLst>
            </a:custGeom>
            <a:noFill/>
            <a:ln w="14288">
              <a:solidFill>
                <a:srgbClr val="DCEBE3"/>
              </a:solidFill>
              <a:prstDash val="dash"/>
            </a:ln>
          </p:spPr>
        </p:sp>
        <p:sp>
          <p:nvSpPr>
            <p:cNvPr id="30" name="Line 30"/>
            <p:cNvSpPr/>
            <p:nvPr/>
          </p:nvSpPr>
          <p:spPr>
            <a:xfrm>
              <a:off x="2076450" y="2952750"/>
              <a:ext cx="9277350" cy="9525"/>
            </a:xfrm>
            <a:custGeom>
              <a:avLst/>
              <a:gdLst/>
              <a:ahLst/>
              <a:cxnLst/>
              <a:rect l="l" t="t" r="r" b="b"/>
              <a:pathLst>
                <a:path w="9277350" h="9525">
                  <a:moveTo>
                    <a:pt x="0" y="0"/>
                  </a:moveTo>
                  <a:lnTo>
                    <a:pt x="927735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sp>
          <p:nvSpPr>
            <p:cNvPr id="31" name="Line 31"/>
            <p:cNvSpPr/>
            <p:nvPr/>
          </p:nvSpPr>
          <p:spPr>
            <a:xfrm>
              <a:off x="2076450" y="3981450"/>
              <a:ext cx="9277350" cy="9525"/>
            </a:xfrm>
            <a:custGeom>
              <a:avLst/>
              <a:gdLst/>
              <a:ahLst/>
              <a:cxnLst/>
              <a:rect l="l" t="t" r="r" b="b"/>
              <a:pathLst>
                <a:path w="9277350" h="9525">
                  <a:moveTo>
                    <a:pt x="0" y="0"/>
                  </a:moveTo>
                  <a:lnTo>
                    <a:pt x="927735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sp>
          <p:nvSpPr>
            <p:cNvPr id="32" name="Line 32"/>
            <p:cNvSpPr/>
            <p:nvPr/>
          </p:nvSpPr>
          <p:spPr>
            <a:xfrm>
              <a:off x="2076450" y="5010150"/>
              <a:ext cx="9277350" cy="9525"/>
            </a:xfrm>
            <a:custGeom>
              <a:avLst/>
              <a:gdLst/>
              <a:ahLst/>
              <a:cxnLst/>
              <a:rect l="l" t="t" r="r" b="b"/>
              <a:pathLst>
                <a:path w="9277350" h="9525">
                  <a:moveTo>
                    <a:pt x="0" y="0"/>
                  </a:moveTo>
                  <a:lnTo>
                    <a:pt x="927735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</p:grpSp>
      <p:grpSp>
        <p:nvGrpSpPr>
          <p:cNvPr id="54" name="Group 54"/>
          <p:cNvGrpSpPr/>
          <p:nvPr/>
        </p:nvGrpSpPr>
        <p:grpSpPr>
          <a:xfrm>
            <a:off x="2328862" y="2183606"/>
            <a:ext cx="8922544" cy="3314700"/>
            <a:chOff x="2328862" y="2183606"/>
            <a:chExt cx="8922544" cy="3314700"/>
          </a:xfrm>
        </p:grpSpPr>
        <p:sp>
          <p:nvSpPr>
            <p:cNvPr id="34" name="TextBox 34"/>
            <p:cNvSpPr txBox="1"/>
            <p:nvPr/>
          </p:nvSpPr>
          <p:spPr>
            <a:xfrm>
              <a:off x="2328862" y="2183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打开首页，看推荐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214812" y="21836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选择微辣、预算、区域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100762" y="2183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查看地图并点星标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986712" y="2183606"/>
              <a:ext cx="139374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“我也吃过”先写草稿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9872662" y="21836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登录后恢复并提交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2328862" y="3212306"/>
              <a:ext cx="14312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游客 token 记录状态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214812" y="32123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画像只保留偏好标签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100762" y="3212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收藏商家而非菜品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7986712" y="3212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草稿等待身份绑定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9872662" y="32123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幂等合并游客数据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2328862" y="4241006"/>
              <a:ext cx="77866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低门槛进入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214812" y="4241006"/>
              <a:ext cx="107870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推荐更贴近个人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6100762" y="42410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下次更快找到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7986712" y="4241006"/>
              <a:ext cx="1228725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贡献意愿不被打断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872662" y="4241006"/>
              <a:ext cx="137874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评价进入公共信息池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2328862" y="5269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匿名可用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214812" y="5269706"/>
              <a:ext cx="92868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去标识化画像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6100762" y="5269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游客收藏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986712" y="5269706"/>
              <a:ext cx="62865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本地草稿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872662" y="526970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账号归属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2266950" y="5276850"/>
            <a:ext cx="8972550" cy="895350"/>
            <a:chOff x="2266950" y="5276850"/>
            <a:chExt cx="8972550" cy="895350"/>
          </a:xfrm>
        </p:grpSpPr>
        <p:sp>
          <p:nvSpPr>
            <p:cNvPr id="55" name="Freeform 55"/>
            <p:cNvSpPr/>
            <p:nvPr/>
          </p:nvSpPr>
          <p:spPr>
            <a:xfrm>
              <a:off x="2381250" y="5295900"/>
              <a:ext cx="8743950" cy="762000"/>
            </a:xfrm>
            <a:custGeom>
              <a:avLst/>
              <a:gdLst/>
              <a:ahLst/>
              <a:cxnLst/>
              <a:rect l="l" t="t" r="r" b="b"/>
              <a:pathLst>
                <a:path w="8743950" h="762000">
                  <a:moveTo>
                    <a:pt x="0" y="762000"/>
                  </a:moveTo>
                  <a:cubicBezTo>
                    <a:pt x="1295400" y="438150"/>
                    <a:pt x="2228850" y="457200"/>
                    <a:pt x="3276600" y="304800"/>
                  </a:cubicBezTo>
                  <a:cubicBezTo>
                    <a:pt x="4324350" y="152400"/>
                    <a:pt x="4953000" y="0"/>
                    <a:pt x="5924550" y="304800"/>
                  </a:cubicBezTo>
                  <a:cubicBezTo>
                    <a:pt x="6896100" y="609600"/>
                    <a:pt x="7562850" y="742950"/>
                    <a:pt x="8743950" y="342900"/>
                  </a:cubicBezTo>
                </a:path>
              </a:pathLst>
            </a:custGeom>
            <a:noFill/>
            <a:ln w="47625" cap="rnd">
              <a:gradFill>
                <a:gsLst>
                  <a:gs pos="0">
                    <a:srgbClr val="3A86FF"/>
                  </a:gs>
                  <a:gs pos="55000">
                    <a:srgbClr val="1F8A70"/>
                  </a:gs>
                  <a:gs pos="100000">
                    <a:srgbClr val="FFB703"/>
                  </a:gs>
                </a:gsLst>
                <a:lin ang="0" scaled="1"/>
              </a:gradFill>
            </a:ln>
          </p:spPr>
        </p:sp>
        <p:sp>
          <p:nvSpPr>
            <p:cNvPr id="56" name="Ellipse 56"/>
            <p:cNvSpPr/>
            <p:nvPr/>
          </p:nvSpPr>
          <p:spPr>
            <a:xfrm>
              <a:off x="2266950" y="5943600"/>
              <a:ext cx="228600" cy="228600"/>
            </a:xfrm>
            <a:prstGeom prst="ellipse">
              <a:avLst/>
            </a:prstGeom>
            <a:solidFill>
              <a:srgbClr val="3A86FF"/>
            </a:solidFill>
            <a:ln w="38100">
              <a:solidFill>
                <a:srgbClr val="FFFFFF"/>
              </a:solidFill>
            </a:ln>
          </p:spPr>
        </p:sp>
        <p:sp>
          <p:nvSpPr>
            <p:cNvPr id="57" name="Ellipse 57"/>
            <p:cNvSpPr/>
            <p:nvPr/>
          </p:nvSpPr>
          <p:spPr>
            <a:xfrm>
              <a:off x="4648200" y="5638800"/>
              <a:ext cx="228600" cy="228600"/>
            </a:xfrm>
            <a:prstGeom prst="ellipse">
              <a:avLst/>
            </a:prstGeom>
            <a:solidFill>
              <a:srgbClr val="1F8A70"/>
            </a:solidFill>
            <a:ln w="38100">
              <a:solidFill>
                <a:srgbClr val="FFFFFF"/>
              </a:solidFill>
            </a:ln>
          </p:spPr>
        </p:sp>
        <p:sp>
          <p:nvSpPr>
            <p:cNvPr id="58" name="Ellipse 58"/>
            <p:cNvSpPr/>
            <p:nvPr/>
          </p:nvSpPr>
          <p:spPr>
            <a:xfrm>
              <a:off x="6743700" y="5276850"/>
              <a:ext cx="228600" cy="228600"/>
            </a:xfrm>
            <a:prstGeom prst="ellipse">
              <a:avLst/>
            </a:prstGeom>
            <a:solidFill>
              <a:srgbClr val="1F8A70"/>
            </a:solidFill>
            <a:ln w="38100">
              <a:solidFill>
                <a:srgbClr val="FFFFFF"/>
              </a:solidFill>
            </a:ln>
          </p:spPr>
        </p:sp>
        <p:sp>
          <p:nvSpPr>
            <p:cNvPr id="59" name="Ellipse 59"/>
            <p:cNvSpPr/>
            <p:nvPr/>
          </p:nvSpPr>
          <p:spPr>
            <a:xfrm>
              <a:off x="8743950" y="5676900"/>
              <a:ext cx="228600" cy="228600"/>
            </a:xfrm>
            <a:prstGeom prst="ellipse">
              <a:avLst/>
            </a:prstGeom>
            <a:solidFill>
              <a:srgbClr val="FFB703"/>
            </a:solidFill>
            <a:ln w="38100">
              <a:solidFill>
                <a:srgbClr val="FFFFFF"/>
              </a:solidFill>
            </a:ln>
          </p:spPr>
        </p:sp>
        <p:sp>
          <p:nvSpPr>
            <p:cNvPr id="60" name="Ellipse 60"/>
            <p:cNvSpPr/>
            <p:nvPr/>
          </p:nvSpPr>
          <p:spPr>
            <a:xfrm>
              <a:off x="11010900" y="5524500"/>
              <a:ext cx="228600" cy="228600"/>
            </a:xfrm>
            <a:prstGeom prst="ellipse">
              <a:avLst/>
            </a:prstGeom>
            <a:solidFill>
              <a:srgbClr val="FFB703"/>
            </a:solidFill>
            <a:ln w="38100">
              <a:solidFill>
                <a:srgbClr val="FFFFFF"/>
              </a:solidFill>
            </a:ln>
          </p:spPr>
        </p:sp>
      </p:grpSp>
      <p:grpSp>
        <p:nvGrpSpPr>
          <p:cNvPr id="73" name="Group 73"/>
          <p:cNvGrpSpPr/>
          <p:nvPr/>
        </p:nvGrpSpPr>
        <p:grpSpPr>
          <a:xfrm>
            <a:off x="685800" y="1219200"/>
            <a:ext cx="1258824" cy="4244627"/>
            <a:chOff x="685800" y="1219200"/>
            <a:chExt cx="1258824" cy="4244627"/>
          </a:xfrm>
        </p:grpSpPr>
        <p:sp>
          <p:nvSpPr>
            <p:cNvPr id="62" name="Rectangle 62"/>
            <p:cNvSpPr/>
            <p:nvPr/>
          </p:nvSpPr>
          <p:spPr>
            <a:xfrm>
              <a:off x="685800" y="1219200"/>
              <a:ext cx="1200150" cy="628650"/>
            </a:xfrm>
            <a:prstGeom prst="roundRect">
              <a:avLst>
                <a:gd name="adj" fmla="val 3030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65" name="Group 65"/>
            <p:cNvGrpSpPr/>
            <p:nvPr/>
          </p:nvGrpSpPr>
          <p:grpSpPr>
            <a:xfrm>
              <a:off x="903089" y="1417286"/>
              <a:ext cx="232175" cy="224506"/>
              <a:chOff x="903089" y="1417286"/>
              <a:chExt cx="232175" cy="224506"/>
            </a:xfrm>
          </p:grpSpPr>
          <p:sp>
            <p:nvSpPr>
              <p:cNvPr id="63" name="Freeform 63"/>
              <p:cNvSpPr/>
              <p:nvPr/>
            </p:nvSpPr>
            <p:spPr>
              <a:xfrm>
                <a:off x="912019" y="1426369"/>
                <a:ext cx="214313" cy="71438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71438">
                    <a:moveTo>
                      <a:pt x="214313" y="35719"/>
                    </a:moveTo>
                    <a:lnTo>
                      <a:pt x="107157" y="71438"/>
                    </a:lnTo>
                    <a:lnTo>
                      <a:pt x="0" y="35719"/>
                    </a:lnTo>
                    <a:lnTo>
                      <a:pt x="107157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4" name="Freeform 64"/>
              <p:cNvSpPr/>
              <p:nvPr/>
            </p:nvSpPr>
            <p:spPr>
              <a:xfrm>
                <a:off x="903089" y="1417286"/>
                <a:ext cx="232175" cy="224506"/>
              </a:xfrm>
              <a:custGeom>
                <a:avLst/>
                <a:gdLst/>
                <a:ahLst/>
                <a:cxnLst/>
                <a:rect l="l" t="t" r="r" b="b"/>
                <a:pathLst>
                  <a:path w="232175" h="224506">
                    <a:moveTo>
                      <a:pt x="226068" y="36330"/>
                    </a:moveTo>
                    <a:lnTo>
                      <a:pt x="118911" y="611"/>
                    </a:lnTo>
                    <a:cubicBezTo>
                      <a:pt x="117078" y="0"/>
                      <a:pt x="115096" y="0"/>
                      <a:pt x="113263" y="611"/>
                    </a:cubicBezTo>
                    <a:lnTo>
                      <a:pt x="6106" y="36330"/>
                    </a:lnTo>
                    <a:cubicBezTo>
                      <a:pt x="2796" y="37446"/>
                      <a:pt x="441" y="40390"/>
                      <a:pt x="79" y="43864"/>
                    </a:cubicBezTo>
                    <a:cubicBezTo>
                      <a:pt x="26" y="44174"/>
                      <a:pt x="0" y="44488"/>
                      <a:pt x="0" y="44802"/>
                    </a:cubicBezTo>
                    <a:lnTo>
                      <a:pt x="0" y="134099"/>
                    </a:lnTo>
                    <a:cubicBezTo>
                      <a:pt x="0" y="139031"/>
                      <a:pt x="3998" y="143029"/>
                      <a:pt x="8930" y="143029"/>
                    </a:cubicBezTo>
                    <a:cubicBezTo>
                      <a:pt x="13862" y="143029"/>
                      <a:pt x="17860" y="139031"/>
                      <a:pt x="17860" y="134099"/>
                    </a:cubicBezTo>
                    <a:lnTo>
                      <a:pt x="17860" y="57192"/>
                    </a:lnTo>
                    <a:lnTo>
                      <a:pt x="55354" y="69683"/>
                    </a:lnTo>
                    <a:cubicBezTo>
                      <a:pt x="34611" y="103193"/>
                      <a:pt x="44925" y="147171"/>
                      <a:pt x="78403" y="167965"/>
                    </a:cubicBezTo>
                    <a:cubicBezTo>
                      <a:pt x="58312" y="175846"/>
                      <a:pt x="40943" y="190100"/>
                      <a:pt x="28241" y="209589"/>
                    </a:cubicBezTo>
                    <a:cubicBezTo>
                      <a:pt x="26443" y="212261"/>
                      <a:pt x="26223" y="215694"/>
                      <a:pt x="27666" y="218574"/>
                    </a:cubicBezTo>
                    <a:cubicBezTo>
                      <a:pt x="29109" y="221454"/>
                      <a:pt x="31990" y="223333"/>
                      <a:pt x="35207" y="223493"/>
                    </a:cubicBezTo>
                    <a:cubicBezTo>
                      <a:pt x="38424" y="223652"/>
                      <a:pt x="41477" y="222067"/>
                      <a:pt x="43198" y="219345"/>
                    </a:cubicBezTo>
                    <a:cubicBezTo>
                      <a:pt x="60019" y="193538"/>
                      <a:pt x="86585" y="178748"/>
                      <a:pt x="116087" y="178748"/>
                    </a:cubicBezTo>
                    <a:cubicBezTo>
                      <a:pt x="145588" y="178748"/>
                      <a:pt x="172154" y="193538"/>
                      <a:pt x="188976" y="219345"/>
                    </a:cubicBezTo>
                    <a:cubicBezTo>
                      <a:pt x="191701" y="223395"/>
                      <a:pt x="197174" y="224506"/>
                      <a:pt x="201263" y="221839"/>
                    </a:cubicBezTo>
                    <a:cubicBezTo>
                      <a:pt x="205352" y="219172"/>
                      <a:pt x="206541" y="213716"/>
                      <a:pt x="203933" y="209589"/>
                    </a:cubicBezTo>
                    <a:cubicBezTo>
                      <a:pt x="191230" y="190100"/>
                      <a:pt x="173795" y="175846"/>
                      <a:pt x="153770" y="167965"/>
                    </a:cubicBezTo>
                    <a:cubicBezTo>
                      <a:pt x="187214" y="147173"/>
                      <a:pt x="197524" y="103237"/>
                      <a:pt x="176820" y="69738"/>
                    </a:cubicBezTo>
                    <a:lnTo>
                      <a:pt x="226068" y="53330"/>
                    </a:lnTo>
                    <a:cubicBezTo>
                      <a:pt x="229715" y="52115"/>
                      <a:pt x="232175" y="48702"/>
                      <a:pt x="232175" y="44858"/>
                    </a:cubicBezTo>
                    <a:cubicBezTo>
                      <a:pt x="232175" y="41014"/>
                      <a:pt x="229715" y="37601"/>
                      <a:pt x="226068" y="36386"/>
                    </a:cubicBezTo>
                    <a:close/>
                    <a:moveTo>
                      <a:pt x="169665" y="107310"/>
                    </a:moveTo>
                    <a:cubicBezTo>
                      <a:pt x="169672" y="130566"/>
                      <a:pt x="154675" y="151171"/>
                      <a:pt x="132543" y="158314"/>
                    </a:cubicBezTo>
                    <a:cubicBezTo>
                      <a:pt x="110412" y="165457"/>
                      <a:pt x="86199" y="157507"/>
                      <a:pt x="72609" y="138635"/>
                    </a:cubicBezTo>
                    <a:cubicBezTo>
                      <a:pt x="59019" y="119764"/>
                      <a:pt x="59155" y="94280"/>
                      <a:pt x="72945" y="75554"/>
                    </a:cubicBezTo>
                    <a:lnTo>
                      <a:pt x="113263" y="88948"/>
                    </a:lnTo>
                    <a:cubicBezTo>
                      <a:pt x="115096" y="89559"/>
                      <a:pt x="117078" y="89559"/>
                      <a:pt x="118911" y="88948"/>
                    </a:cubicBezTo>
                    <a:lnTo>
                      <a:pt x="159229" y="75554"/>
                    </a:lnTo>
                    <a:cubicBezTo>
                      <a:pt x="166013" y="84751"/>
                      <a:pt x="169671" y="95881"/>
                      <a:pt x="169665" y="107310"/>
                    </a:cubicBezTo>
                    <a:close/>
                    <a:moveTo>
                      <a:pt x="116087" y="71111"/>
                    </a:moveTo>
                    <a:lnTo>
                      <a:pt x="37170" y="44802"/>
                    </a:lnTo>
                    <a:lnTo>
                      <a:pt x="116087" y="18493"/>
                    </a:lnTo>
                    <a:lnTo>
                      <a:pt x="195003" y="44802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66" name="TextBox 66"/>
            <p:cNvSpPr txBox="1"/>
            <p:nvPr/>
          </p:nvSpPr>
          <p:spPr>
            <a:xfrm>
              <a:off x="1242060" y="1451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学生旅程</a:t>
              </a:r>
            </a:p>
          </p:txBody>
        </p:sp>
        <p:grpSp>
          <p:nvGrpSpPr>
            <p:cNvPr id="69" name="Group 69"/>
            <p:cNvGrpSpPr/>
            <p:nvPr/>
          </p:nvGrpSpPr>
          <p:grpSpPr>
            <a:xfrm>
              <a:off x="1628773" y="2147888"/>
              <a:ext cx="133353" cy="216700"/>
              <a:chOff x="1628773" y="2147888"/>
              <a:chExt cx="133353" cy="216700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1662112" y="2322909"/>
                <a:ext cx="66675" cy="33338"/>
              </a:xfrm>
              <a:custGeom>
                <a:avLst/>
                <a:gdLst/>
                <a:ahLst/>
                <a:cxnLst/>
                <a:rect l="l" t="t" r="r" b="b"/>
                <a:pathLst>
                  <a:path w="66675" h="33338">
                    <a:moveTo>
                      <a:pt x="66675" y="0"/>
                    </a:moveTo>
                    <a:lnTo>
                      <a:pt x="33338" y="3333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1628773" y="2147888"/>
                <a:ext cx="133353" cy="216700"/>
              </a:xfrm>
              <a:custGeom>
                <a:avLst/>
                <a:gdLst/>
                <a:ahLst/>
                <a:cxnLst/>
                <a:rect l="l" t="t" r="r" b="b"/>
                <a:pathLst>
                  <a:path w="133353" h="216700">
                    <a:moveTo>
                      <a:pt x="125017" y="0"/>
                    </a:moveTo>
                    <a:cubicBezTo>
                      <a:pt x="120414" y="0"/>
                      <a:pt x="116683" y="3731"/>
                      <a:pt x="116683" y="8334"/>
                    </a:cubicBezTo>
                    <a:lnTo>
                      <a:pt x="116683" y="71561"/>
                    </a:lnTo>
                    <a:lnTo>
                      <a:pt x="66677" y="121567"/>
                    </a:lnTo>
                    <a:lnTo>
                      <a:pt x="16670" y="71561"/>
                    </a:lnTo>
                    <a:lnTo>
                      <a:pt x="16670" y="8334"/>
                    </a:lnTo>
                    <a:cubicBezTo>
                      <a:pt x="16670" y="3731"/>
                      <a:pt x="12939" y="0"/>
                      <a:pt x="8336" y="0"/>
                    </a:cubicBezTo>
                    <a:cubicBezTo>
                      <a:pt x="3733" y="0"/>
                      <a:pt x="2" y="3731"/>
                      <a:pt x="2" y="8334"/>
                    </a:cubicBezTo>
                    <a:lnTo>
                      <a:pt x="2" y="75009"/>
                    </a:lnTo>
                    <a:cubicBezTo>
                      <a:pt x="0" y="77220"/>
                      <a:pt x="877" y="79342"/>
                      <a:pt x="2440" y="80906"/>
                    </a:cubicBezTo>
                    <a:lnTo>
                      <a:pt x="58342" y="136798"/>
                    </a:lnTo>
                    <a:lnTo>
                      <a:pt x="58342" y="166688"/>
                    </a:lnTo>
                    <a:lnTo>
                      <a:pt x="33339" y="166688"/>
                    </a:lnTo>
                    <a:cubicBezTo>
                      <a:pt x="29966" y="166685"/>
                      <a:pt x="26924" y="168715"/>
                      <a:pt x="25633" y="171832"/>
                    </a:cubicBezTo>
                    <a:cubicBezTo>
                      <a:pt x="24342" y="174948"/>
                      <a:pt x="25056" y="178535"/>
                      <a:pt x="27443" y="180918"/>
                    </a:cubicBezTo>
                    <a:lnTo>
                      <a:pt x="60780" y="214256"/>
                    </a:lnTo>
                    <a:cubicBezTo>
                      <a:pt x="62343" y="215821"/>
                      <a:pt x="64465" y="216700"/>
                      <a:pt x="66677" y="216700"/>
                    </a:cubicBezTo>
                    <a:cubicBezTo>
                      <a:pt x="68889" y="216700"/>
                      <a:pt x="71010" y="215821"/>
                      <a:pt x="72573" y="214256"/>
                    </a:cubicBezTo>
                    <a:lnTo>
                      <a:pt x="105911" y="180918"/>
                    </a:lnTo>
                    <a:cubicBezTo>
                      <a:pt x="108297" y="178535"/>
                      <a:pt x="109012" y="174948"/>
                      <a:pt x="107720" y="171832"/>
                    </a:cubicBezTo>
                    <a:cubicBezTo>
                      <a:pt x="106429" y="168715"/>
                      <a:pt x="103387" y="166685"/>
                      <a:pt x="100014" y="166688"/>
                    </a:cubicBezTo>
                    <a:lnTo>
                      <a:pt x="75011" y="166688"/>
                    </a:lnTo>
                    <a:lnTo>
                      <a:pt x="75011" y="136798"/>
                    </a:lnTo>
                    <a:lnTo>
                      <a:pt x="130914" y="80906"/>
                    </a:lnTo>
                    <a:cubicBezTo>
                      <a:pt x="132477" y="79342"/>
                      <a:pt x="133353" y="77220"/>
                      <a:pt x="133352" y="75009"/>
                    </a:cubicBezTo>
                    <a:lnTo>
                      <a:pt x="133352" y="8334"/>
                    </a:lnTo>
                    <a:cubicBezTo>
                      <a:pt x="133352" y="3731"/>
                      <a:pt x="129620" y="0"/>
                      <a:pt x="125017" y="0"/>
                    </a:cubicBezTo>
                    <a:close/>
                    <a:moveTo>
                      <a:pt x="66677" y="196577"/>
                    </a:moveTo>
                    <a:lnTo>
                      <a:pt x="53456" y="183356"/>
                    </a:lnTo>
                    <a:lnTo>
                      <a:pt x="79897" y="183356"/>
                    </a:ln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grpSp>
          <p:nvGrpSpPr>
            <p:cNvPr id="72" name="Group 72"/>
            <p:cNvGrpSpPr/>
            <p:nvPr/>
          </p:nvGrpSpPr>
          <p:grpSpPr>
            <a:xfrm>
              <a:off x="1587103" y="5269706"/>
              <a:ext cx="218011" cy="194121"/>
              <a:chOff x="1587103" y="5269706"/>
              <a:chExt cx="218011" cy="194121"/>
            </a:xfrm>
          </p:grpSpPr>
          <p:sp>
            <p:nvSpPr>
              <p:cNvPr id="70" name="Freeform 70"/>
              <p:cNvSpPr/>
              <p:nvPr/>
            </p:nvSpPr>
            <p:spPr>
              <a:xfrm>
                <a:off x="1745456" y="5403056"/>
                <a:ext cx="50006" cy="50006"/>
              </a:xfrm>
              <a:custGeom>
                <a:avLst/>
                <a:gdLst/>
                <a:ahLst/>
                <a:cxnLst/>
                <a:rect l="l" t="t" r="r" b="b"/>
                <a:pathLst>
                  <a:path w="50006" h="50006">
                    <a:moveTo>
                      <a:pt x="50006" y="25003"/>
                    </a:moveTo>
                    <a:cubicBezTo>
                      <a:pt x="50006" y="38812"/>
                      <a:pt x="38812" y="50006"/>
                      <a:pt x="25003" y="50006"/>
                    </a:cubicBezTo>
                    <a:cubicBezTo>
                      <a:pt x="11194" y="50006"/>
                      <a:pt x="0" y="38812"/>
                      <a:pt x="0" y="25003"/>
                    </a:cubicBezTo>
                    <a:cubicBezTo>
                      <a:pt x="0" y="11194"/>
                      <a:pt x="11194" y="0"/>
                      <a:pt x="25003" y="0"/>
                    </a:cubicBezTo>
                    <a:cubicBezTo>
                      <a:pt x="38812" y="0"/>
                      <a:pt x="50006" y="11194"/>
                      <a:pt x="50006" y="25003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1" name="Freeform 71"/>
              <p:cNvSpPr/>
              <p:nvPr/>
            </p:nvSpPr>
            <p:spPr>
              <a:xfrm>
                <a:off x="1587103" y="5269706"/>
                <a:ext cx="218011" cy="194121"/>
              </a:xfrm>
              <a:custGeom>
                <a:avLst/>
                <a:gdLst/>
                <a:ahLst/>
                <a:cxnLst/>
                <a:rect l="l" t="t" r="r" b="b"/>
                <a:pathLst>
                  <a:path w="218011" h="194121">
                    <a:moveTo>
                      <a:pt x="183356" y="125016"/>
                    </a:moveTo>
                    <a:cubicBezTo>
                      <a:pt x="168156" y="125030"/>
                      <a:pt x="154882" y="135306"/>
                      <a:pt x="151061" y="150019"/>
                    </a:cubicBezTo>
                    <a:lnTo>
                      <a:pt x="50006" y="150019"/>
                    </a:lnTo>
                    <a:cubicBezTo>
                      <a:pt x="31594" y="150019"/>
                      <a:pt x="16669" y="135093"/>
                      <a:pt x="16669" y="116681"/>
                    </a:cubicBezTo>
                    <a:cubicBezTo>
                      <a:pt x="16669" y="98269"/>
                      <a:pt x="31594" y="83344"/>
                      <a:pt x="50006" y="83344"/>
                    </a:cubicBezTo>
                    <a:lnTo>
                      <a:pt x="150019" y="83344"/>
                    </a:lnTo>
                    <a:cubicBezTo>
                      <a:pt x="173033" y="83344"/>
                      <a:pt x="191691" y="64687"/>
                      <a:pt x="191691" y="41672"/>
                    </a:cubicBezTo>
                    <a:cubicBezTo>
                      <a:pt x="191691" y="18657"/>
                      <a:pt x="173033" y="0"/>
                      <a:pt x="150019" y="0"/>
                    </a:cubicBezTo>
                    <a:lnTo>
                      <a:pt x="50006" y="0"/>
                    </a:lnTo>
                    <a:cubicBezTo>
                      <a:pt x="45403" y="0"/>
                      <a:pt x="41672" y="3731"/>
                      <a:pt x="41672" y="8334"/>
                    </a:cubicBezTo>
                    <a:cubicBezTo>
                      <a:pt x="41672" y="12937"/>
                      <a:pt x="45403" y="16669"/>
                      <a:pt x="50006" y="16669"/>
                    </a:cubicBezTo>
                    <a:lnTo>
                      <a:pt x="150019" y="16669"/>
                    </a:lnTo>
                    <a:cubicBezTo>
                      <a:pt x="163828" y="16669"/>
                      <a:pt x="175022" y="27863"/>
                      <a:pt x="175022" y="41672"/>
                    </a:cubicBezTo>
                    <a:cubicBezTo>
                      <a:pt x="175022" y="55481"/>
                      <a:pt x="163828" y="66675"/>
                      <a:pt x="150019" y="66675"/>
                    </a:cubicBezTo>
                    <a:lnTo>
                      <a:pt x="50006" y="66675"/>
                    </a:lnTo>
                    <a:cubicBezTo>
                      <a:pt x="22389" y="66675"/>
                      <a:pt x="0" y="89064"/>
                      <a:pt x="0" y="116681"/>
                    </a:cubicBezTo>
                    <a:cubicBezTo>
                      <a:pt x="0" y="144299"/>
                      <a:pt x="22389" y="166688"/>
                      <a:pt x="50006" y="166688"/>
                    </a:cubicBezTo>
                    <a:lnTo>
                      <a:pt x="151061" y="166688"/>
                    </a:lnTo>
                    <a:cubicBezTo>
                      <a:pt x="155391" y="183460"/>
                      <a:pt x="171846" y="194121"/>
                      <a:pt x="188923" y="191220"/>
                    </a:cubicBezTo>
                    <a:cubicBezTo>
                      <a:pt x="206001" y="188318"/>
                      <a:pt x="218011" y="172821"/>
                      <a:pt x="216560" y="155560"/>
                    </a:cubicBezTo>
                    <a:cubicBezTo>
                      <a:pt x="215108" y="138298"/>
                      <a:pt x="200679" y="125024"/>
                      <a:pt x="183356" y="125016"/>
                    </a:cubicBezTo>
                    <a:close/>
                    <a:moveTo>
                      <a:pt x="183356" y="175022"/>
                    </a:moveTo>
                    <a:cubicBezTo>
                      <a:pt x="174150" y="175022"/>
                      <a:pt x="166688" y="167559"/>
                      <a:pt x="166688" y="158353"/>
                    </a:cubicBezTo>
                    <a:cubicBezTo>
                      <a:pt x="166688" y="149147"/>
                      <a:pt x="174150" y="141684"/>
                      <a:pt x="183356" y="141684"/>
                    </a:cubicBezTo>
                    <a:cubicBezTo>
                      <a:pt x="192562" y="141684"/>
                      <a:pt x="200025" y="149147"/>
                      <a:pt x="200025" y="158353"/>
                    </a:cubicBezTo>
                    <a:cubicBezTo>
                      <a:pt x="200025" y="167559"/>
                      <a:pt x="192562" y="175022"/>
                      <a:pt x="183356" y="175022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42900" y="1066800"/>
              <a:ext cx="11506200" cy="5219700"/>
            </a:xfrm>
            <a:prstGeom prst="roundRect">
              <a:avLst>
                <a:gd name="adj" fmla="val 5474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一个闭环，四个入口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4231005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首页、地图、评价、管理端共同组成完整餐饮决策闭环。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05 / 16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428750"/>
            <a:ext cx="5143500" cy="2095500"/>
            <a:chOff x="762000" y="1428750"/>
            <a:chExt cx="5143500" cy="2095500"/>
          </a:xfrm>
        </p:grpSpPr>
        <p:sp>
          <p:nvSpPr>
            <p:cNvPr id="9" name="Rectangle 9"/>
            <p:cNvSpPr/>
            <p:nvPr/>
          </p:nvSpPr>
          <p:spPr>
            <a:xfrm>
              <a:off x="762000" y="14287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84332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1F8A70">
                      <a:alphaMod val="12000"/>
                    </a:srgbClr>
                  </a:solidFill>
                  <a:latin typeface="Trebuchet MS"/>
                  <a:ea typeface="Microsoft YaHei"/>
                  <a:cs typeface="Trebuchet MS"/>
                </a:rPr>
                <a:t>01</a:t>
              </a:r>
            </a:p>
          </p:txBody>
        </p:sp>
        <p:sp>
          <p:nvSpPr>
            <p:cNvPr id="11" name="Rectangle 11"/>
            <p:cNvSpPr/>
            <p:nvPr/>
          </p:nvSpPr>
          <p:spPr>
            <a:xfrm>
              <a:off x="1066800" y="17526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4" name="Group 14"/>
            <p:cNvGrpSpPr/>
            <p:nvPr/>
          </p:nvGrpSpPr>
          <p:grpSpPr>
            <a:xfrm>
              <a:off x="1313259" y="1945481"/>
              <a:ext cx="192881" cy="300038"/>
              <a:chOff x="1313259" y="1945481"/>
              <a:chExt cx="192881" cy="300038"/>
            </a:xfrm>
          </p:grpSpPr>
          <p:sp>
            <p:nvSpPr>
              <p:cNvPr id="12" name="Freeform 12"/>
              <p:cNvSpPr/>
              <p:nvPr/>
            </p:nvSpPr>
            <p:spPr>
              <a:xfrm>
                <a:off x="1323975" y="1999059"/>
                <a:ext cx="17145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2881">
                    <a:moveTo>
                      <a:pt x="171450" y="0"/>
                    </a:moveTo>
                    <a:lnTo>
                      <a:pt x="171450" y="192881"/>
                    </a:lnTo>
                    <a:lnTo>
                      <a:pt x="0" y="192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3" name="Freeform 13"/>
              <p:cNvSpPr/>
              <p:nvPr/>
            </p:nvSpPr>
            <p:spPr>
              <a:xfrm>
                <a:off x="1313259" y="1945481"/>
                <a:ext cx="19288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300038">
                    <a:moveTo>
                      <a:pt x="160734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267891"/>
                    </a:lnTo>
                    <a:cubicBezTo>
                      <a:pt x="0" y="285645"/>
                      <a:pt x="14393" y="300038"/>
                      <a:pt x="32147" y="300038"/>
                    </a:cubicBezTo>
                    <a:lnTo>
                      <a:pt x="160734" y="300038"/>
                    </a:lnTo>
                    <a:cubicBezTo>
                      <a:pt x="178489" y="300038"/>
                      <a:pt x="192881" y="285645"/>
                      <a:pt x="192881" y="267891"/>
                    </a:cubicBezTo>
                    <a:lnTo>
                      <a:pt x="192881" y="32147"/>
                    </a:lnTo>
                    <a:cubicBezTo>
                      <a:pt x="192881" y="14393"/>
                      <a:pt x="178489" y="0"/>
                      <a:pt x="160734" y="0"/>
                    </a:cubicBezTo>
                    <a:close/>
                    <a:moveTo>
                      <a:pt x="21431" y="64294"/>
                    </a:moveTo>
                    <a:lnTo>
                      <a:pt x="171450" y="64294"/>
                    </a:lnTo>
                    <a:lnTo>
                      <a:pt x="171450" y="235744"/>
                    </a:lnTo>
                    <a:lnTo>
                      <a:pt x="21431" y="235744"/>
                    </a:lnTo>
                    <a:close/>
                    <a:moveTo>
                      <a:pt x="32147" y="21431"/>
                    </a:moveTo>
                    <a:lnTo>
                      <a:pt x="160734" y="21431"/>
                    </a:lnTo>
                    <a:cubicBezTo>
                      <a:pt x="166652" y="21431"/>
                      <a:pt x="171450" y="26229"/>
                      <a:pt x="171450" y="32147"/>
                    </a:cubicBezTo>
                    <a:lnTo>
                      <a:pt x="171450" y="42862"/>
                    </a:lnTo>
                    <a:lnTo>
                      <a:pt x="21431" y="42862"/>
                    </a:lnTo>
                    <a:lnTo>
                      <a:pt x="21431" y="32147"/>
                    </a:lnTo>
                    <a:cubicBezTo>
                      <a:pt x="21431" y="26229"/>
                      <a:pt x="26229" y="21431"/>
                      <a:pt x="32147" y="21431"/>
                    </a:cubicBezTo>
                    <a:close/>
                    <a:moveTo>
                      <a:pt x="160734" y="278606"/>
                    </a:moveTo>
                    <a:lnTo>
                      <a:pt x="32147" y="278606"/>
                    </a:lnTo>
                    <a:cubicBezTo>
                      <a:pt x="26229" y="278606"/>
                      <a:pt x="21431" y="273809"/>
                      <a:pt x="21431" y="267891"/>
                    </a:cubicBezTo>
                    <a:lnTo>
                      <a:pt x="21431" y="257175"/>
                    </a:lnTo>
                    <a:lnTo>
                      <a:pt x="171450" y="257175"/>
                    </a:lnTo>
                    <a:lnTo>
                      <a:pt x="171450" y="267891"/>
                    </a:lnTo>
                    <a:cubicBezTo>
                      <a:pt x="171450" y="273809"/>
                      <a:pt x="166652" y="278606"/>
                      <a:pt x="160734" y="278606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5" name="TextBox 15"/>
            <p:cNvSpPr txBox="1"/>
            <p:nvPr/>
          </p:nvSpPr>
          <p:spPr>
            <a:xfrm>
              <a:off x="1937385" y="18468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首页推荐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946910" y="2251710"/>
              <a:ext cx="18067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打开即回答“今天吃什么”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49655" y="2730818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搜索、品类、地点和预算筛选一起服务推荐流，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卡片展示菜名、商家、评分、价格和理由。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6286500" y="1428750"/>
            <a:ext cx="5143500" cy="2095500"/>
            <a:chOff x="6286500" y="1428750"/>
            <a:chExt cx="5143500" cy="2095500"/>
          </a:xfrm>
        </p:grpSpPr>
        <p:sp>
          <p:nvSpPr>
            <p:cNvPr id="19" name="Rectangle 19"/>
            <p:cNvSpPr/>
            <p:nvPr/>
          </p:nvSpPr>
          <p:spPr>
            <a:xfrm>
              <a:off x="6286500" y="14287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10367829" y="15468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3A86FF">
                      <a:alphaMod val="12000"/>
                    </a:srgbClr>
                  </a:solidFill>
                  <a:latin typeface="Trebuchet MS"/>
                  <a:ea typeface="Microsoft YaHei"/>
                  <a:cs typeface="Trebuchet MS"/>
                </a:rPr>
                <a:t>02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6591300" y="17526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24" name="Group 24"/>
            <p:cNvGrpSpPr/>
            <p:nvPr/>
          </p:nvGrpSpPr>
          <p:grpSpPr>
            <a:xfrm>
              <a:off x="6816328" y="1945481"/>
              <a:ext cx="235744" cy="300681"/>
              <a:chOff x="6816328" y="1945481"/>
              <a:chExt cx="235744" cy="30068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6827044" y="1956197"/>
                <a:ext cx="214312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78606">
                    <a:moveTo>
                      <a:pt x="107156" y="0"/>
                    </a:moveTo>
                    <a:cubicBezTo>
                      <a:pt x="47975" y="0"/>
                      <a:pt x="0" y="47975"/>
                      <a:pt x="0" y="107156"/>
                    </a:cubicBezTo>
                    <a:cubicBezTo>
                      <a:pt x="0" y="203597"/>
                      <a:pt x="107156" y="278606"/>
                      <a:pt x="107156" y="278606"/>
                    </a:cubicBezTo>
                    <a:cubicBezTo>
                      <a:pt x="107156" y="278606"/>
                      <a:pt x="214312" y="203597"/>
                      <a:pt x="214312" y="107156"/>
                    </a:cubicBezTo>
                    <a:cubicBezTo>
                      <a:pt x="214312" y="47975"/>
                      <a:pt x="166337" y="0"/>
                      <a:pt x="107156" y="0"/>
                    </a:cubicBezTo>
                    <a:close/>
                    <a:moveTo>
                      <a:pt x="107156" y="150019"/>
                    </a:moveTo>
                    <a:cubicBezTo>
                      <a:pt x="83484" y="150019"/>
                      <a:pt x="64294" y="130829"/>
                      <a:pt x="64294" y="107156"/>
                    </a:cubicBezTo>
                    <a:cubicBezTo>
                      <a:pt x="64294" y="83484"/>
                      <a:pt x="83484" y="64294"/>
                      <a:pt x="107156" y="64294"/>
                    </a:cubicBezTo>
                    <a:cubicBezTo>
                      <a:pt x="130829" y="64294"/>
                      <a:pt x="150019" y="83484"/>
                      <a:pt x="150019" y="107156"/>
                    </a:cubicBezTo>
                    <a:cubicBezTo>
                      <a:pt x="150019" y="130829"/>
                      <a:pt x="130829" y="150019"/>
                      <a:pt x="107156" y="150019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3" name="Freeform 23"/>
              <p:cNvSpPr/>
              <p:nvPr/>
            </p:nvSpPr>
            <p:spPr>
              <a:xfrm>
                <a:off x="6816328" y="1945481"/>
                <a:ext cx="235744" cy="300681"/>
              </a:xfrm>
              <a:custGeom>
                <a:avLst/>
                <a:gdLst/>
                <a:ahLst/>
                <a:cxnLst/>
                <a:rect l="l" t="t" r="r" b="b"/>
                <a:pathLst>
                  <a:path w="235744" h="300681">
                    <a:moveTo>
                      <a:pt x="117872" y="64294"/>
                    </a:moveTo>
                    <a:cubicBezTo>
                      <a:pt x="88281" y="64294"/>
                      <a:pt x="64294" y="88281"/>
                      <a:pt x="64294" y="117872"/>
                    </a:cubicBezTo>
                    <a:cubicBezTo>
                      <a:pt x="64294" y="147462"/>
                      <a:pt x="88281" y="171450"/>
                      <a:pt x="117872" y="171450"/>
                    </a:cubicBezTo>
                    <a:cubicBezTo>
                      <a:pt x="147462" y="171450"/>
                      <a:pt x="171450" y="147462"/>
                      <a:pt x="171450" y="117872"/>
                    </a:cubicBezTo>
                    <a:cubicBezTo>
                      <a:pt x="171450" y="88281"/>
                      <a:pt x="147462" y="64294"/>
                      <a:pt x="117872" y="64294"/>
                    </a:cubicBezTo>
                    <a:close/>
                    <a:moveTo>
                      <a:pt x="117872" y="150019"/>
                    </a:moveTo>
                    <a:cubicBezTo>
                      <a:pt x="100118" y="150019"/>
                      <a:pt x="85725" y="135626"/>
                      <a:pt x="85725" y="117872"/>
                    </a:cubicBezTo>
                    <a:cubicBezTo>
                      <a:pt x="85725" y="100118"/>
                      <a:pt x="100118" y="85725"/>
                      <a:pt x="117872" y="85725"/>
                    </a:cubicBezTo>
                    <a:cubicBezTo>
                      <a:pt x="135626" y="85725"/>
                      <a:pt x="150019" y="100118"/>
                      <a:pt x="150019" y="117872"/>
                    </a:cubicBezTo>
                    <a:cubicBezTo>
                      <a:pt x="150019" y="135626"/>
                      <a:pt x="135626" y="150019"/>
                      <a:pt x="117872" y="150019"/>
                    </a:cubicBezTo>
                    <a:close/>
                    <a:moveTo>
                      <a:pt x="117872" y="0"/>
                    </a:moveTo>
                    <a:cubicBezTo>
                      <a:pt x="52804" y="74"/>
                      <a:pt x="74" y="52804"/>
                      <a:pt x="0" y="117872"/>
                    </a:cubicBezTo>
                    <a:cubicBezTo>
                      <a:pt x="0" y="159931"/>
                      <a:pt x="19435" y="204508"/>
                      <a:pt x="56257" y="246794"/>
                    </a:cubicBezTo>
                    <a:cubicBezTo>
                      <a:pt x="72802" y="265902"/>
                      <a:pt x="91424" y="283109"/>
                      <a:pt x="111777" y="298095"/>
                    </a:cubicBezTo>
                    <a:cubicBezTo>
                      <a:pt x="115468" y="300681"/>
                      <a:pt x="120383" y="300681"/>
                      <a:pt x="124074" y="298095"/>
                    </a:cubicBezTo>
                    <a:cubicBezTo>
                      <a:pt x="144390" y="283103"/>
                      <a:pt x="162975" y="265896"/>
                      <a:pt x="179487" y="246794"/>
                    </a:cubicBezTo>
                    <a:cubicBezTo>
                      <a:pt x="216255" y="204508"/>
                      <a:pt x="235744" y="159931"/>
                      <a:pt x="235744" y="117872"/>
                    </a:cubicBezTo>
                    <a:cubicBezTo>
                      <a:pt x="235670" y="52804"/>
                      <a:pt x="182940" y="74"/>
                      <a:pt x="117872" y="0"/>
                    </a:cubicBezTo>
                    <a:close/>
                    <a:moveTo>
                      <a:pt x="117872" y="275927"/>
                    </a:moveTo>
                    <a:cubicBezTo>
                      <a:pt x="95731" y="258514"/>
                      <a:pt x="21431" y="194556"/>
                      <a:pt x="21431" y="117872"/>
                    </a:cubicBezTo>
                    <a:cubicBezTo>
                      <a:pt x="21431" y="64609"/>
                      <a:pt x="64609" y="21431"/>
                      <a:pt x="117872" y="21431"/>
                    </a:cubicBezTo>
                    <a:cubicBezTo>
                      <a:pt x="171135" y="21431"/>
                      <a:pt x="214312" y="64609"/>
                      <a:pt x="214312" y="117872"/>
                    </a:cubicBezTo>
                    <a:cubicBezTo>
                      <a:pt x="214312" y="194529"/>
                      <a:pt x="140013" y="258514"/>
                      <a:pt x="117872" y="275927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5" name="TextBox 25"/>
            <p:cNvSpPr txBox="1"/>
            <p:nvPr/>
          </p:nvSpPr>
          <p:spPr>
            <a:xfrm>
              <a:off x="7461885" y="18468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地图发现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471410" y="2251710"/>
              <a:ext cx="179070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找得到、筛得动、可降级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6574155" y="2730818"/>
              <a:ext cx="3463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商家点位、收藏星标和聚合星标帮助学生理解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距离；无地图 Key 时仍保留示意地图语义。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762000" y="3905250"/>
            <a:ext cx="5143500" cy="2095500"/>
            <a:chOff x="762000" y="3905250"/>
            <a:chExt cx="5143500" cy="2095500"/>
          </a:xfrm>
        </p:grpSpPr>
        <p:sp>
          <p:nvSpPr>
            <p:cNvPr id="29" name="Rectangle 29"/>
            <p:cNvSpPr/>
            <p:nvPr/>
          </p:nvSpPr>
          <p:spPr>
            <a:xfrm>
              <a:off x="762000" y="39052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4843329" y="40233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FFB703">
                      <a:alphaMod val="18000"/>
                    </a:srgbClr>
                  </a:solidFill>
                  <a:latin typeface="Trebuchet MS"/>
                  <a:ea typeface="Microsoft YaHei"/>
                  <a:cs typeface="Trebuchet MS"/>
                </a:rPr>
                <a:t>03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1066800" y="42291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1263719" y="4432686"/>
              <a:ext cx="296719" cy="289522"/>
              <a:chOff x="1263719" y="4432686"/>
              <a:chExt cx="296719" cy="28952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1271318" y="4432707"/>
                <a:ext cx="266975" cy="273659"/>
              </a:xfrm>
              <a:custGeom>
                <a:avLst/>
                <a:gdLst/>
                <a:ahLst/>
                <a:cxnLst/>
                <a:rect l="l" t="t" r="r" b="b"/>
                <a:pathLst>
                  <a:path w="266975" h="273659">
                    <a:moveTo>
                      <a:pt x="266969" y="139293"/>
                    </a:moveTo>
                    <a:cubicBezTo>
                      <a:pt x="266975" y="185256"/>
                      <a:pt x="242448" y="227726"/>
                      <a:pt x="202635" y="250693"/>
                    </a:cubicBezTo>
                    <a:cubicBezTo>
                      <a:pt x="162823" y="273659"/>
                      <a:pt x="113779" y="273630"/>
                      <a:pt x="73994" y="250615"/>
                    </a:cubicBezTo>
                    <a:lnTo>
                      <a:pt x="73994" y="250615"/>
                    </a:lnTo>
                    <a:lnTo>
                      <a:pt x="23912" y="267318"/>
                    </a:lnTo>
                    <a:cubicBezTo>
                      <a:pt x="20061" y="268603"/>
                      <a:pt x="15815" y="267601"/>
                      <a:pt x="12945" y="264730"/>
                    </a:cubicBezTo>
                    <a:cubicBezTo>
                      <a:pt x="10074" y="261860"/>
                      <a:pt x="9072" y="257614"/>
                      <a:pt x="10357" y="253763"/>
                    </a:cubicBezTo>
                    <a:lnTo>
                      <a:pt x="27060" y="203681"/>
                    </a:lnTo>
                    <a:lnTo>
                      <a:pt x="27060" y="203681"/>
                    </a:lnTo>
                    <a:cubicBezTo>
                      <a:pt x="0" y="156876"/>
                      <a:pt x="5107" y="98144"/>
                      <a:pt x="39839" y="56713"/>
                    </a:cubicBezTo>
                    <a:cubicBezTo>
                      <a:pt x="74572" y="15281"/>
                      <a:pt x="131510" y="0"/>
                      <a:pt x="182320" y="18474"/>
                    </a:cubicBezTo>
                    <a:cubicBezTo>
                      <a:pt x="233130" y="36947"/>
                      <a:pt x="266957" y="85230"/>
                      <a:pt x="266969" y="139293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1263719" y="4432686"/>
                <a:ext cx="296719" cy="289522"/>
              </a:xfrm>
              <a:custGeom>
                <a:avLst/>
                <a:gdLst/>
                <a:ahLst/>
                <a:cxnLst/>
                <a:rect l="l" t="t" r="r" b="b"/>
                <a:pathLst>
                  <a:path w="296719" h="289522">
                    <a:moveTo>
                      <a:pt x="145981" y="11"/>
                    </a:moveTo>
                    <a:cubicBezTo>
                      <a:pt x="97061" y="0"/>
                      <a:pt x="51719" y="25652"/>
                      <a:pt x="26531" y="67590"/>
                    </a:cubicBezTo>
                    <a:cubicBezTo>
                      <a:pt x="1343" y="109528"/>
                      <a:pt x="0" y="161605"/>
                      <a:pt x="22993" y="204786"/>
                    </a:cubicBezTo>
                    <a:lnTo>
                      <a:pt x="7790" y="250395"/>
                    </a:lnTo>
                    <a:cubicBezTo>
                      <a:pt x="5222" y="258096"/>
                      <a:pt x="7226" y="266588"/>
                      <a:pt x="12966" y="272329"/>
                    </a:cubicBezTo>
                    <a:cubicBezTo>
                      <a:pt x="18707" y="278070"/>
                      <a:pt x="27199" y="280074"/>
                      <a:pt x="34901" y="277505"/>
                    </a:cubicBezTo>
                    <a:lnTo>
                      <a:pt x="80509" y="262302"/>
                    </a:lnTo>
                    <a:cubicBezTo>
                      <a:pt x="131685" y="289522"/>
                      <a:pt x="194369" y="282207"/>
                      <a:pt x="237902" y="243935"/>
                    </a:cubicBezTo>
                    <a:cubicBezTo>
                      <a:pt x="281435" y="205662"/>
                      <a:pt x="296719" y="144432"/>
                      <a:pt x="276279" y="90191"/>
                    </a:cubicBezTo>
                    <a:cubicBezTo>
                      <a:pt x="255839" y="35950"/>
                      <a:pt x="203946" y="34"/>
                      <a:pt x="145981" y="11"/>
                    </a:cubicBezTo>
                    <a:close/>
                    <a:moveTo>
                      <a:pt x="145981" y="257186"/>
                    </a:moveTo>
                    <a:cubicBezTo>
                      <a:pt x="125260" y="257200"/>
                      <a:pt x="104902" y="251743"/>
                      <a:pt x="86965" y="241367"/>
                    </a:cubicBezTo>
                    <a:cubicBezTo>
                      <a:pt x="84309" y="239826"/>
                      <a:pt x="81119" y="239499"/>
                      <a:pt x="78205" y="240469"/>
                    </a:cubicBezTo>
                    <a:lnTo>
                      <a:pt x="28110" y="257186"/>
                    </a:lnTo>
                    <a:lnTo>
                      <a:pt x="44813" y="207090"/>
                    </a:lnTo>
                    <a:cubicBezTo>
                      <a:pt x="45786" y="204178"/>
                      <a:pt x="45465" y="200989"/>
                      <a:pt x="43928" y="198330"/>
                    </a:cubicBezTo>
                    <a:cubicBezTo>
                      <a:pt x="17214" y="152143"/>
                      <a:pt x="24857" y="93771"/>
                      <a:pt x="62561" y="56018"/>
                    </a:cubicBezTo>
                    <a:cubicBezTo>
                      <a:pt x="100266" y="18266"/>
                      <a:pt x="158629" y="10550"/>
                      <a:pt x="204849" y="37206"/>
                    </a:cubicBezTo>
                    <a:cubicBezTo>
                      <a:pt x="251070" y="63862"/>
                      <a:pt x="273620" y="118242"/>
                      <a:pt x="259827" y="169785"/>
                    </a:cubicBezTo>
                    <a:cubicBezTo>
                      <a:pt x="246034" y="221328"/>
                      <a:pt x="199338" y="257177"/>
                      <a:pt x="145981" y="257186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1937385" y="432339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我也吃过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1946910" y="4728210"/>
              <a:ext cx="14706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体验回流成公共信息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9655" y="5207318"/>
              <a:ext cx="363474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评价入口独立存在；游客可以先写草稿，提交时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再登录，图片和审核状态都可追踪。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3905250"/>
            <a:ext cx="5143500" cy="2095500"/>
            <a:chOff x="6286500" y="3905250"/>
            <a:chExt cx="5143500" cy="2095500"/>
          </a:xfrm>
        </p:grpSpPr>
        <p:sp>
          <p:nvSpPr>
            <p:cNvPr id="39" name="Rectangle 39"/>
            <p:cNvSpPr/>
            <p:nvPr/>
          </p:nvSpPr>
          <p:spPr>
            <a:xfrm>
              <a:off x="6286500" y="3905250"/>
              <a:ext cx="5143500" cy="2095500"/>
            </a:xfrm>
            <a:prstGeom prst="roundRect">
              <a:avLst>
                <a:gd name="adj" fmla="val 109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10367829" y="4023360"/>
              <a:ext cx="753561" cy="8534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4200" b="1" dirty="0">
                  <a:solidFill>
                    <a:srgbClr val="1F8A70">
                      <a:alphaMod val="12000"/>
                    </a:srgbClr>
                  </a:solidFill>
                  <a:latin typeface="Trebuchet MS"/>
                  <a:ea typeface="Microsoft YaHei"/>
                  <a:cs typeface="Trebuchet MS"/>
                </a:rPr>
                <a:t>04</a:t>
              </a:r>
            </a:p>
          </p:txBody>
        </p:sp>
        <p:sp>
          <p:nvSpPr>
            <p:cNvPr id="41" name="Rectangle 41"/>
            <p:cNvSpPr/>
            <p:nvPr/>
          </p:nvSpPr>
          <p:spPr>
            <a:xfrm>
              <a:off x="6591300" y="4229100"/>
              <a:ext cx="685800" cy="685800"/>
            </a:xfrm>
            <a:prstGeom prst="roundRect">
              <a:avLst>
                <a:gd name="adj" fmla="val 2777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6794897" y="4454128"/>
              <a:ext cx="278606" cy="257175"/>
              <a:chOff x="6794897" y="4454128"/>
              <a:chExt cx="278606" cy="257175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6805612" y="4464844"/>
                <a:ext cx="257175" cy="139303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139303">
                    <a:moveTo>
                      <a:pt x="257175" y="21431"/>
                    </a:moveTo>
                    <a:lnTo>
                      <a:pt x="257175" y="139303"/>
                    </a:lnTo>
                    <a:lnTo>
                      <a:pt x="0" y="139303"/>
                    </a:lnTo>
                    <a:lnTo>
                      <a:pt x="0" y="21431"/>
                    </a:lnTo>
                    <a:cubicBezTo>
                      <a:pt x="0" y="9595"/>
                      <a:pt x="9595" y="0"/>
                      <a:pt x="21431" y="0"/>
                    </a:cubicBezTo>
                    <a:lnTo>
                      <a:pt x="235744" y="0"/>
                    </a:lnTo>
                    <a:cubicBezTo>
                      <a:pt x="247580" y="0"/>
                      <a:pt x="257175" y="9595"/>
                      <a:pt x="257175" y="21431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6794897" y="4454128"/>
                <a:ext cx="278606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57175">
                    <a:moveTo>
                      <a:pt x="246459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182166"/>
                    </a:lnTo>
                    <a:cubicBezTo>
                      <a:pt x="0" y="199920"/>
                      <a:pt x="14393" y="214312"/>
                      <a:pt x="32147" y="214312"/>
                    </a:cubicBezTo>
                    <a:lnTo>
                      <a:pt x="128588" y="214312"/>
                    </a:lnTo>
                    <a:lnTo>
                      <a:pt x="128588" y="235744"/>
                    </a:lnTo>
                    <a:lnTo>
                      <a:pt x="96441" y="235744"/>
                    </a:lnTo>
                    <a:cubicBezTo>
                      <a:pt x="90523" y="235744"/>
                      <a:pt x="85725" y="240541"/>
                      <a:pt x="85725" y="246459"/>
                    </a:cubicBezTo>
                    <a:cubicBezTo>
                      <a:pt x="85725" y="252377"/>
                      <a:pt x="90523" y="257175"/>
                      <a:pt x="96441" y="257175"/>
                    </a:cubicBezTo>
                    <a:lnTo>
                      <a:pt x="182166" y="257175"/>
                    </a:lnTo>
                    <a:cubicBezTo>
                      <a:pt x="188084" y="257175"/>
                      <a:pt x="192881" y="252377"/>
                      <a:pt x="192881" y="246459"/>
                    </a:cubicBezTo>
                    <a:cubicBezTo>
                      <a:pt x="192881" y="240541"/>
                      <a:pt x="188084" y="235744"/>
                      <a:pt x="182166" y="235744"/>
                    </a:cubicBezTo>
                    <a:lnTo>
                      <a:pt x="150019" y="235744"/>
                    </a:lnTo>
                    <a:lnTo>
                      <a:pt x="150019" y="214312"/>
                    </a:lnTo>
                    <a:lnTo>
                      <a:pt x="246459" y="214312"/>
                    </a:lnTo>
                    <a:cubicBezTo>
                      <a:pt x="264214" y="214312"/>
                      <a:pt x="278606" y="199920"/>
                      <a:pt x="278606" y="182166"/>
                    </a:cubicBezTo>
                    <a:lnTo>
                      <a:pt x="278606" y="32147"/>
                    </a:lnTo>
                    <a:cubicBezTo>
                      <a:pt x="278606" y="14393"/>
                      <a:pt x="264214" y="0"/>
                      <a:pt x="246459" y="0"/>
                    </a:cubicBezTo>
                    <a:close/>
                    <a:moveTo>
                      <a:pt x="32147" y="21431"/>
                    </a:moveTo>
                    <a:lnTo>
                      <a:pt x="246459" y="21431"/>
                    </a:lnTo>
                    <a:cubicBezTo>
                      <a:pt x="252377" y="21431"/>
                      <a:pt x="257175" y="26229"/>
                      <a:pt x="257175" y="32147"/>
                    </a:cubicBezTo>
                    <a:lnTo>
                      <a:pt x="257175" y="139303"/>
                    </a:lnTo>
                    <a:lnTo>
                      <a:pt x="21431" y="139303"/>
                    </a:lnTo>
                    <a:lnTo>
                      <a:pt x="21431" y="32147"/>
                    </a:lnTo>
                    <a:cubicBezTo>
                      <a:pt x="21431" y="26229"/>
                      <a:pt x="26229" y="21431"/>
                      <a:pt x="32147" y="21431"/>
                    </a:cubicBezTo>
                    <a:close/>
                    <a:moveTo>
                      <a:pt x="246459" y="192881"/>
                    </a:moveTo>
                    <a:lnTo>
                      <a:pt x="32147" y="192881"/>
                    </a:lnTo>
                    <a:cubicBezTo>
                      <a:pt x="26229" y="192881"/>
                      <a:pt x="21431" y="188084"/>
                      <a:pt x="21431" y="182166"/>
                    </a:cubicBezTo>
                    <a:lnTo>
                      <a:pt x="21431" y="160734"/>
                    </a:lnTo>
                    <a:lnTo>
                      <a:pt x="257175" y="160734"/>
                    </a:lnTo>
                    <a:lnTo>
                      <a:pt x="257175" y="182166"/>
                    </a:lnTo>
                    <a:cubicBezTo>
                      <a:pt x="257175" y="188084"/>
                      <a:pt x="252377" y="192881"/>
                      <a:pt x="246459" y="192881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7461885" y="4323398"/>
              <a:ext cx="868632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管理端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7471410" y="4728210"/>
              <a:ext cx="22707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商家、菜品、评价和审计可治理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6574155" y="5207318"/>
              <a:ext cx="3463290" cy="5600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25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独立端口与登录态支撑管理员维护数据、审核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评价、预校验 CSV，并留下审计日志。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76750" y="3200400"/>
            <a:ext cx="3238500" cy="457200"/>
            <a:chOff x="4476750" y="3200400"/>
            <a:chExt cx="3238500" cy="457200"/>
          </a:xfrm>
        </p:grpSpPr>
        <p:sp>
          <p:nvSpPr>
            <p:cNvPr id="49" name="Rectangle 49"/>
            <p:cNvSpPr/>
            <p:nvPr/>
          </p:nvSpPr>
          <p:spPr>
            <a:xfrm>
              <a:off x="4476750" y="3200400"/>
              <a:ext cx="3238500" cy="45720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4824411" y="3336131"/>
              <a:ext cx="123828" cy="201221"/>
              <a:chOff x="4824411" y="3336131"/>
              <a:chExt cx="123828" cy="201221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4855368" y="3498651"/>
                <a:ext cx="61912" cy="30956"/>
              </a:xfrm>
              <a:custGeom>
                <a:avLst/>
                <a:gdLst/>
                <a:ahLst/>
                <a:cxnLst/>
                <a:rect l="l" t="t" r="r" b="b"/>
                <a:pathLst>
                  <a:path w="61912" h="30956">
                    <a:moveTo>
                      <a:pt x="61912" y="0"/>
                    </a:moveTo>
                    <a:lnTo>
                      <a:pt x="30956" y="30956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4824411" y="3336131"/>
                <a:ext cx="123828" cy="201221"/>
              </a:xfrm>
              <a:custGeom>
                <a:avLst/>
                <a:gdLst/>
                <a:ahLst/>
                <a:cxnLst/>
                <a:rect l="l" t="t" r="r" b="b"/>
                <a:pathLst>
                  <a:path w="123828" h="201221">
                    <a:moveTo>
                      <a:pt x="116087" y="0"/>
                    </a:moveTo>
                    <a:cubicBezTo>
                      <a:pt x="111813" y="0"/>
                      <a:pt x="108348" y="3465"/>
                      <a:pt x="108348" y="7739"/>
                    </a:cubicBezTo>
                    <a:lnTo>
                      <a:pt x="108348" y="66449"/>
                    </a:lnTo>
                    <a:lnTo>
                      <a:pt x="61914" y="112883"/>
                    </a:lnTo>
                    <a:lnTo>
                      <a:pt x="15480" y="66449"/>
                    </a:lnTo>
                    <a:lnTo>
                      <a:pt x="15480" y="7739"/>
                    </a:lnTo>
                    <a:cubicBezTo>
                      <a:pt x="15480" y="3465"/>
                      <a:pt x="12015" y="0"/>
                      <a:pt x="7741" y="0"/>
                    </a:cubicBezTo>
                    <a:cubicBezTo>
                      <a:pt x="3466" y="0"/>
                      <a:pt x="2" y="3465"/>
                      <a:pt x="2" y="7739"/>
                    </a:cubicBezTo>
                    <a:lnTo>
                      <a:pt x="2" y="69651"/>
                    </a:lnTo>
                    <a:cubicBezTo>
                      <a:pt x="0" y="71704"/>
                      <a:pt x="814" y="73674"/>
                      <a:pt x="2265" y="75127"/>
                    </a:cubicBezTo>
                    <a:lnTo>
                      <a:pt x="54175" y="127026"/>
                    </a:lnTo>
                    <a:lnTo>
                      <a:pt x="54175" y="154780"/>
                    </a:lnTo>
                    <a:lnTo>
                      <a:pt x="30958" y="154780"/>
                    </a:lnTo>
                    <a:cubicBezTo>
                      <a:pt x="27826" y="154778"/>
                      <a:pt x="25001" y="156664"/>
                      <a:pt x="23802" y="159557"/>
                    </a:cubicBezTo>
                    <a:cubicBezTo>
                      <a:pt x="22603" y="162451"/>
                      <a:pt x="23266" y="165781"/>
                      <a:pt x="25482" y="167995"/>
                    </a:cubicBezTo>
                    <a:lnTo>
                      <a:pt x="56438" y="198951"/>
                    </a:lnTo>
                    <a:cubicBezTo>
                      <a:pt x="57890" y="200404"/>
                      <a:pt x="59860" y="201221"/>
                      <a:pt x="61914" y="201221"/>
                    </a:cubicBezTo>
                    <a:cubicBezTo>
                      <a:pt x="63968" y="201221"/>
                      <a:pt x="65938" y="200404"/>
                      <a:pt x="67389" y="198951"/>
                    </a:cubicBezTo>
                    <a:lnTo>
                      <a:pt x="98345" y="167995"/>
                    </a:lnTo>
                    <a:cubicBezTo>
                      <a:pt x="100561" y="165781"/>
                      <a:pt x="101224" y="162451"/>
                      <a:pt x="100026" y="159557"/>
                    </a:cubicBezTo>
                    <a:cubicBezTo>
                      <a:pt x="98827" y="156664"/>
                      <a:pt x="96002" y="154778"/>
                      <a:pt x="92870" y="154780"/>
                    </a:cubicBezTo>
                    <a:lnTo>
                      <a:pt x="69653" y="154780"/>
                    </a:lnTo>
                    <a:lnTo>
                      <a:pt x="69653" y="127026"/>
                    </a:lnTo>
                    <a:lnTo>
                      <a:pt x="121562" y="75127"/>
                    </a:lnTo>
                    <a:cubicBezTo>
                      <a:pt x="123013" y="73674"/>
                      <a:pt x="123828" y="71704"/>
                      <a:pt x="123826" y="69651"/>
                    </a:cubicBezTo>
                    <a:lnTo>
                      <a:pt x="123826" y="7739"/>
                    </a:lnTo>
                    <a:cubicBezTo>
                      <a:pt x="123826" y="3465"/>
                      <a:pt x="120361" y="0"/>
                      <a:pt x="116087" y="0"/>
                    </a:cubicBezTo>
                    <a:close/>
                    <a:moveTo>
                      <a:pt x="61914" y="182535"/>
                    </a:moveTo>
                    <a:lnTo>
                      <a:pt x="49638" y="170259"/>
                    </a:lnTo>
                    <a:lnTo>
                      <a:pt x="74190" y="17025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4996695" y="3349942"/>
              <a:ext cx="219861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推荐 → 决策 → 评价 → 治理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00050" y="1123950"/>
              <a:ext cx="4762500" cy="5219700"/>
            </a:xfrm>
            <a:prstGeom prst="roundRect">
              <a:avLst>
                <a:gd name="adj" fmla="val 64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562350" y="647700"/>
              <a:ext cx="1676400" cy="1676400"/>
            </a:xfrm>
            <a:prstGeom prst="ellipse">
              <a:avLst/>
            </a:prstGeom>
            <a:solidFill>
              <a:srgbClr val="FFB703">
                <a:alpha val="18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644515" y="505778"/>
            <a:ext cx="6024562" cy="727710"/>
            <a:chOff x="5644515" y="505778"/>
            <a:chExt cx="6024562" cy="727710"/>
          </a:xfrm>
        </p:grpSpPr>
        <p:sp>
          <p:nvSpPr>
            <p:cNvPr id="6" name="TextBox 6"/>
            <p:cNvSpPr txBox="1"/>
            <p:nvPr/>
          </p:nvSpPr>
          <p:spPr>
            <a:xfrm>
              <a:off x="5644515" y="505778"/>
              <a:ext cx="327817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首页只服务一个问题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659755" y="959168"/>
              <a:ext cx="4381833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用户打开首页时，系统应当帮助他快速决定吃什么。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06 / 16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1619250" y="990600"/>
            <a:ext cx="2362200" cy="4953000"/>
            <a:chOff x="1619250" y="990600"/>
            <a:chExt cx="2362200" cy="4953000"/>
          </a:xfrm>
        </p:grpSpPr>
        <p:sp>
          <p:nvSpPr>
            <p:cNvPr id="10" name="Rectangle 10"/>
            <p:cNvSpPr/>
            <p:nvPr/>
          </p:nvSpPr>
          <p:spPr>
            <a:xfrm>
              <a:off x="1619250" y="990600"/>
              <a:ext cx="2362200" cy="4953000"/>
            </a:xfrm>
            <a:prstGeom prst="roundRect">
              <a:avLst>
                <a:gd name="adj" fmla="val 16935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790700" y="1200150"/>
              <a:ext cx="2019300" cy="4533900"/>
            </a:xfrm>
            <a:prstGeom prst="roundRect">
              <a:avLst>
                <a:gd name="adj" fmla="val 14151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2409825" y="1352550"/>
              <a:ext cx="781050" cy="66675"/>
            </a:xfrm>
            <a:prstGeom prst="roundRect">
              <a:avLst>
                <a:gd name="adj" fmla="val 50000"/>
              </a:avLst>
            </a:prstGeom>
            <a:solidFill>
              <a:srgbClr val="74807C"/>
            </a:solidFill>
            <a:ln>
              <a:noFill/>
            </a:ln>
          </p:spPr>
        </p:sp>
        <p:sp>
          <p:nvSpPr>
            <p:cNvPr id="13" name="Ellipse 13"/>
            <p:cNvSpPr/>
            <p:nvPr/>
          </p:nvSpPr>
          <p:spPr>
            <a:xfrm>
              <a:off x="1876425" y="1504950"/>
              <a:ext cx="342900" cy="3429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6" name="Group 16"/>
            <p:cNvGrpSpPr/>
            <p:nvPr/>
          </p:nvGrpSpPr>
          <p:grpSpPr>
            <a:xfrm>
              <a:off x="1955006" y="1583409"/>
              <a:ext cx="185739" cy="179604"/>
              <a:chOff x="1955006" y="1583409"/>
              <a:chExt cx="185739" cy="179604"/>
            </a:xfrm>
          </p:grpSpPr>
          <p:sp>
            <p:nvSpPr>
              <p:cNvPr id="14" name="Freeform 14"/>
              <p:cNvSpPr/>
              <p:nvPr/>
            </p:nvSpPr>
            <p:spPr>
              <a:xfrm>
                <a:off x="1962150" y="1590675"/>
                <a:ext cx="171450" cy="571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57150">
                    <a:moveTo>
                      <a:pt x="171450" y="28575"/>
                    </a:moveTo>
                    <a:lnTo>
                      <a:pt x="85725" y="57150"/>
                    </a:lnTo>
                    <a:lnTo>
                      <a:pt x="0" y="28575"/>
                    </a:lnTo>
                    <a:lnTo>
                      <a:pt x="85725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5" name="Freeform 15"/>
              <p:cNvSpPr/>
              <p:nvPr/>
            </p:nvSpPr>
            <p:spPr>
              <a:xfrm>
                <a:off x="1955006" y="1583409"/>
                <a:ext cx="185739" cy="179604"/>
              </a:xfrm>
              <a:custGeom>
                <a:avLst/>
                <a:gdLst/>
                <a:ahLst/>
                <a:cxnLst/>
                <a:rect l="l" t="t" r="r" b="b"/>
                <a:pathLst>
                  <a:path w="185739" h="179604">
                    <a:moveTo>
                      <a:pt x="180853" y="29064"/>
                    </a:moveTo>
                    <a:lnTo>
                      <a:pt x="95128" y="489"/>
                    </a:lnTo>
                    <a:cubicBezTo>
                      <a:pt x="93662" y="0"/>
                      <a:pt x="92076" y="0"/>
                      <a:pt x="90610" y="489"/>
                    </a:cubicBezTo>
                    <a:lnTo>
                      <a:pt x="4885" y="29064"/>
                    </a:lnTo>
                    <a:cubicBezTo>
                      <a:pt x="2237" y="29957"/>
                      <a:pt x="353" y="32312"/>
                      <a:pt x="63" y="35091"/>
                    </a:cubicBezTo>
                    <a:cubicBezTo>
                      <a:pt x="21" y="35339"/>
                      <a:pt x="0" y="35590"/>
                      <a:pt x="0" y="35841"/>
                    </a:cubicBezTo>
                    <a:lnTo>
                      <a:pt x="0" y="107279"/>
                    </a:lnTo>
                    <a:cubicBezTo>
                      <a:pt x="0" y="111224"/>
                      <a:pt x="3199" y="114423"/>
                      <a:pt x="7144" y="114423"/>
                    </a:cubicBezTo>
                    <a:cubicBezTo>
                      <a:pt x="11089" y="114423"/>
                      <a:pt x="14288" y="111224"/>
                      <a:pt x="14288" y="107279"/>
                    </a:cubicBezTo>
                    <a:lnTo>
                      <a:pt x="14288" y="45753"/>
                    </a:lnTo>
                    <a:lnTo>
                      <a:pt x="44283" y="55746"/>
                    </a:lnTo>
                    <a:cubicBezTo>
                      <a:pt x="27689" y="82554"/>
                      <a:pt x="35940" y="117736"/>
                      <a:pt x="62722" y="134372"/>
                    </a:cubicBezTo>
                    <a:cubicBezTo>
                      <a:pt x="46649" y="140676"/>
                      <a:pt x="32754" y="152079"/>
                      <a:pt x="22592" y="167670"/>
                    </a:cubicBezTo>
                    <a:cubicBezTo>
                      <a:pt x="21154" y="169808"/>
                      <a:pt x="20978" y="172555"/>
                      <a:pt x="22133" y="174858"/>
                    </a:cubicBezTo>
                    <a:cubicBezTo>
                      <a:pt x="23287" y="177162"/>
                      <a:pt x="25592" y="178666"/>
                      <a:pt x="28165" y="178793"/>
                    </a:cubicBezTo>
                    <a:cubicBezTo>
                      <a:pt x="30739" y="178921"/>
                      <a:pt x="33182" y="177653"/>
                      <a:pt x="34558" y="175475"/>
                    </a:cubicBezTo>
                    <a:cubicBezTo>
                      <a:pt x="48015" y="154830"/>
                      <a:pt x="69268" y="142998"/>
                      <a:pt x="92869" y="142998"/>
                    </a:cubicBezTo>
                    <a:cubicBezTo>
                      <a:pt x="116470" y="142998"/>
                      <a:pt x="137723" y="154830"/>
                      <a:pt x="151180" y="175475"/>
                    </a:cubicBezTo>
                    <a:cubicBezTo>
                      <a:pt x="153360" y="178715"/>
                      <a:pt x="157738" y="179604"/>
                      <a:pt x="161010" y="177471"/>
                    </a:cubicBezTo>
                    <a:cubicBezTo>
                      <a:pt x="164281" y="175337"/>
                      <a:pt x="165232" y="170972"/>
                      <a:pt x="163146" y="167670"/>
                    </a:cubicBezTo>
                    <a:cubicBezTo>
                      <a:pt x="152984" y="152079"/>
                      <a:pt x="139036" y="140676"/>
                      <a:pt x="123016" y="134372"/>
                    </a:cubicBezTo>
                    <a:cubicBezTo>
                      <a:pt x="149771" y="117738"/>
                      <a:pt x="158019" y="82589"/>
                      <a:pt x="141455" y="55790"/>
                    </a:cubicBezTo>
                    <a:lnTo>
                      <a:pt x="180853" y="42664"/>
                    </a:lnTo>
                    <a:cubicBezTo>
                      <a:pt x="183771" y="41692"/>
                      <a:pt x="185739" y="38962"/>
                      <a:pt x="185739" y="35886"/>
                    </a:cubicBezTo>
                    <a:cubicBezTo>
                      <a:pt x="185739" y="32811"/>
                      <a:pt x="183771" y="30080"/>
                      <a:pt x="180853" y="29109"/>
                    </a:cubicBezTo>
                    <a:close/>
                    <a:moveTo>
                      <a:pt x="135732" y="85848"/>
                    </a:moveTo>
                    <a:cubicBezTo>
                      <a:pt x="135737" y="104452"/>
                      <a:pt x="123740" y="120936"/>
                      <a:pt x="106034" y="126650"/>
                    </a:cubicBezTo>
                    <a:cubicBezTo>
                      <a:pt x="88329" y="132365"/>
                      <a:pt x="68959" y="126005"/>
                      <a:pt x="58087" y="110908"/>
                    </a:cubicBezTo>
                    <a:cubicBezTo>
                      <a:pt x="47215" y="95810"/>
                      <a:pt x="47323" y="75423"/>
                      <a:pt x="58356" y="60443"/>
                    </a:cubicBezTo>
                    <a:lnTo>
                      <a:pt x="90610" y="71158"/>
                    </a:lnTo>
                    <a:cubicBezTo>
                      <a:pt x="92076" y="71647"/>
                      <a:pt x="93662" y="71647"/>
                      <a:pt x="95128" y="71158"/>
                    </a:cubicBezTo>
                    <a:lnTo>
                      <a:pt x="127382" y="60443"/>
                    </a:lnTo>
                    <a:cubicBezTo>
                      <a:pt x="132810" y="67801"/>
                      <a:pt x="135736" y="76705"/>
                      <a:pt x="135732" y="85848"/>
                    </a:cubicBezTo>
                    <a:close/>
                    <a:moveTo>
                      <a:pt x="92869" y="56889"/>
                    </a:moveTo>
                    <a:lnTo>
                      <a:pt x="29736" y="35841"/>
                    </a:lnTo>
                    <a:lnTo>
                      <a:pt x="92869" y="14794"/>
                    </a:lnTo>
                    <a:lnTo>
                      <a:pt x="156002" y="35841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7" name="TextBox 17"/>
            <p:cNvSpPr txBox="1"/>
            <p:nvPr/>
          </p:nvSpPr>
          <p:spPr>
            <a:xfrm>
              <a:off x="2330768" y="1609249"/>
              <a:ext cx="1526453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中午好，今天吃点什么？</a:t>
              </a:r>
            </a:p>
          </p:txBody>
        </p:sp>
        <p:sp>
          <p:nvSpPr>
            <p:cNvPr id="18" name="Rectangle 18"/>
            <p:cNvSpPr/>
            <p:nvPr/>
          </p:nvSpPr>
          <p:spPr>
            <a:xfrm>
              <a:off x="2000250" y="1962150"/>
              <a:ext cx="1600200" cy="3048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2199322" y="2073116"/>
              <a:ext cx="1121092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搜索菜品、商家、地点</a:t>
              </a:r>
            </a:p>
          </p:txBody>
        </p:sp>
        <p:grpSp>
          <p:nvGrpSpPr>
            <p:cNvPr id="26" name="Group 26"/>
            <p:cNvGrpSpPr/>
            <p:nvPr/>
          </p:nvGrpSpPr>
          <p:grpSpPr>
            <a:xfrm>
              <a:off x="2000250" y="2438400"/>
              <a:ext cx="1600200" cy="228600"/>
              <a:chOff x="2000250" y="2438400"/>
              <a:chExt cx="1600200" cy="228600"/>
            </a:xfrm>
          </p:grpSpPr>
          <p:sp>
            <p:nvSpPr>
              <p:cNvPr id="20" name="Rectangle 20"/>
              <p:cNvSpPr/>
              <p:nvPr/>
            </p:nvSpPr>
            <p:spPr>
              <a:xfrm>
                <a:off x="2000250" y="2438400"/>
                <a:ext cx="45720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1F8A70"/>
              </a:solidFill>
              <a:ln>
                <a:noFill/>
              </a:ln>
            </p:spPr>
          </p:sp>
          <p:sp>
            <p:nvSpPr>
              <p:cNvPr id="21" name="TextBox 21"/>
              <p:cNvSpPr txBox="1"/>
              <p:nvPr/>
            </p:nvSpPr>
            <p:spPr>
              <a:xfrm>
                <a:off x="2114312" y="2509838"/>
                <a:ext cx="229076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微辣</a:t>
                </a:r>
              </a:p>
            </p:txBody>
          </p:sp>
          <p:sp>
            <p:nvSpPr>
              <p:cNvPr id="22" name="Rectangle 22"/>
              <p:cNvSpPr/>
              <p:nvPr/>
            </p:nvSpPr>
            <p:spPr>
              <a:xfrm>
                <a:off x="2533650" y="2438400"/>
                <a:ext cx="5524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2645331" y="2509838"/>
                <a:ext cx="329089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20元内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3162300" y="2438400"/>
                <a:ext cx="4381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3221831" y="2509838"/>
                <a:ext cx="31908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750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图书馆</a:t>
                </a:r>
              </a:p>
            </p:txBody>
          </p:sp>
        </p:grpSp>
        <p:grpSp>
          <p:nvGrpSpPr>
            <p:cNvPr id="36" name="Group 36"/>
            <p:cNvGrpSpPr/>
            <p:nvPr/>
          </p:nvGrpSpPr>
          <p:grpSpPr>
            <a:xfrm>
              <a:off x="2000250" y="2895600"/>
              <a:ext cx="1669733" cy="1428750"/>
              <a:chOff x="2000250" y="2895600"/>
              <a:chExt cx="1669733" cy="1428750"/>
            </a:xfrm>
          </p:grpSpPr>
          <p:sp>
            <p:nvSpPr>
              <p:cNvPr id="27" name="Rectangle 27"/>
              <p:cNvSpPr/>
              <p:nvPr/>
            </p:nvSpPr>
            <p:spPr>
              <a:xfrm>
                <a:off x="2000250" y="2895600"/>
                <a:ext cx="1600200" cy="1428750"/>
              </a:xfrm>
              <a:prstGeom prst="roundRect">
                <a:avLst>
                  <a:gd name="adj" fmla="val 13333"/>
                </a:avLst>
              </a:prstGeom>
              <a:solidFill>
                <a:srgbClr val="FBFFF7"/>
              </a:solidFill>
              <a:ln w="11430">
                <a:solidFill>
                  <a:srgbClr val="BFD9CC"/>
                </a:solidFill>
              </a:ln>
            </p:spPr>
          </p:sp>
          <p:sp>
            <p:nvSpPr>
              <p:cNvPr id="28" name="Rectangle 28"/>
              <p:cNvSpPr/>
              <p:nvPr/>
            </p:nvSpPr>
            <p:spPr>
              <a:xfrm>
                <a:off x="2152650" y="3067050"/>
                <a:ext cx="514350" cy="514350"/>
              </a:xfrm>
              <a:prstGeom prst="roundRect">
                <a:avLst>
                  <a:gd name="adj" fmla="val 29630"/>
                </a:avLst>
              </a:prstGeom>
              <a:solidFill>
                <a:srgbClr val="FFB703">
                  <a:alpha val="24000"/>
                </a:srgbClr>
              </a:solidFill>
              <a:ln>
                <a:noFill/>
              </a:ln>
            </p:spPr>
          </p:sp>
          <p:grpSp>
            <p:nvGrpSpPr>
              <p:cNvPr id="31" name="Group 31"/>
              <p:cNvGrpSpPr/>
              <p:nvPr/>
            </p:nvGrpSpPr>
            <p:grpSpPr>
              <a:xfrm>
                <a:off x="2309217" y="3223676"/>
                <a:ext cx="201215" cy="193416"/>
                <a:chOff x="2309217" y="3223676"/>
                <a:chExt cx="201215" cy="193416"/>
              </a:xfrm>
            </p:grpSpPr>
            <p:sp>
              <p:nvSpPr>
                <p:cNvPr id="29" name="Freeform 29"/>
                <p:cNvSpPr/>
                <p:nvPr/>
              </p:nvSpPr>
              <p:spPr>
                <a:xfrm>
                  <a:off x="2316945" y="3308746"/>
                  <a:ext cx="185760" cy="1006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5760" h="100607">
                      <a:moveTo>
                        <a:pt x="185748" y="0"/>
                      </a:moveTo>
                      <a:cubicBezTo>
                        <a:pt x="185760" y="36322"/>
                        <a:pt x="164594" y="69318"/>
                        <a:pt x="131575" y="84452"/>
                      </a:cubicBezTo>
                      <a:lnTo>
                        <a:pt x="131575" y="92868"/>
                      </a:lnTo>
                      <a:cubicBezTo>
                        <a:pt x="131575" y="97142"/>
                        <a:pt x="128110" y="100607"/>
                        <a:pt x="123836" y="100607"/>
                      </a:cubicBezTo>
                      <a:lnTo>
                        <a:pt x="61924" y="100607"/>
                      </a:lnTo>
                      <a:cubicBezTo>
                        <a:pt x="57650" y="100607"/>
                        <a:pt x="54185" y="97142"/>
                        <a:pt x="54185" y="92868"/>
                      </a:cubicBezTo>
                      <a:lnTo>
                        <a:pt x="54185" y="84452"/>
                      </a:lnTo>
                      <a:cubicBezTo>
                        <a:pt x="21165" y="69318"/>
                        <a:pt x="0" y="36322"/>
                        <a:pt x="11" y="0"/>
                      </a:cubicBezTo>
                      <a:close/>
                    </a:path>
                  </a:pathLst>
                </a:custGeom>
                <a:solidFill>
                  <a:srgbClr val="FFB70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30" name="Freeform 30"/>
                <p:cNvSpPr/>
                <p:nvPr/>
              </p:nvSpPr>
              <p:spPr>
                <a:xfrm>
                  <a:off x="2309217" y="3223676"/>
                  <a:ext cx="201215" cy="19341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1215" h="193416">
                      <a:moveTo>
                        <a:pt x="193476" y="77331"/>
                      </a:moveTo>
                      <a:lnTo>
                        <a:pt x="185379" y="77331"/>
                      </a:lnTo>
                      <a:cubicBezTo>
                        <a:pt x="181349" y="33522"/>
                        <a:pt x="144601" y="0"/>
                        <a:pt x="100607" y="0"/>
                      </a:cubicBezTo>
                      <a:cubicBezTo>
                        <a:pt x="56613" y="0"/>
                        <a:pt x="19866" y="33522"/>
                        <a:pt x="15836" y="77331"/>
                      </a:cubicBezTo>
                      <a:lnTo>
                        <a:pt x="7739" y="77331"/>
                      </a:lnTo>
                      <a:cubicBezTo>
                        <a:pt x="3465" y="77331"/>
                        <a:pt x="0" y="80796"/>
                        <a:pt x="0" y="85070"/>
                      </a:cubicBezTo>
                      <a:cubicBezTo>
                        <a:pt x="69" y="122581"/>
                        <a:pt x="20932" y="156959"/>
                        <a:pt x="54173" y="174340"/>
                      </a:cubicBezTo>
                      <a:lnTo>
                        <a:pt x="54173" y="177938"/>
                      </a:lnTo>
                      <a:cubicBezTo>
                        <a:pt x="54173" y="186487"/>
                        <a:pt x="61103" y="193416"/>
                        <a:pt x="69651" y="193416"/>
                      </a:cubicBezTo>
                      <a:lnTo>
                        <a:pt x="131563" y="193416"/>
                      </a:lnTo>
                      <a:cubicBezTo>
                        <a:pt x="140112" y="193416"/>
                        <a:pt x="147041" y="186487"/>
                        <a:pt x="147041" y="177938"/>
                      </a:cubicBezTo>
                      <a:lnTo>
                        <a:pt x="147041" y="174340"/>
                      </a:lnTo>
                      <a:cubicBezTo>
                        <a:pt x="180283" y="156959"/>
                        <a:pt x="201145" y="122581"/>
                        <a:pt x="201215" y="85070"/>
                      </a:cubicBezTo>
                      <a:cubicBezTo>
                        <a:pt x="201215" y="80796"/>
                        <a:pt x="197750" y="77331"/>
                        <a:pt x="193476" y="77331"/>
                      </a:cubicBezTo>
                      <a:close/>
                      <a:moveTo>
                        <a:pt x="144604" y="31119"/>
                      </a:moveTo>
                      <a:cubicBezTo>
                        <a:pt x="146377" y="32570"/>
                        <a:pt x="148077" y="34102"/>
                        <a:pt x="149702" y="35714"/>
                      </a:cubicBezTo>
                      <a:cubicBezTo>
                        <a:pt x="129100" y="42962"/>
                        <a:pt x="112076" y="57856"/>
                        <a:pt x="102155" y="77312"/>
                      </a:cubicBezTo>
                      <a:lnTo>
                        <a:pt x="73617" y="77312"/>
                      </a:lnTo>
                      <a:cubicBezTo>
                        <a:pt x="83528" y="49532"/>
                        <a:pt x="109808" y="30962"/>
                        <a:pt x="139302" y="30897"/>
                      </a:cubicBezTo>
                      <a:cubicBezTo>
                        <a:pt x="141073" y="30897"/>
                        <a:pt x="142843" y="30984"/>
                        <a:pt x="144604" y="31119"/>
                      </a:cubicBezTo>
                      <a:close/>
                      <a:moveTo>
                        <a:pt x="159995" y="48726"/>
                      </a:moveTo>
                      <a:cubicBezTo>
                        <a:pt x="165339" y="57419"/>
                        <a:pt x="168692" y="67188"/>
                        <a:pt x="169814" y="77331"/>
                      </a:cubicBezTo>
                      <a:lnTo>
                        <a:pt x="120071" y="77331"/>
                      </a:lnTo>
                      <a:cubicBezTo>
                        <a:pt x="129454" y="63255"/>
                        <a:pt x="143649" y="53084"/>
                        <a:pt x="159995" y="48726"/>
                      </a:cubicBezTo>
                      <a:close/>
                      <a:moveTo>
                        <a:pt x="100607" y="15419"/>
                      </a:moveTo>
                      <a:cubicBezTo>
                        <a:pt x="106818" y="15423"/>
                        <a:pt x="112999" y="16259"/>
                        <a:pt x="118988" y="17905"/>
                      </a:cubicBezTo>
                      <a:cubicBezTo>
                        <a:pt x="89304" y="25268"/>
                        <a:pt x="65816" y="47930"/>
                        <a:pt x="57395" y="77331"/>
                      </a:cubicBezTo>
                      <a:lnTo>
                        <a:pt x="31401" y="77331"/>
                      </a:lnTo>
                      <a:cubicBezTo>
                        <a:pt x="35375" y="42101"/>
                        <a:pt x="65153" y="15461"/>
                        <a:pt x="100607" y="15419"/>
                      </a:cubicBezTo>
                      <a:close/>
                      <a:moveTo>
                        <a:pt x="136071" y="162460"/>
                      </a:moveTo>
                      <a:cubicBezTo>
                        <a:pt x="133314" y="163727"/>
                        <a:pt x="131552" y="166488"/>
                        <a:pt x="131563" y="169522"/>
                      </a:cubicBezTo>
                      <a:lnTo>
                        <a:pt x="131563" y="177938"/>
                      </a:lnTo>
                      <a:lnTo>
                        <a:pt x="69651" y="177938"/>
                      </a:lnTo>
                      <a:lnTo>
                        <a:pt x="69651" y="169522"/>
                      </a:lnTo>
                      <a:cubicBezTo>
                        <a:pt x="69663" y="166488"/>
                        <a:pt x="67900" y="163727"/>
                        <a:pt x="65143" y="162460"/>
                      </a:cubicBezTo>
                      <a:cubicBezTo>
                        <a:pt x="37444" y="149714"/>
                        <a:pt x="18641" y="123168"/>
                        <a:pt x="15807" y="92809"/>
                      </a:cubicBezTo>
                      <a:lnTo>
                        <a:pt x="185379" y="92809"/>
                      </a:lnTo>
                      <a:cubicBezTo>
                        <a:pt x="182550" y="123162"/>
                        <a:pt x="163759" y="149706"/>
                        <a:pt x="136071" y="162460"/>
                      </a:cubicBezTo>
                      <a:close/>
                    </a:path>
                  </a:pathLst>
                </a:custGeom>
                <a:solidFill>
                  <a:srgbClr val="FFB703"/>
                </a:solidFill>
                <a:ln>
                  <a:noFill/>
                </a:ln>
              </p:spPr>
            </p:sp>
          </p:grpSp>
          <p:sp>
            <p:nvSpPr>
              <p:cNvPr id="32" name="TextBox 32"/>
              <p:cNvSpPr txBox="1"/>
              <p:nvPr/>
            </p:nvSpPr>
            <p:spPr>
              <a:xfrm>
                <a:off x="2787968" y="3152299"/>
                <a:ext cx="843867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藤椒鸡双拼饭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2790825" y="3367088"/>
                <a:ext cx="879158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二食堂 · 4.7 · ¥18</a:t>
                </a:r>
              </a:p>
            </p:txBody>
          </p:sp>
          <p:sp>
            <p:nvSpPr>
              <p:cNvPr id="34" name="Rectangle 34"/>
              <p:cNvSpPr/>
              <p:nvPr/>
            </p:nvSpPr>
            <p:spPr>
              <a:xfrm>
                <a:off x="2152650" y="3733800"/>
                <a:ext cx="1295400" cy="323850"/>
              </a:xfrm>
              <a:prstGeom prst="roundRect">
                <a:avLst>
                  <a:gd name="adj" fmla="val 35294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35" name="TextBox 35"/>
              <p:cNvSpPr txBox="1"/>
              <p:nvPr/>
            </p:nvSpPr>
            <p:spPr>
              <a:xfrm>
                <a:off x="2257425" y="3852862"/>
                <a:ext cx="859155" cy="1524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750" b="1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匹配你的微辣偏好</a:t>
                </a:r>
              </a:p>
            </p:txBody>
          </p:sp>
        </p:grpSp>
        <p:sp>
          <p:nvSpPr>
            <p:cNvPr id="37" name="Rectangle 37"/>
            <p:cNvSpPr/>
            <p:nvPr/>
          </p:nvSpPr>
          <p:spPr>
            <a:xfrm>
              <a:off x="2000250" y="4476750"/>
              <a:ext cx="1600200" cy="457200"/>
            </a:xfrm>
            <a:prstGeom prst="roundRect">
              <a:avLst>
                <a:gd name="adj" fmla="val 33333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2180272" y="4673441"/>
              <a:ext cx="901065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更多推荐继续加载</a:t>
              </a:r>
            </a:p>
          </p:txBody>
        </p:sp>
        <p:sp>
          <p:nvSpPr>
            <p:cNvPr id="39" name="Line 39"/>
            <p:cNvSpPr/>
            <p:nvPr/>
          </p:nvSpPr>
          <p:spPr>
            <a:xfrm>
              <a:off x="2057400" y="5257800"/>
              <a:ext cx="1485900" cy="9525"/>
            </a:xfrm>
            <a:custGeom>
              <a:avLst/>
              <a:gdLst/>
              <a:ahLst/>
              <a:cxnLst/>
              <a:rect l="l" t="t" r="r" b="b"/>
              <a:pathLst>
                <a:path w="1485900" h="9525">
                  <a:moveTo>
                    <a:pt x="0" y="0"/>
                  </a:moveTo>
                  <a:lnTo>
                    <a:pt x="1485900" y="0"/>
                  </a:lnTo>
                </a:path>
              </a:pathLst>
            </a:custGeom>
            <a:noFill/>
            <a:ln w="14288">
              <a:solidFill>
                <a:srgbClr val="DCEBE3"/>
              </a:solidFill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2088356" y="5367338"/>
              <a:ext cx="128588" cy="200025"/>
              <a:chOff x="2088356" y="5367338"/>
              <a:chExt cx="128588" cy="200025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2095500" y="5403056"/>
                <a:ext cx="114300" cy="128588"/>
              </a:xfrm>
              <a:custGeom>
                <a:avLst/>
                <a:gdLst/>
                <a:ahLst/>
                <a:cxnLst/>
                <a:rect l="l" t="t" r="r" b="b"/>
                <a:pathLst>
                  <a:path w="114300" h="128588">
                    <a:moveTo>
                      <a:pt x="114300" y="0"/>
                    </a:moveTo>
                    <a:lnTo>
                      <a:pt x="114300" y="128588"/>
                    </a:lnTo>
                    <a:lnTo>
                      <a:pt x="0" y="12858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2088356" y="5367338"/>
                <a:ext cx="128588" cy="200025"/>
              </a:xfrm>
              <a:custGeom>
                <a:avLst/>
                <a:gdLst/>
                <a:ahLst/>
                <a:cxnLst/>
                <a:rect l="l" t="t" r="r" b="b"/>
                <a:pathLst>
                  <a:path w="128588" h="200025">
                    <a:moveTo>
                      <a:pt x="107156" y="0"/>
                    </a:moveTo>
                    <a:lnTo>
                      <a:pt x="21431" y="0"/>
                    </a:lnTo>
                    <a:cubicBezTo>
                      <a:pt x="9595" y="0"/>
                      <a:pt x="0" y="9595"/>
                      <a:pt x="0" y="21431"/>
                    </a:cubicBezTo>
                    <a:lnTo>
                      <a:pt x="0" y="178594"/>
                    </a:lnTo>
                    <a:cubicBezTo>
                      <a:pt x="0" y="190430"/>
                      <a:pt x="9595" y="200025"/>
                      <a:pt x="21431" y="200025"/>
                    </a:cubicBezTo>
                    <a:lnTo>
                      <a:pt x="107156" y="200025"/>
                    </a:lnTo>
                    <a:cubicBezTo>
                      <a:pt x="118992" y="200025"/>
                      <a:pt x="128588" y="190430"/>
                      <a:pt x="128588" y="178594"/>
                    </a:cubicBezTo>
                    <a:lnTo>
                      <a:pt x="128588" y="21431"/>
                    </a:lnTo>
                    <a:cubicBezTo>
                      <a:pt x="128588" y="9595"/>
                      <a:pt x="118992" y="0"/>
                      <a:pt x="107156" y="0"/>
                    </a:cubicBezTo>
                    <a:close/>
                    <a:moveTo>
                      <a:pt x="14288" y="42862"/>
                    </a:moveTo>
                    <a:lnTo>
                      <a:pt x="114300" y="42862"/>
                    </a:lnTo>
                    <a:lnTo>
                      <a:pt x="114300" y="157162"/>
                    </a:lnTo>
                    <a:lnTo>
                      <a:pt x="14288" y="157162"/>
                    </a:lnTo>
                    <a:close/>
                    <a:moveTo>
                      <a:pt x="21431" y="14288"/>
                    </a:moveTo>
                    <a:lnTo>
                      <a:pt x="107156" y="14288"/>
                    </a:lnTo>
                    <a:cubicBezTo>
                      <a:pt x="111102" y="14288"/>
                      <a:pt x="114300" y="17486"/>
                      <a:pt x="114300" y="21431"/>
                    </a:cubicBezTo>
                    <a:lnTo>
                      <a:pt x="114300" y="28575"/>
                    </a:lnTo>
                    <a:lnTo>
                      <a:pt x="14288" y="28575"/>
                    </a:lnTo>
                    <a:lnTo>
                      <a:pt x="14288" y="21431"/>
                    </a:lnTo>
                    <a:cubicBezTo>
                      <a:pt x="14288" y="17486"/>
                      <a:pt x="17486" y="14288"/>
                      <a:pt x="21431" y="14288"/>
                    </a:cubicBezTo>
                    <a:close/>
                    <a:moveTo>
                      <a:pt x="107156" y="185738"/>
                    </a:moveTo>
                    <a:lnTo>
                      <a:pt x="21431" y="185738"/>
                    </a:lnTo>
                    <a:cubicBezTo>
                      <a:pt x="17486" y="185738"/>
                      <a:pt x="14288" y="182539"/>
                      <a:pt x="14288" y="178594"/>
                    </a:cubicBezTo>
                    <a:lnTo>
                      <a:pt x="14288" y="171450"/>
                    </a:lnTo>
                    <a:lnTo>
                      <a:pt x="114300" y="171450"/>
                    </a:lnTo>
                    <a:lnTo>
                      <a:pt x="114300" y="178594"/>
                    </a:lnTo>
                    <a:cubicBezTo>
                      <a:pt x="114300" y="182539"/>
                      <a:pt x="111102" y="185738"/>
                      <a:pt x="107156" y="18573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grpSp>
          <p:nvGrpSpPr>
            <p:cNvPr id="45" name="Group 45"/>
            <p:cNvGrpSpPr/>
            <p:nvPr/>
          </p:nvGrpSpPr>
          <p:grpSpPr>
            <a:xfrm>
              <a:off x="2702719" y="5367338"/>
              <a:ext cx="157162" cy="200454"/>
              <a:chOff x="2702719" y="5367338"/>
              <a:chExt cx="157162" cy="200454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709862" y="5374481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cubicBezTo>
                      <a:pt x="0" y="135731"/>
                      <a:pt x="71438" y="185738"/>
                      <a:pt x="71438" y="185738"/>
                    </a:cubicBezTo>
                    <a:cubicBezTo>
                      <a:pt x="71438" y="185738"/>
                      <a:pt x="142875" y="13573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lose/>
                    <a:moveTo>
                      <a:pt x="71438" y="100012"/>
                    </a:moveTo>
                    <a:cubicBezTo>
                      <a:pt x="55656" y="100012"/>
                      <a:pt x="42862" y="87219"/>
                      <a:pt x="42862" y="71438"/>
                    </a:cubicBezTo>
                    <a:cubicBezTo>
                      <a:pt x="42862" y="55656"/>
                      <a:pt x="55656" y="42862"/>
                      <a:pt x="71438" y="42862"/>
                    </a:cubicBezTo>
                    <a:cubicBezTo>
                      <a:pt x="87219" y="42862"/>
                      <a:pt x="100012" y="55656"/>
                      <a:pt x="100012" y="71438"/>
                    </a:cubicBezTo>
                    <a:cubicBezTo>
                      <a:pt x="100012" y="87219"/>
                      <a:pt x="87219" y="100012"/>
                      <a:pt x="71438" y="100012"/>
                    </a:cubicBezTo>
                    <a:close/>
                  </a:path>
                </a:pathLst>
              </a:custGeom>
              <a:solidFill>
                <a:srgbClr val="7480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702719" y="5367338"/>
                <a:ext cx="157162" cy="200454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00454">
                    <a:moveTo>
                      <a:pt x="78581" y="42862"/>
                    </a:moveTo>
                    <a:cubicBezTo>
                      <a:pt x="58854" y="42862"/>
                      <a:pt x="42862" y="58854"/>
                      <a:pt x="42862" y="78581"/>
                    </a:cubicBezTo>
                    <a:cubicBezTo>
                      <a:pt x="42862" y="98308"/>
                      <a:pt x="58854" y="114300"/>
                      <a:pt x="78581" y="114300"/>
                    </a:cubicBezTo>
                    <a:cubicBezTo>
                      <a:pt x="98308" y="114300"/>
                      <a:pt x="114300" y="98308"/>
                      <a:pt x="114300" y="78581"/>
                    </a:cubicBezTo>
                    <a:cubicBezTo>
                      <a:pt x="114300" y="58854"/>
                      <a:pt x="98308" y="42862"/>
                      <a:pt x="78581" y="42862"/>
                    </a:cubicBezTo>
                    <a:close/>
                    <a:moveTo>
                      <a:pt x="78581" y="100012"/>
                    </a:moveTo>
                    <a:cubicBezTo>
                      <a:pt x="66745" y="100012"/>
                      <a:pt x="57150" y="90417"/>
                      <a:pt x="57150" y="78581"/>
                    </a:cubicBezTo>
                    <a:cubicBezTo>
                      <a:pt x="57150" y="66745"/>
                      <a:pt x="66745" y="57150"/>
                      <a:pt x="78581" y="57150"/>
                    </a:cubicBezTo>
                    <a:cubicBezTo>
                      <a:pt x="90417" y="57150"/>
                      <a:pt x="100012" y="66745"/>
                      <a:pt x="100012" y="78581"/>
                    </a:cubicBezTo>
                    <a:cubicBezTo>
                      <a:pt x="100012" y="90417"/>
                      <a:pt x="90417" y="100012"/>
                      <a:pt x="78581" y="100012"/>
                    </a:cubicBezTo>
                    <a:close/>
                    <a:moveTo>
                      <a:pt x="78581" y="0"/>
                    </a:moveTo>
                    <a:cubicBezTo>
                      <a:pt x="35202" y="49"/>
                      <a:pt x="49" y="35202"/>
                      <a:pt x="0" y="78581"/>
                    </a:cubicBezTo>
                    <a:cubicBezTo>
                      <a:pt x="0" y="106620"/>
                      <a:pt x="12957" y="136338"/>
                      <a:pt x="37505" y="164529"/>
                    </a:cubicBezTo>
                    <a:cubicBezTo>
                      <a:pt x="48535" y="177268"/>
                      <a:pt x="60949" y="188739"/>
                      <a:pt x="74518" y="198730"/>
                    </a:cubicBezTo>
                    <a:cubicBezTo>
                      <a:pt x="76979" y="200454"/>
                      <a:pt x="80255" y="200454"/>
                      <a:pt x="82716" y="198730"/>
                    </a:cubicBezTo>
                    <a:cubicBezTo>
                      <a:pt x="96260" y="188735"/>
                      <a:pt x="108650" y="177264"/>
                      <a:pt x="119658" y="164529"/>
                    </a:cubicBezTo>
                    <a:cubicBezTo>
                      <a:pt x="144170" y="136338"/>
                      <a:pt x="157162" y="106620"/>
                      <a:pt x="157162" y="78581"/>
                    </a:cubicBezTo>
                    <a:cubicBezTo>
                      <a:pt x="157113" y="35202"/>
                      <a:pt x="121960" y="49"/>
                      <a:pt x="78581" y="0"/>
                    </a:cubicBezTo>
                    <a:close/>
                    <a:moveTo>
                      <a:pt x="78581" y="183952"/>
                    </a:moveTo>
                    <a:cubicBezTo>
                      <a:pt x="63820" y="172343"/>
                      <a:pt x="14288" y="129704"/>
                      <a:pt x="14288" y="78581"/>
                    </a:cubicBezTo>
                    <a:cubicBezTo>
                      <a:pt x="14288" y="43073"/>
                      <a:pt x="43073" y="14288"/>
                      <a:pt x="78581" y="14288"/>
                    </a:cubicBezTo>
                    <a:cubicBezTo>
                      <a:pt x="114090" y="14288"/>
                      <a:pt x="142875" y="43073"/>
                      <a:pt x="142875" y="78581"/>
                    </a:cubicBezTo>
                    <a:cubicBezTo>
                      <a:pt x="142875" y="129686"/>
                      <a:pt x="93342" y="172343"/>
                      <a:pt x="78581" y="183952"/>
                    </a:cubicBezTo>
                    <a:close/>
                  </a:path>
                </a:pathLst>
              </a:custGeom>
              <a:solidFill>
                <a:srgbClr val="74807C"/>
              </a:solidFill>
              <a:ln>
                <a:noFill/>
              </a:ln>
            </p:spPr>
          </p:sp>
        </p:grpSp>
        <p:grpSp>
          <p:nvGrpSpPr>
            <p:cNvPr id="48" name="Group 48"/>
            <p:cNvGrpSpPr/>
            <p:nvPr/>
          </p:nvGrpSpPr>
          <p:grpSpPr>
            <a:xfrm>
              <a:off x="3312629" y="5374474"/>
              <a:ext cx="197813" cy="193015"/>
              <a:chOff x="3312629" y="5374474"/>
              <a:chExt cx="197813" cy="19301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3317696" y="5374488"/>
                <a:ext cx="177983" cy="182440"/>
              </a:xfrm>
              <a:custGeom>
                <a:avLst/>
                <a:gdLst/>
                <a:ahLst/>
                <a:cxnLst/>
                <a:rect l="l" t="t" r="r" b="b"/>
                <a:pathLst>
                  <a:path w="177983" h="182440">
                    <a:moveTo>
                      <a:pt x="177979" y="92862"/>
                    </a:moveTo>
                    <a:cubicBezTo>
                      <a:pt x="177983" y="123504"/>
                      <a:pt x="161632" y="151817"/>
                      <a:pt x="135090" y="167128"/>
                    </a:cubicBezTo>
                    <a:cubicBezTo>
                      <a:pt x="108549" y="182440"/>
                      <a:pt x="75853" y="182420"/>
                      <a:pt x="49329" y="167077"/>
                    </a:cubicBezTo>
                    <a:lnTo>
                      <a:pt x="49329" y="167077"/>
                    </a:lnTo>
                    <a:lnTo>
                      <a:pt x="15941" y="178212"/>
                    </a:lnTo>
                    <a:cubicBezTo>
                      <a:pt x="13374" y="179068"/>
                      <a:pt x="10543" y="178400"/>
                      <a:pt x="8630" y="176487"/>
                    </a:cubicBezTo>
                    <a:cubicBezTo>
                      <a:pt x="6716" y="174573"/>
                      <a:pt x="6048" y="171743"/>
                      <a:pt x="6904" y="169175"/>
                    </a:cubicBezTo>
                    <a:lnTo>
                      <a:pt x="18040" y="135787"/>
                    </a:lnTo>
                    <a:lnTo>
                      <a:pt x="18040" y="135787"/>
                    </a:lnTo>
                    <a:cubicBezTo>
                      <a:pt x="0" y="104584"/>
                      <a:pt x="3405" y="65430"/>
                      <a:pt x="26560" y="37809"/>
                    </a:cubicBezTo>
                    <a:cubicBezTo>
                      <a:pt x="49714" y="10188"/>
                      <a:pt x="87673" y="0"/>
                      <a:pt x="121547" y="12316"/>
                    </a:cubicBezTo>
                    <a:cubicBezTo>
                      <a:pt x="155420" y="24631"/>
                      <a:pt x="177972" y="56820"/>
                      <a:pt x="177979" y="92862"/>
                    </a:cubicBezTo>
                    <a:close/>
                  </a:path>
                </a:pathLst>
              </a:custGeom>
              <a:solidFill>
                <a:srgbClr val="74807C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3312629" y="5374474"/>
                <a:ext cx="197813" cy="193015"/>
              </a:xfrm>
              <a:custGeom>
                <a:avLst/>
                <a:gdLst/>
                <a:ahLst/>
                <a:cxnLst/>
                <a:rect l="l" t="t" r="r" b="b"/>
                <a:pathLst>
                  <a:path w="197813" h="193015">
                    <a:moveTo>
                      <a:pt x="97321" y="7"/>
                    </a:moveTo>
                    <a:cubicBezTo>
                      <a:pt x="64707" y="0"/>
                      <a:pt x="34480" y="17101"/>
                      <a:pt x="17688" y="45060"/>
                    </a:cubicBezTo>
                    <a:cubicBezTo>
                      <a:pt x="895" y="73019"/>
                      <a:pt x="0" y="107737"/>
                      <a:pt x="15329" y="136524"/>
                    </a:cubicBezTo>
                    <a:lnTo>
                      <a:pt x="5193" y="166930"/>
                    </a:lnTo>
                    <a:cubicBezTo>
                      <a:pt x="3481" y="172064"/>
                      <a:pt x="4817" y="177725"/>
                      <a:pt x="8644" y="181553"/>
                    </a:cubicBezTo>
                    <a:cubicBezTo>
                      <a:pt x="12471" y="185380"/>
                      <a:pt x="18133" y="186716"/>
                      <a:pt x="23267" y="185003"/>
                    </a:cubicBezTo>
                    <a:lnTo>
                      <a:pt x="53673" y="174868"/>
                    </a:lnTo>
                    <a:cubicBezTo>
                      <a:pt x="87790" y="193015"/>
                      <a:pt x="129579" y="188138"/>
                      <a:pt x="158601" y="162623"/>
                    </a:cubicBezTo>
                    <a:cubicBezTo>
                      <a:pt x="187623" y="137108"/>
                      <a:pt x="197813" y="96288"/>
                      <a:pt x="184186" y="60127"/>
                    </a:cubicBezTo>
                    <a:cubicBezTo>
                      <a:pt x="170559" y="23967"/>
                      <a:pt x="135964" y="23"/>
                      <a:pt x="97321" y="7"/>
                    </a:cubicBezTo>
                    <a:close/>
                    <a:moveTo>
                      <a:pt x="97321" y="171457"/>
                    </a:moveTo>
                    <a:cubicBezTo>
                      <a:pt x="83507" y="171467"/>
                      <a:pt x="69934" y="167829"/>
                      <a:pt x="57977" y="160911"/>
                    </a:cubicBezTo>
                    <a:cubicBezTo>
                      <a:pt x="56206" y="159884"/>
                      <a:pt x="54079" y="159666"/>
                      <a:pt x="52137" y="160313"/>
                    </a:cubicBezTo>
                    <a:lnTo>
                      <a:pt x="18740" y="171457"/>
                    </a:lnTo>
                    <a:lnTo>
                      <a:pt x="29875" y="138060"/>
                    </a:lnTo>
                    <a:cubicBezTo>
                      <a:pt x="30524" y="136119"/>
                      <a:pt x="30310" y="133992"/>
                      <a:pt x="29286" y="132220"/>
                    </a:cubicBezTo>
                    <a:cubicBezTo>
                      <a:pt x="11476" y="101429"/>
                      <a:pt x="16571" y="62514"/>
                      <a:pt x="41708" y="37346"/>
                    </a:cubicBezTo>
                    <a:cubicBezTo>
                      <a:pt x="66844" y="12177"/>
                      <a:pt x="105753" y="7033"/>
                      <a:pt x="136566" y="24804"/>
                    </a:cubicBezTo>
                    <a:cubicBezTo>
                      <a:pt x="167380" y="42575"/>
                      <a:pt x="182414" y="78828"/>
                      <a:pt x="173218" y="113190"/>
                    </a:cubicBezTo>
                    <a:cubicBezTo>
                      <a:pt x="164023" y="147552"/>
                      <a:pt x="132892" y="171451"/>
                      <a:pt x="97321" y="171457"/>
                    </a:cubicBezTo>
                    <a:close/>
                  </a:path>
                </a:pathLst>
              </a:custGeom>
              <a:solidFill>
                <a:srgbClr val="74807C"/>
              </a:solidFill>
              <a:ln>
                <a:noFill/>
              </a:ln>
            </p:spPr>
          </p:sp>
        </p:grpSp>
      </p:grpSp>
      <p:grpSp>
        <p:nvGrpSpPr>
          <p:cNvPr id="56" name="Group 56"/>
          <p:cNvGrpSpPr/>
          <p:nvPr/>
        </p:nvGrpSpPr>
        <p:grpSpPr>
          <a:xfrm>
            <a:off x="5676900" y="1619250"/>
            <a:ext cx="5672138" cy="1047750"/>
            <a:chOff x="5676900" y="1619250"/>
            <a:chExt cx="5672138" cy="1047750"/>
          </a:xfrm>
        </p:grpSpPr>
        <p:sp>
          <p:nvSpPr>
            <p:cNvPr id="50" name="Rectangle 50"/>
            <p:cNvSpPr/>
            <p:nvPr/>
          </p:nvSpPr>
          <p:spPr>
            <a:xfrm>
              <a:off x="5676900" y="1619250"/>
              <a:ext cx="5581650" cy="1047750"/>
            </a:xfrm>
            <a:prstGeom prst="roundRect">
              <a:avLst>
                <a:gd name="adj" fmla="val 2181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6012653" y="1954014"/>
              <a:ext cx="287538" cy="313530"/>
              <a:chOff x="6012653" y="1954014"/>
              <a:chExt cx="287538" cy="313530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6200179" y="1967508"/>
                <a:ext cx="87511" cy="200024"/>
              </a:xfrm>
              <a:custGeom>
                <a:avLst/>
                <a:gdLst/>
                <a:ahLst/>
                <a:cxnLst/>
                <a:rect l="l" t="t" r="r" b="b"/>
                <a:pathLst>
                  <a:path w="87511" h="200024">
                    <a:moveTo>
                      <a:pt x="87511" y="0"/>
                    </a:moveTo>
                    <a:lnTo>
                      <a:pt x="87511" y="200024"/>
                    </a:lnTo>
                    <a:lnTo>
                      <a:pt x="0" y="200024"/>
                    </a:lnTo>
                    <a:cubicBezTo>
                      <a:pt x="0" y="200024"/>
                      <a:pt x="0" y="37505"/>
                      <a:pt x="87511" y="0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6012653" y="1954014"/>
                <a:ext cx="287538" cy="313530"/>
              </a:xfrm>
              <a:custGeom>
                <a:avLst/>
                <a:gdLst/>
                <a:ahLst/>
                <a:cxnLst/>
                <a:rect l="l" t="t" r="r" b="b"/>
                <a:pathLst>
                  <a:path w="287538" h="313530">
                    <a:moveTo>
                      <a:pt x="62511" y="88503"/>
                    </a:moveTo>
                    <a:lnTo>
                      <a:pt x="62511" y="13493"/>
                    </a:lnTo>
                    <a:cubicBezTo>
                      <a:pt x="62511" y="6589"/>
                      <a:pt x="68108" y="992"/>
                      <a:pt x="75012" y="992"/>
                    </a:cubicBezTo>
                    <a:cubicBezTo>
                      <a:pt x="81916" y="992"/>
                      <a:pt x="87514" y="6589"/>
                      <a:pt x="87514" y="13493"/>
                    </a:cubicBezTo>
                    <a:lnTo>
                      <a:pt x="87514" y="88503"/>
                    </a:lnTo>
                    <a:cubicBezTo>
                      <a:pt x="87514" y="95407"/>
                      <a:pt x="81916" y="101004"/>
                      <a:pt x="75012" y="101004"/>
                    </a:cubicBezTo>
                    <a:cubicBezTo>
                      <a:pt x="68108" y="101004"/>
                      <a:pt x="62511" y="95407"/>
                      <a:pt x="62511" y="88503"/>
                    </a:cubicBezTo>
                    <a:close/>
                    <a:moveTo>
                      <a:pt x="287538" y="13493"/>
                    </a:moveTo>
                    <a:lnTo>
                      <a:pt x="287538" y="301029"/>
                    </a:lnTo>
                    <a:cubicBezTo>
                      <a:pt x="287538" y="307933"/>
                      <a:pt x="281941" y="313530"/>
                      <a:pt x="275036" y="313530"/>
                    </a:cubicBezTo>
                    <a:cubicBezTo>
                      <a:pt x="268132" y="313530"/>
                      <a:pt x="262535" y="307933"/>
                      <a:pt x="262535" y="301029"/>
                    </a:cubicBezTo>
                    <a:lnTo>
                      <a:pt x="262535" y="226019"/>
                    </a:lnTo>
                    <a:lnTo>
                      <a:pt x="187526" y="226019"/>
                    </a:lnTo>
                    <a:cubicBezTo>
                      <a:pt x="180621" y="226019"/>
                      <a:pt x="175024" y="220422"/>
                      <a:pt x="175024" y="213518"/>
                    </a:cubicBezTo>
                    <a:cubicBezTo>
                      <a:pt x="175605" y="183572"/>
                      <a:pt x="179387" y="153774"/>
                      <a:pt x="186307" y="124632"/>
                    </a:cubicBezTo>
                    <a:cubicBezTo>
                      <a:pt x="201590" y="61359"/>
                      <a:pt x="230562" y="18947"/>
                      <a:pt x="270114" y="2008"/>
                    </a:cubicBezTo>
                    <a:cubicBezTo>
                      <a:pt x="273976" y="354"/>
                      <a:pt x="278410" y="749"/>
                      <a:pt x="281917" y="3062"/>
                    </a:cubicBezTo>
                    <a:cubicBezTo>
                      <a:pt x="285424" y="5374"/>
                      <a:pt x="287536" y="9293"/>
                      <a:pt x="287538" y="13493"/>
                    </a:cubicBezTo>
                    <a:close/>
                    <a:moveTo>
                      <a:pt x="262535" y="35215"/>
                    </a:moveTo>
                    <a:cubicBezTo>
                      <a:pt x="212263" y="73610"/>
                      <a:pt x="202418" y="167137"/>
                      <a:pt x="200496" y="201016"/>
                    </a:cubicBezTo>
                    <a:lnTo>
                      <a:pt x="262535" y="201016"/>
                    </a:lnTo>
                    <a:close/>
                    <a:moveTo>
                      <a:pt x="137348" y="11446"/>
                    </a:moveTo>
                    <a:cubicBezTo>
                      <a:pt x="136681" y="6978"/>
                      <a:pt x="133657" y="3218"/>
                      <a:pt x="129436" y="1609"/>
                    </a:cubicBezTo>
                    <a:cubicBezTo>
                      <a:pt x="125214" y="0"/>
                      <a:pt x="120454" y="793"/>
                      <a:pt x="116983" y="3684"/>
                    </a:cubicBezTo>
                    <a:cubicBezTo>
                      <a:pt x="113512" y="6575"/>
                      <a:pt x="111870" y="11114"/>
                      <a:pt x="112689" y="15556"/>
                    </a:cubicBezTo>
                    <a:lnTo>
                      <a:pt x="125018" y="89487"/>
                    </a:lnTo>
                    <a:cubicBezTo>
                      <a:pt x="125018" y="117105"/>
                      <a:pt x="102630" y="139493"/>
                      <a:pt x="75012" y="139493"/>
                    </a:cubicBezTo>
                    <a:cubicBezTo>
                      <a:pt x="47394" y="139493"/>
                      <a:pt x="25006" y="117105"/>
                      <a:pt x="25006" y="89487"/>
                    </a:cubicBezTo>
                    <a:lnTo>
                      <a:pt x="37320" y="15556"/>
                    </a:lnTo>
                    <a:cubicBezTo>
                      <a:pt x="38139" y="11114"/>
                      <a:pt x="36497" y="6575"/>
                      <a:pt x="33026" y="3684"/>
                    </a:cubicBezTo>
                    <a:cubicBezTo>
                      <a:pt x="29555" y="793"/>
                      <a:pt x="24794" y="0"/>
                      <a:pt x="20573" y="1609"/>
                    </a:cubicBezTo>
                    <a:cubicBezTo>
                      <a:pt x="16352" y="3218"/>
                      <a:pt x="13327" y="6978"/>
                      <a:pt x="12661" y="11446"/>
                    </a:cubicBezTo>
                    <a:lnTo>
                      <a:pt x="159" y="86455"/>
                    </a:lnTo>
                    <a:cubicBezTo>
                      <a:pt x="52" y="87133"/>
                      <a:pt x="0" y="87817"/>
                      <a:pt x="3" y="88503"/>
                    </a:cubicBezTo>
                    <a:cubicBezTo>
                      <a:pt x="55" y="125083"/>
                      <a:pt x="26449" y="156308"/>
                      <a:pt x="62511" y="162449"/>
                    </a:cubicBezTo>
                    <a:lnTo>
                      <a:pt x="62511" y="301029"/>
                    </a:lnTo>
                    <a:cubicBezTo>
                      <a:pt x="62511" y="307933"/>
                      <a:pt x="68108" y="313530"/>
                      <a:pt x="75012" y="313530"/>
                    </a:cubicBezTo>
                    <a:cubicBezTo>
                      <a:pt x="81916" y="313530"/>
                      <a:pt x="87514" y="307933"/>
                      <a:pt x="87514" y="301029"/>
                    </a:cubicBezTo>
                    <a:lnTo>
                      <a:pt x="87514" y="162449"/>
                    </a:lnTo>
                    <a:cubicBezTo>
                      <a:pt x="123575" y="156308"/>
                      <a:pt x="149970" y="125083"/>
                      <a:pt x="150021" y="88503"/>
                    </a:cubicBezTo>
                    <a:cubicBezTo>
                      <a:pt x="150019" y="87817"/>
                      <a:pt x="149962" y="87132"/>
                      <a:pt x="149849" y="86455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6551295" y="1850708"/>
              <a:ext cx="3761475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不是推荐“地点”，而是推进一次决策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6556058" y="2224564"/>
              <a:ext cx="4792980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首页信息层级围绕菜品卡片展开，让用户马上看到可执行答案。</a:t>
              </a:r>
            </a:p>
          </p:txBody>
        </p:sp>
      </p:grpSp>
      <p:grpSp>
        <p:nvGrpSpPr>
          <p:cNvPr id="64" name="Group 64"/>
          <p:cNvGrpSpPr/>
          <p:nvPr/>
        </p:nvGrpSpPr>
        <p:grpSpPr>
          <a:xfrm>
            <a:off x="5676900" y="3028950"/>
            <a:ext cx="5581650" cy="819150"/>
            <a:chOff x="5676900" y="3028950"/>
            <a:chExt cx="5581650" cy="819150"/>
          </a:xfrm>
        </p:grpSpPr>
        <p:sp>
          <p:nvSpPr>
            <p:cNvPr id="57" name="Rectangle 57"/>
            <p:cNvSpPr/>
            <p:nvPr/>
          </p:nvSpPr>
          <p:spPr>
            <a:xfrm>
              <a:off x="5676900" y="3028950"/>
              <a:ext cx="558165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58" name="Rectangle 58"/>
            <p:cNvSpPr/>
            <p:nvPr/>
          </p:nvSpPr>
          <p:spPr>
            <a:xfrm>
              <a:off x="5962650" y="3238500"/>
              <a:ext cx="4191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61" name="Group 61"/>
            <p:cNvGrpSpPr/>
            <p:nvPr/>
          </p:nvGrpSpPr>
          <p:grpSpPr>
            <a:xfrm>
              <a:off x="6085773" y="3368767"/>
              <a:ext cx="172152" cy="157870"/>
              <a:chOff x="6085773" y="3368767"/>
              <a:chExt cx="172152" cy="157870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6172200" y="3390900"/>
                <a:ext cx="78581" cy="114300"/>
              </a:xfrm>
              <a:custGeom>
                <a:avLst/>
                <a:gdLst/>
                <a:ahLst/>
                <a:cxnLst/>
                <a:rect l="l" t="t" r="r" b="b"/>
                <a:pathLst>
                  <a:path w="78581" h="114300">
                    <a:moveTo>
                      <a:pt x="78581" y="0"/>
                    </a:moveTo>
                    <a:lnTo>
                      <a:pt x="78581" y="114300"/>
                    </a:lnTo>
                    <a:lnTo>
                      <a:pt x="0" y="1143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6085773" y="3368767"/>
                <a:ext cx="172152" cy="157870"/>
              </a:xfrm>
              <a:custGeom>
                <a:avLst/>
                <a:gdLst/>
                <a:ahLst/>
                <a:cxnLst/>
                <a:rect l="l" t="t" r="r" b="b"/>
                <a:pathLst>
                  <a:path w="172152" h="157870">
                    <a:moveTo>
                      <a:pt x="172152" y="79283"/>
                    </a:moveTo>
                    <a:cubicBezTo>
                      <a:pt x="172152" y="83228"/>
                      <a:pt x="168953" y="86427"/>
                      <a:pt x="165008" y="86427"/>
                    </a:cubicBezTo>
                    <a:lnTo>
                      <a:pt x="86427" y="86427"/>
                    </a:lnTo>
                    <a:cubicBezTo>
                      <a:pt x="82481" y="86427"/>
                      <a:pt x="79283" y="83228"/>
                      <a:pt x="79283" y="79283"/>
                    </a:cubicBezTo>
                    <a:cubicBezTo>
                      <a:pt x="79283" y="75338"/>
                      <a:pt x="82481" y="72139"/>
                      <a:pt x="86427" y="72139"/>
                    </a:cubicBezTo>
                    <a:lnTo>
                      <a:pt x="165008" y="72139"/>
                    </a:lnTo>
                    <a:cubicBezTo>
                      <a:pt x="168953" y="72139"/>
                      <a:pt x="172152" y="75338"/>
                      <a:pt x="172152" y="79283"/>
                    </a:cubicBezTo>
                    <a:close/>
                    <a:moveTo>
                      <a:pt x="86427" y="29277"/>
                    </a:moveTo>
                    <a:lnTo>
                      <a:pt x="165008" y="29277"/>
                    </a:lnTo>
                    <a:cubicBezTo>
                      <a:pt x="168953" y="29277"/>
                      <a:pt x="172152" y="26078"/>
                      <a:pt x="172152" y="22133"/>
                    </a:cubicBezTo>
                    <a:cubicBezTo>
                      <a:pt x="172152" y="18188"/>
                      <a:pt x="168953" y="14989"/>
                      <a:pt x="165008" y="14989"/>
                    </a:cubicBezTo>
                    <a:lnTo>
                      <a:pt x="86427" y="14989"/>
                    </a:lnTo>
                    <a:cubicBezTo>
                      <a:pt x="82481" y="14989"/>
                      <a:pt x="79283" y="18188"/>
                      <a:pt x="79283" y="22133"/>
                    </a:cubicBezTo>
                    <a:cubicBezTo>
                      <a:pt x="79283" y="26078"/>
                      <a:pt x="82481" y="29277"/>
                      <a:pt x="86427" y="29277"/>
                    </a:cubicBezTo>
                    <a:close/>
                    <a:moveTo>
                      <a:pt x="165008" y="129289"/>
                    </a:moveTo>
                    <a:lnTo>
                      <a:pt x="86427" y="129289"/>
                    </a:lnTo>
                    <a:cubicBezTo>
                      <a:pt x="82481" y="129289"/>
                      <a:pt x="79283" y="132488"/>
                      <a:pt x="79283" y="136433"/>
                    </a:cubicBezTo>
                    <a:cubicBezTo>
                      <a:pt x="79283" y="140378"/>
                      <a:pt x="82481" y="143577"/>
                      <a:pt x="86427" y="143577"/>
                    </a:cubicBezTo>
                    <a:lnTo>
                      <a:pt x="165008" y="143577"/>
                    </a:lnTo>
                    <a:cubicBezTo>
                      <a:pt x="168953" y="143577"/>
                      <a:pt x="172152" y="140378"/>
                      <a:pt x="172152" y="136433"/>
                    </a:cubicBezTo>
                    <a:cubicBezTo>
                      <a:pt x="172152" y="132488"/>
                      <a:pt x="168953" y="129289"/>
                      <a:pt x="165008" y="129289"/>
                    </a:cubicBezTo>
                    <a:close/>
                    <a:moveTo>
                      <a:pt x="45654" y="2791"/>
                    </a:moveTo>
                    <a:lnTo>
                      <a:pt x="22133" y="26321"/>
                    </a:lnTo>
                    <a:lnTo>
                      <a:pt x="12900" y="17079"/>
                    </a:lnTo>
                    <a:cubicBezTo>
                      <a:pt x="10108" y="14288"/>
                      <a:pt x="5583" y="14288"/>
                      <a:pt x="2791" y="17079"/>
                    </a:cubicBezTo>
                    <a:cubicBezTo>
                      <a:pt x="0" y="19870"/>
                      <a:pt x="0" y="24396"/>
                      <a:pt x="2791" y="27187"/>
                    </a:cubicBezTo>
                    <a:lnTo>
                      <a:pt x="17079" y="41475"/>
                    </a:lnTo>
                    <a:cubicBezTo>
                      <a:pt x="18419" y="42816"/>
                      <a:pt x="20237" y="43570"/>
                      <a:pt x="22133" y="43570"/>
                    </a:cubicBezTo>
                    <a:cubicBezTo>
                      <a:pt x="24029" y="43570"/>
                      <a:pt x="25847" y="42816"/>
                      <a:pt x="27187" y="41475"/>
                    </a:cubicBezTo>
                    <a:lnTo>
                      <a:pt x="55762" y="12900"/>
                    </a:lnTo>
                    <a:cubicBezTo>
                      <a:pt x="58554" y="10108"/>
                      <a:pt x="58554" y="5583"/>
                      <a:pt x="55762" y="2791"/>
                    </a:cubicBezTo>
                    <a:cubicBezTo>
                      <a:pt x="52971" y="0"/>
                      <a:pt x="48445" y="0"/>
                      <a:pt x="45654" y="2791"/>
                    </a:cubicBezTo>
                    <a:close/>
                    <a:moveTo>
                      <a:pt x="45654" y="59941"/>
                    </a:moveTo>
                    <a:lnTo>
                      <a:pt x="22133" y="83471"/>
                    </a:lnTo>
                    <a:lnTo>
                      <a:pt x="12900" y="74229"/>
                    </a:lnTo>
                    <a:cubicBezTo>
                      <a:pt x="10108" y="71438"/>
                      <a:pt x="5583" y="71438"/>
                      <a:pt x="2791" y="74229"/>
                    </a:cubicBezTo>
                    <a:cubicBezTo>
                      <a:pt x="0" y="77020"/>
                      <a:pt x="0" y="81546"/>
                      <a:pt x="2791" y="84337"/>
                    </a:cubicBezTo>
                    <a:lnTo>
                      <a:pt x="17079" y="98625"/>
                    </a:lnTo>
                    <a:cubicBezTo>
                      <a:pt x="18419" y="99966"/>
                      <a:pt x="20237" y="100720"/>
                      <a:pt x="22133" y="100720"/>
                    </a:cubicBezTo>
                    <a:cubicBezTo>
                      <a:pt x="24029" y="100720"/>
                      <a:pt x="25847" y="99966"/>
                      <a:pt x="27187" y="98625"/>
                    </a:cubicBezTo>
                    <a:lnTo>
                      <a:pt x="55762" y="70050"/>
                    </a:lnTo>
                    <a:cubicBezTo>
                      <a:pt x="58554" y="67258"/>
                      <a:pt x="58554" y="62733"/>
                      <a:pt x="55762" y="59941"/>
                    </a:cubicBezTo>
                    <a:cubicBezTo>
                      <a:pt x="52971" y="57150"/>
                      <a:pt x="48445" y="57150"/>
                      <a:pt x="45654" y="59941"/>
                    </a:cubicBezTo>
                    <a:close/>
                    <a:moveTo>
                      <a:pt x="45654" y="117091"/>
                    </a:moveTo>
                    <a:lnTo>
                      <a:pt x="22133" y="140621"/>
                    </a:lnTo>
                    <a:lnTo>
                      <a:pt x="12900" y="131379"/>
                    </a:lnTo>
                    <a:cubicBezTo>
                      <a:pt x="10108" y="128588"/>
                      <a:pt x="5583" y="128588"/>
                      <a:pt x="2791" y="131379"/>
                    </a:cubicBezTo>
                    <a:cubicBezTo>
                      <a:pt x="0" y="134170"/>
                      <a:pt x="0" y="138696"/>
                      <a:pt x="2791" y="141487"/>
                    </a:cubicBezTo>
                    <a:lnTo>
                      <a:pt x="17079" y="155775"/>
                    </a:lnTo>
                    <a:cubicBezTo>
                      <a:pt x="18419" y="157116"/>
                      <a:pt x="20237" y="157870"/>
                      <a:pt x="22133" y="157870"/>
                    </a:cubicBezTo>
                    <a:cubicBezTo>
                      <a:pt x="24029" y="157870"/>
                      <a:pt x="25847" y="157116"/>
                      <a:pt x="27187" y="155775"/>
                    </a:cubicBezTo>
                    <a:lnTo>
                      <a:pt x="55762" y="127200"/>
                    </a:lnTo>
                    <a:cubicBezTo>
                      <a:pt x="58554" y="124408"/>
                      <a:pt x="58554" y="119883"/>
                      <a:pt x="55762" y="117091"/>
                    </a:cubicBezTo>
                    <a:cubicBezTo>
                      <a:pt x="52971" y="114300"/>
                      <a:pt x="48445" y="114300"/>
                      <a:pt x="45654" y="117091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6553200" y="32099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搜索与二级筛选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6557010" y="3509010"/>
              <a:ext cx="307086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关键词、品类、地点、预算共同收敛候选。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5676900" y="4057650"/>
            <a:ext cx="5581650" cy="819150"/>
            <a:chOff x="5676900" y="4057650"/>
            <a:chExt cx="5581650" cy="819150"/>
          </a:xfrm>
        </p:grpSpPr>
        <p:sp>
          <p:nvSpPr>
            <p:cNvPr id="65" name="Rectangle 65"/>
            <p:cNvSpPr/>
            <p:nvPr/>
          </p:nvSpPr>
          <p:spPr>
            <a:xfrm>
              <a:off x="5676900" y="4057650"/>
              <a:ext cx="558165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66" name="Rectangle 66"/>
            <p:cNvSpPr/>
            <p:nvPr/>
          </p:nvSpPr>
          <p:spPr>
            <a:xfrm>
              <a:off x="5962650" y="4267200"/>
              <a:ext cx="4191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69" name="Group 69"/>
            <p:cNvGrpSpPr/>
            <p:nvPr/>
          </p:nvGrpSpPr>
          <p:grpSpPr>
            <a:xfrm>
              <a:off x="6079331" y="4383936"/>
              <a:ext cx="185738" cy="178539"/>
              <a:chOff x="6079331" y="4383936"/>
              <a:chExt cx="185738" cy="178539"/>
            </a:xfrm>
          </p:grpSpPr>
          <p:sp>
            <p:nvSpPr>
              <p:cNvPr id="67" name="Freeform 67"/>
              <p:cNvSpPr/>
              <p:nvPr/>
            </p:nvSpPr>
            <p:spPr>
              <a:xfrm>
                <a:off x="6086464" y="4462462"/>
                <a:ext cx="171471" cy="92869"/>
              </a:xfrm>
              <a:custGeom>
                <a:avLst/>
                <a:gdLst/>
                <a:ahLst/>
                <a:cxnLst/>
                <a:rect l="l" t="t" r="r" b="b"/>
                <a:pathLst>
                  <a:path w="171471" h="92869">
                    <a:moveTo>
                      <a:pt x="171461" y="0"/>
                    </a:moveTo>
                    <a:cubicBezTo>
                      <a:pt x="171471" y="33529"/>
                      <a:pt x="151934" y="63986"/>
                      <a:pt x="121454" y="77956"/>
                    </a:cubicBezTo>
                    <a:lnTo>
                      <a:pt x="121454" y="85725"/>
                    </a:lnTo>
                    <a:cubicBezTo>
                      <a:pt x="121454" y="89670"/>
                      <a:pt x="118256" y="92869"/>
                      <a:pt x="114311" y="92869"/>
                    </a:cubicBezTo>
                    <a:lnTo>
                      <a:pt x="57161" y="92869"/>
                    </a:lnTo>
                    <a:cubicBezTo>
                      <a:pt x="53215" y="92869"/>
                      <a:pt x="50017" y="89670"/>
                      <a:pt x="50017" y="85725"/>
                    </a:cubicBezTo>
                    <a:lnTo>
                      <a:pt x="50017" y="77956"/>
                    </a:lnTo>
                    <a:cubicBezTo>
                      <a:pt x="19537" y="63986"/>
                      <a:pt x="0" y="33529"/>
                      <a:pt x="11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8" name="Freeform 68"/>
              <p:cNvSpPr/>
              <p:nvPr/>
            </p:nvSpPr>
            <p:spPr>
              <a:xfrm>
                <a:off x="6079331" y="4383936"/>
                <a:ext cx="185738" cy="178539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78539">
                    <a:moveTo>
                      <a:pt x="178594" y="71383"/>
                    </a:moveTo>
                    <a:lnTo>
                      <a:pt x="171120" y="71383"/>
                    </a:lnTo>
                    <a:cubicBezTo>
                      <a:pt x="167400" y="30943"/>
                      <a:pt x="133479" y="0"/>
                      <a:pt x="92869" y="0"/>
                    </a:cubicBezTo>
                    <a:cubicBezTo>
                      <a:pt x="52259" y="0"/>
                      <a:pt x="18338" y="30943"/>
                      <a:pt x="14618" y="71383"/>
                    </a:cubicBezTo>
                    <a:lnTo>
                      <a:pt x="7144" y="71383"/>
                    </a:lnTo>
                    <a:cubicBezTo>
                      <a:pt x="3198" y="71383"/>
                      <a:pt x="0" y="74581"/>
                      <a:pt x="0" y="78527"/>
                    </a:cubicBezTo>
                    <a:cubicBezTo>
                      <a:pt x="64" y="113152"/>
                      <a:pt x="19322" y="144886"/>
                      <a:pt x="50006" y="160930"/>
                    </a:cubicBezTo>
                    <a:lnTo>
                      <a:pt x="50006" y="164252"/>
                    </a:lnTo>
                    <a:cubicBezTo>
                      <a:pt x="50006" y="172142"/>
                      <a:pt x="56403" y="178539"/>
                      <a:pt x="64294" y="178539"/>
                    </a:cubicBezTo>
                    <a:lnTo>
                      <a:pt x="121444" y="178539"/>
                    </a:lnTo>
                    <a:cubicBezTo>
                      <a:pt x="129335" y="178539"/>
                      <a:pt x="135731" y="172142"/>
                      <a:pt x="135731" y="164252"/>
                    </a:cubicBezTo>
                    <a:lnTo>
                      <a:pt x="135731" y="160930"/>
                    </a:lnTo>
                    <a:cubicBezTo>
                      <a:pt x="166415" y="144886"/>
                      <a:pt x="185674" y="113152"/>
                      <a:pt x="185738" y="78527"/>
                    </a:cubicBezTo>
                    <a:cubicBezTo>
                      <a:pt x="185738" y="74581"/>
                      <a:pt x="182539" y="71383"/>
                      <a:pt x="178594" y="71383"/>
                    </a:cubicBezTo>
                    <a:close/>
                    <a:moveTo>
                      <a:pt x="133481" y="28726"/>
                    </a:moveTo>
                    <a:cubicBezTo>
                      <a:pt x="135118" y="30065"/>
                      <a:pt x="136687" y="31479"/>
                      <a:pt x="138187" y="32967"/>
                    </a:cubicBezTo>
                    <a:cubicBezTo>
                      <a:pt x="119170" y="39657"/>
                      <a:pt x="103455" y="53406"/>
                      <a:pt x="94297" y="71365"/>
                    </a:cubicBezTo>
                    <a:lnTo>
                      <a:pt x="67955" y="71365"/>
                    </a:lnTo>
                    <a:cubicBezTo>
                      <a:pt x="77103" y="45722"/>
                      <a:pt x="101362" y="28580"/>
                      <a:pt x="128588" y="28520"/>
                    </a:cubicBezTo>
                    <a:cubicBezTo>
                      <a:pt x="130222" y="28520"/>
                      <a:pt x="131856" y="28601"/>
                      <a:pt x="133481" y="28726"/>
                    </a:cubicBezTo>
                    <a:close/>
                    <a:moveTo>
                      <a:pt x="147688" y="44978"/>
                    </a:moveTo>
                    <a:cubicBezTo>
                      <a:pt x="152622" y="53002"/>
                      <a:pt x="155717" y="62020"/>
                      <a:pt x="156752" y="71383"/>
                    </a:cubicBezTo>
                    <a:lnTo>
                      <a:pt x="110835" y="71383"/>
                    </a:lnTo>
                    <a:cubicBezTo>
                      <a:pt x="119496" y="58389"/>
                      <a:pt x="132599" y="49001"/>
                      <a:pt x="147688" y="44978"/>
                    </a:cubicBezTo>
                    <a:close/>
                    <a:moveTo>
                      <a:pt x="92869" y="14233"/>
                    </a:moveTo>
                    <a:cubicBezTo>
                      <a:pt x="98601" y="14237"/>
                      <a:pt x="104308" y="15008"/>
                      <a:pt x="109835" y="16528"/>
                    </a:cubicBezTo>
                    <a:cubicBezTo>
                      <a:pt x="82435" y="23325"/>
                      <a:pt x="60753" y="44243"/>
                      <a:pt x="52980" y="71383"/>
                    </a:cubicBezTo>
                    <a:lnTo>
                      <a:pt x="28986" y="71383"/>
                    </a:lnTo>
                    <a:cubicBezTo>
                      <a:pt x="32654" y="38862"/>
                      <a:pt x="60142" y="14272"/>
                      <a:pt x="92869" y="14233"/>
                    </a:cubicBezTo>
                    <a:close/>
                    <a:moveTo>
                      <a:pt x="125605" y="149964"/>
                    </a:moveTo>
                    <a:cubicBezTo>
                      <a:pt x="123060" y="151133"/>
                      <a:pt x="121433" y="153682"/>
                      <a:pt x="121444" y="156483"/>
                    </a:cubicBezTo>
                    <a:lnTo>
                      <a:pt x="121444" y="164252"/>
                    </a:lnTo>
                    <a:lnTo>
                      <a:pt x="64294" y="164252"/>
                    </a:lnTo>
                    <a:lnTo>
                      <a:pt x="64294" y="156483"/>
                    </a:lnTo>
                    <a:cubicBezTo>
                      <a:pt x="64304" y="153682"/>
                      <a:pt x="62678" y="151133"/>
                      <a:pt x="60133" y="149964"/>
                    </a:cubicBezTo>
                    <a:cubicBezTo>
                      <a:pt x="34564" y="138198"/>
                      <a:pt x="17207" y="113694"/>
                      <a:pt x="14591" y="85670"/>
                    </a:cubicBezTo>
                    <a:lnTo>
                      <a:pt x="171120" y="85670"/>
                    </a:lnTo>
                    <a:cubicBezTo>
                      <a:pt x="168509" y="113688"/>
                      <a:pt x="151163" y="138191"/>
                      <a:pt x="125605" y="149964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70" name="TextBox 70"/>
            <p:cNvSpPr txBox="1"/>
            <p:nvPr/>
          </p:nvSpPr>
          <p:spPr>
            <a:xfrm>
              <a:off x="6553200" y="4238625"/>
              <a:ext cx="19283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推荐卡片可直接行动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6557010" y="4537710"/>
              <a:ext cx="371094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菜名、商家、评分、价格、收藏入口在同一张卡内。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5676900" y="5086350"/>
            <a:ext cx="5581650" cy="819150"/>
            <a:chOff x="5676900" y="5086350"/>
            <a:chExt cx="5581650" cy="819150"/>
          </a:xfrm>
        </p:grpSpPr>
        <p:sp>
          <p:nvSpPr>
            <p:cNvPr id="73" name="Rectangle 73"/>
            <p:cNvSpPr/>
            <p:nvPr/>
          </p:nvSpPr>
          <p:spPr>
            <a:xfrm>
              <a:off x="5676900" y="5086350"/>
              <a:ext cx="5581650" cy="819150"/>
            </a:xfrm>
            <a:prstGeom prst="roundRect">
              <a:avLst>
                <a:gd name="adj" fmla="val 2558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74" name="Rectangle 74"/>
            <p:cNvSpPr/>
            <p:nvPr/>
          </p:nvSpPr>
          <p:spPr>
            <a:xfrm>
              <a:off x="5962650" y="5295900"/>
              <a:ext cx="4191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77" name="Group 77"/>
            <p:cNvGrpSpPr/>
            <p:nvPr/>
          </p:nvGrpSpPr>
          <p:grpSpPr>
            <a:xfrm>
              <a:off x="6072187" y="5398294"/>
              <a:ext cx="207169" cy="207205"/>
              <a:chOff x="6072187" y="5398294"/>
              <a:chExt cx="207169" cy="207205"/>
            </a:xfrm>
          </p:grpSpPr>
          <p:sp>
            <p:nvSpPr>
              <p:cNvPr id="75" name="Freeform 75"/>
              <p:cNvSpPr/>
              <p:nvPr/>
            </p:nvSpPr>
            <p:spPr>
              <a:xfrm>
                <a:off x="6079405" y="5441194"/>
                <a:ext cx="157087" cy="157087"/>
              </a:xfrm>
              <a:custGeom>
                <a:avLst/>
                <a:gdLst/>
                <a:ahLst/>
                <a:cxnLst/>
                <a:rect l="l" t="t" r="r" b="b"/>
                <a:pathLst>
                  <a:path w="157087" h="157087">
                    <a:moveTo>
                      <a:pt x="152463" y="85178"/>
                    </a:moveTo>
                    <a:lnTo>
                      <a:pt x="106332" y="102144"/>
                    </a:lnTo>
                    <a:cubicBezTo>
                      <a:pt x="104388" y="102856"/>
                      <a:pt x="102856" y="104388"/>
                      <a:pt x="102144" y="106332"/>
                    </a:cubicBezTo>
                    <a:lnTo>
                      <a:pt x="85178" y="152463"/>
                    </a:lnTo>
                    <a:cubicBezTo>
                      <a:pt x="84153" y="155241"/>
                      <a:pt x="81505" y="157087"/>
                      <a:pt x="78543" y="157087"/>
                    </a:cubicBezTo>
                    <a:cubicBezTo>
                      <a:pt x="75582" y="157087"/>
                      <a:pt x="72934" y="155241"/>
                      <a:pt x="71909" y="152463"/>
                    </a:cubicBezTo>
                    <a:lnTo>
                      <a:pt x="54942" y="106332"/>
                    </a:lnTo>
                    <a:cubicBezTo>
                      <a:pt x="54230" y="104388"/>
                      <a:pt x="52698" y="102856"/>
                      <a:pt x="50754" y="102144"/>
                    </a:cubicBezTo>
                    <a:lnTo>
                      <a:pt x="4623" y="85178"/>
                    </a:lnTo>
                    <a:cubicBezTo>
                      <a:pt x="1845" y="84153"/>
                      <a:pt x="0" y="81505"/>
                      <a:pt x="0" y="78543"/>
                    </a:cubicBezTo>
                    <a:cubicBezTo>
                      <a:pt x="0" y="75582"/>
                      <a:pt x="1845" y="72934"/>
                      <a:pt x="4623" y="71909"/>
                    </a:cubicBezTo>
                    <a:lnTo>
                      <a:pt x="50754" y="54942"/>
                    </a:lnTo>
                    <a:cubicBezTo>
                      <a:pt x="52698" y="54230"/>
                      <a:pt x="54230" y="52698"/>
                      <a:pt x="54942" y="50754"/>
                    </a:cubicBezTo>
                    <a:lnTo>
                      <a:pt x="71909" y="4623"/>
                    </a:lnTo>
                    <a:cubicBezTo>
                      <a:pt x="72934" y="1845"/>
                      <a:pt x="75582" y="0"/>
                      <a:pt x="78543" y="0"/>
                    </a:cubicBezTo>
                    <a:cubicBezTo>
                      <a:pt x="81505" y="0"/>
                      <a:pt x="84153" y="1845"/>
                      <a:pt x="85178" y="4623"/>
                    </a:cubicBezTo>
                    <a:lnTo>
                      <a:pt x="102144" y="50754"/>
                    </a:lnTo>
                    <a:cubicBezTo>
                      <a:pt x="102856" y="52698"/>
                      <a:pt x="104388" y="54230"/>
                      <a:pt x="106332" y="54942"/>
                    </a:cubicBezTo>
                    <a:lnTo>
                      <a:pt x="152463" y="71909"/>
                    </a:lnTo>
                    <a:cubicBezTo>
                      <a:pt x="155241" y="72934"/>
                      <a:pt x="157087" y="75582"/>
                      <a:pt x="157087" y="78543"/>
                    </a:cubicBezTo>
                    <a:cubicBezTo>
                      <a:pt x="157087" y="81505"/>
                      <a:pt x="155241" y="84153"/>
                      <a:pt x="152463" y="85178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6" name="Freeform 76"/>
              <p:cNvSpPr/>
              <p:nvPr/>
            </p:nvSpPr>
            <p:spPr>
              <a:xfrm>
                <a:off x="6072187" y="5398294"/>
                <a:ext cx="207169" cy="207205"/>
              </a:xfrm>
              <a:custGeom>
                <a:avLst/>
                <a:gdLst/>
                <a:ahLst/>
                <a:cxnLst/>
                <a:rect l="l" t="t" r="r" b="b"/>
                <a:pathLst>
                  <a:path w="207169" h="207205">
                    <a:moveTo>
                      <a:pt x="162146" y="108103"/>
                    </a:moveTo>
                    <a:lnTo>
                      <a:pt x="116060" y="91136"/>
                    </a:lnTo>
                    <a:lnTo>
                      <a:pt x="99093" y="45015"/>
                    </a:lnTo>
                    <a:cubicBezTo>
                      <a:pt x="97035" y="39424"/>
                      <a:pt x="91710" y="35709"/>
                      <a:pt x="85752" y="35709"/>
                    </a:cubicBezTo>
                    <a:cubicBezTo>
                      <a:pt x="79795" y="35709"/>
                      <a:pt x="74469" y="39424"/>
                      <a:pt x="72411" y="45015"/>
                    </a:cubicBezTo>
                    <a:lnTo>
                      <a:pt x="55427" y="91083"/>
                    </a:lnTo>
                    <a:lnTo>
                      <a:pt x="9305" y="108049"/>
                    </a:lnTo>
                    <a:cubicBezTo>
                      <a:pt x="3715" y="110107"/>
                      <a:pt x="0" y="115433"/>
                      <a:pt x="0" y="121390"/>
                    </a:cubicBezTo>
                    <a:cubicBezTo>
                      <a:pt x="0" y="127348"/>
                      <a:pt x="3715" y="132673"/>
                      <a:pt x="9305" y="134731"/>
                    </a:cubicBezTo>
                    <a:lnTo>
                      <a:pt x="55365" y="151805"/>
                    </a:lnTo>
                    <a:lnTo>
                      <a:pt x="72331" y="197900"/>
                    </a:lnTo>
                    <a:cubicBezTo>
                      <a:pt x="74389" y="203490"/>
                      <a:pt x="79715" y="207205"/>
                      <a:pt x="85672" y="207205"/>
                    </a:cubicBezTo>
                    <a:cubicBezTo>
                      <a:pt x="91629" y="207205"/>
                      <a:pt x="96955" y="203490"/>
                      <a:pt x="99013" y="197900"/>
                    </a:cubicBezTo>
                    <a:lnTo>
                      <a:pt x="115979" y="151814"/>
                    </a:lnTo>
                    <a:lnTo>
                      <a:pt x="162101" y="134847"/>
                    </a:lnTo>
                    <a:cubicBezTo>
                      <a:pt x="167692" y="132789"/>
                      <a:pt x="171407" y="127464"/>
                      <a:pt x="171407" y="121506"/>
                    </a:cubicBezTo>
                    <a:cubicBezTo>
                      <a:pt x="171407" y="115549"/>
                      <a:pt x="167692" y="110223"/>
                      <a:pt x="162101" y="108165"/>
                    </a:cubicBezTo>
                    <a:close/>
                    <a:moveTo>
                      <a:pt x="111077" y="138410"/>
                    </a:moveTo>
                    <a:cubicBezTo>
                      <a:pt x="107170" y="139844"/>
                      <a:pt x="104090" y="142924"/>
                      <a:pt x="102656" y="146831"/>
                    </a:cubicBezTo>
                    <a:lnTo>
                      <a:pt x="85690" y="192783"/>
                    </a:lnTo>
                    <a:lnTo>
                      <a:pt x="68759" y="146795"/>
                    </a:lnTo>
                    <a:cubicBezTo>
                      <a:pt x="67324" y="142909"/>
                      <a:pt x="64260" y="139845"/>
                      <a:pt x="60374" y="138410"/>
                    </a:cubicBezTo>
                    <a:lnTo>
                      <a:pt x="60374" y="138410"/>
                    </a:lnTo>
                    <a:lnTo>
                      <a:pt x="14422" y="121444"/>
                    </a:lnTo>
                    <a:lnTo>
                      <a:pt x="60374" y="104477"/>
                    </a:lnTo>
                    <a:cubicBezTo>
                      <a:pt x="64260" y="103042"/>
                      <a:pt x="67324" y="99979"/>
                      <a:pt x="68759" y="96092"/>
                    </a:cubicBezTo>
                    <a:lnTo>
                      <a:pt x="85726" y="50140"/>
                    </a:lnTo>
                    <a:lnTo>
                      <a:pt x="102692" y="96092"/>
                    </a:lnTo>
                    <a:cubicBezTo>
                      <a:pt x="104126" y="100000"/>
                      <a:pt x="107205" y="103079"/>
                      <a:pt x="111113" y="104513"/>
                    </a:cubicBezTo>
                    <a:lnTo>
                      <a:pt x="157065" y="121479"/>
                    </a:lnTo>
                    <a:close/>
                    <a:moveTo>
                      <a:pt x="114301" y="28575"/>
                    </a:moveTo>
                    <a:cubicBezTo>
                      <a:pt x="114301" y="24630"/>
                      <a:pt x="117499" y="21431"/>
                      <a:pt x="121444" y="21431"/>
                    </a:cubicBezTo>
                    <a:lnTo>
                      <a:pt x="135732" y="21431"/>
                    </a:lnTo>
                    <a:lnTo>
                      <a:pt x="135732" y="7144"/>
                    </a:lnTo>
                    <a:cubicBezTo>
                      <a:pt x="135732" y="3198"/>
                      <a:pt x="138930" y="0"/>
                      <a:pt x="142876" y="0"/>
                    </a:cubicBezTo>
                    <a:cubicBezTo>
                      <a:pt x="146821" y="0"/>
                      <a:pt x="150019" y="3198"/>
                      <a:pt x="150019" y="7144"/>
                    </a:cubicBezTo>
                    <a:lnTo>
                      <a:pt x="150019" y="21431"/>
                    </a:lnTo>
                    <a:lnTo>
                      <a:pt x="164307" y="21431"/>
                    </a:lnTo>
                    <a:cubicBezTo>
                      <a:pt x="168252" y="21431"/>
                      <a:pt x="171451" y="24630"/>
                      <a:pt x="171451" y="28575"/>
                    </a:cubicBezTo>
                    <a:cubicBezTo>
                      <a:pt x="171451" y="32520"/>
                      <a:pt x="168252" y="35719"/>
                      <a:pt x="164307" y="35719"/>
                    </a:cubicBezTo>
                    <a:lnTo>
                      <a:pt x="150019" y="35719"/>
                    </a:lnTo>
                    <a:lnTo>
                      <a:pt x="150019" y="50006"/>
                    </a:lnTo>
                    <a:cubicBezTo>
                      <a:pt x="150019" y="53952"/>
                      <a:pt x="146821" y="57150"/>
                      <a:pt x="142876" y="57150"/>
                    </a:cubicBezTo>
                    <a:cubicBezTo>
                      <a:pt x="138930" y="57150"/>
                      <a:pt x="135732" y="53952"/>
                      <a:pt x="135732" y="50006"/>
                    </a:cubicBezTo>
                    <a:lnTo>
                      <a:pt x="135732" y="35719"/>
                    </a:lnTo>
                    <a:lnTo>
                      <a:pt x="121444" y="35719"/>
                    </a:lnTo>
                    <a:cubicBezTo>
                      <a:pt x="117499" y="35719"/>
                      <a:pt x="114301" y="32520"/>
                      <a:pt x="114301" y="28575"/>
                    </a:cubicBezTo>
                    <a:close/>
                    <a:moveTo>
                      <a:pt x="207169" y="71438"/>
                    </a:moveTo>
                    <a:cubicBezTo>
                      <a:pt x="207169" y="75383"/>
                      <a:pt x="203971" y="78581"/>
                      <a:pt x="200026" y="78581"/>
                    </a:cubicBezTo>
                    <a:lnTo>
                      <a:pt x="192882" y="78581"/>
                    </a:lnTo>
                    <a:lnTo>
                      <a:pt x="192882" y="85725"/>
                    </a:lnTo>
                    <a:cubicBezTo>
                      <a:pt x="192882" y="89670"/>
                      <a:pt x="189683" y="92869"/>
                      <a:pt x="185738" y="92869"/>
                    </a:cubicBezTo>
                    <a:cubicBezTo>
                      <a:pt x="181793" y="92869"/>
                      <a:pt x="178594" y="89670"/>
                      <a:pt x="178594" y="85725"/>
                    </a:cubicBezTo>
                    <a:lnTo>
                      <a:pt x="178594" y="78581"/>
                    </a:lnTo>
                    <a:lnTo>
                      <a:pt x="171451" y="78581"/>
                    </a:lnTo>
                    <a:cubicBezTo>
                      <a:pt x="167505" y="78581"/>
                      <a:pt x="164307" y="75383"/>
                      <a:pt x="164307" y="71438"/>
                    </a:cubicBezTo>
                    <a:cubicBezTo>
                      <a:pt x="164307" y="67492"/>
                      <a:pt x="167505" y="64294"/>
                      <a:pt x="171451" y="64294"/>
                    </a:cubicBezTo>
                    <a:lnTo>
                      <a:pt x="178594" y="64294"/>
                    </a:lnTo>
                    <a:lnTo>
                      <a:pt x="178594" y="57150"/>
                    </a:lnTo>
                    <a:cubicBezTo>
                      <a:pt x="178594" y="53205"/>
                      <a:pt x="181793" y="50006"/>
                      <a:pt x="185738" y="50006"/>
                    </a:cubicBezTo>
                    <a:cubicBezTo>
                      <a:pt x="189683" y="50006"/>
                      <a:pt x="192882" y="53205"/>
                      <a:pt x="192882" y="57150"/>
                    </a:cubicBezTo>
                    <a:lnTo>
                      <a:pt x="192882" y="64294"/>
                    </a:lnTo>
                    <a:lnTo>
                      <a:pt x="200026" y="64294"/>
                    </a:lnTo>
                    <a:cubicBezTo>
                      <a:pt x="203971" y="64294"/>
                      <a:pt x="207169" y="67492"/>
                      <a:pt x="207169" y="71438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78" name="TextBox 78"/>
            <p:cNvSpPr txBox="1"/>
            <p:nvPr/>
          </p:nvSpPr>
          <p:spPr>
            <a:xfrm>
              <a:off x="6553200" y="5267325"/>
              <a:ext cx="1508284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理由让推荐可信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6557010" y="5566410"/>
              <a:ext cx="41429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DeepSeek 生成简短理由，但对象仍来自数据库合法候选。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514350" y="1200150"/>
              <a:ext cx="11163300" cy="4953000"/>
            </a:xfrm>
            <a:prstGeom prst="roundRect">
              <a:avLst>
                <a:gd name="adj" fmla="val 6154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810000" y="1276350"/>
              <a:ext cx="4762500" cy="4762500"/>
            </a:xfrm>
            <a:prstGeom prst="ellipse">
              <a:avLst/>
            </a:prstGeom>
            <a:solidFill>
              <a:srgbClr val="FFFFFF">
                <a:alpha val="56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410528"/>
            <a:ext cx="11168062" cy="694372"/>
            <a:chOff x="501015" y="410528"/>
            <a:chExt cx="11168062" cy="694372"/>
          </a:xfrm>
        </p:grpSpPr>
        <p:sp>
          <p:nvSpPr>
            <p:cNvPr id="6" name="TextBox 6"/>
            <p:cNvSpPr txBox="1"/>
            <p:nvPr/>
          </p:nvSpPr>
          <p:spPr>
            <a:xfrm>
              <a:off x="501015" y="41052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找得到，也评得上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160" y="861060"/>
              <a:ext cx="43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地图解决位置问题，评价入口让消费体验回流成公共信息。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07 / 16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1143000" y="1428750"/>
            <a:ext cx="2705100" cy="4457700"/>
            <a:chOff x="1143000" y="1428750"/>
            <a:chExt cx="2705100" cy="4457700"/>
          </a:xfrm>
        </p:grpSpPr>
        <p:sp>
          <p:nvSpPr>
            <p:cNvPr id="10" name="Rectangle 10"/>
            <p:cNvSpPr/>
            <p:nvPr/>
          </p:nvSpPr>
          <p:spPr>
            <a:xfrm>
              <a:off x="1143000" y="1428750"/>
              <a:ext cx="2705100" cy="4457700"/>
            </a:xfrm>
            <a:prstGeom prst="roundRect">
              <a:avLst>
                <a:gd name="adj" fmla="val 14789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1333500" y="1638300"/>
              <a:ext cx="2324100" cy="4038600"/>
            </a:xfrm>
            <a:prstGeom prst="roundRect">
              <a:avLst>
                <a:gd name="adj" fmla="val 1229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546860" y="1908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地图发现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562100" y="220980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741170" y="2322195"/>
              <a:ext cx="137902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筛选：价格 / 类别 / 收藏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1562100" y="2781300"/>
              <a:ext cx="1866900" cy="1619250"/>
            </a:xfrm>
            <a:prstGeom prst="roundRect">
              <a:avLst>
                <a:gd name="adj" fmla="val 11765"/>
              </a:avLst>
            </a:prstGeom>
            <a:solidFill>
              <a:srgbClr val="FBFFF7"/>
            </a:solidFill>
            <a:ln w="14288">
              <a:solidFill>
                <a:srgbClr val="BFD9CC"/>
              </a:solidFill>
            </a:ln>
          </p:spPr>
        </p:sp>
        <p:sp>
          <p:nvSpPr>
            <p:cNvPr id="16" name="Freeform 16"/>
            <p:cNvSpPr/>
            <p:nvPr/>
          </p:nvSpPr>
          <p:spPr>
            <a:xfrm>
              <a:off x="1695450" y="2933700"/>
              <a:ext cx="1619250" cy="1066800"/>
            </a:xfrm>
            <a:custGeom>
              <a:avLst/>
              <a:gdLst/>
              <a:ahLst/>
              <a:cxnLst/>
              <a:rect l="l" t="t" r="r" b="b"/>
              <a:pathLst>
                <a:path w="1619250" h="1066800">
                  <a:moveTo>
                    <a:pt x="0" y="1066800"/>
                  </a:moveTo>
                  <a:cubicBezTo>
                    <a:pt x="304800" y="838200"/>
                    <a:pt x="438150" y="457200"/>
                    <a:pt x="876300" y="381000"/>
                  </a:cubicBezTo>
                  <a:cubicBezTo>
                    <a:pt x="1314450" y="304800"/>
                    <a:pt x="1352550" y="209550"/>
                    <a:pt x="1619250" y="0"/>
                  </a:cubicBezTo>
                </a:path>
              </a:pathLst>
            </a:custGeom>
            <a:noFill/>
            <a:ln w="47625" cap="rnd">
              <a:solidFill>
                <a:srgbClr val="DCEBE3"/>
              </a:solidFill>
            </a:ln>
          </p:spPr>
        </p:sp>
        <p:sp>
          <p:nvSpPr>
            <p:cNvPr id="17" name="Freeform 17"/>
            <p:cNvSpPr/>
            <p:nvPr/>
          </p:nvSpPr>
          <p:spPr>
            <a:xfrm>
              <a:off x="1695450" y="3105150"/>
              <a:ext cx="1847850" cy="1181100"/>
            </a:xfrm>
            <a:custGeom>
              <a:avLst/>
              <a:gdLst/>
              <a:ahLst/>
              <a:cxnLst/>
              <a:rect l="l" t="t" r="r" b="b"/>
              <a:pathLst>
                <a:path w="1847850" h="1181100">
                  <a:moveTo>
                    <a:pt x="0" y="0"/>
                  </a:moveTo>
                  <a:cubicBezTo>
                    <a:pt x="400050" y="152400"/>
                    <a:pt x="666750" y="628650"/>
                    <a:pt x="1257300" y="838200"/>
                  </a:cubicBezTo>
                  <a:cubicBezTo>
                    <a:pt x="1847850" y="1047750"/>
                    <a:pt x="1466850" y="1123950"/>
                    <a:pt x="1638300" y="1181100"/>
                  </a:cubicBezTo>
                </a:path>
              </a:pathLst>
            </a:custGeom>
            <a:noFill/>
            <a:ln w="38100" cap="rnd">
              <a:solidFill>
                <a:srgbClr val="DCEBE3"/>
              </a:solidFill>
            </a:ln>
          </p:spPr>
        </p:sp>
        <p:sp>
          <p:nvSpPr>
            <p:cNvPr id="18" name="Ellipse 18"/>
            <p:cNvSpPr/>
            <p:nvPr/>
          </p:nvSpPr>
          <p:spPr>
            <a:xfrm>
              <a:off x="1962150" y="3276600"/>
              <a:ext cx="304800" cy="304800"/>
            </a:xfrm>
            <a:prstGeom prst="ellipse">
              <a:avLst/>
            </a:prstGeom>
            <a:solidFill>
              <a:srgbClr val="3A86FF"/>
            </a:solidFill>
            <a:ln>
              <a:noFill/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2035969" y="3328988"/>
              <a:ext cx="157162" cy="200454"/>
              <a:chOff x="2035969" y="3328988"/>
              <a:chExt cx="157162" cy="200454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2043112" y="3336131"/>
                <a:ext cx="142875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42875" h="185738">
                    <a:moveTo>
                      <a:pt x="71438" y="0"/>
                    </a:moveTo>
                    <a:cubicBezTo>
                      <a:pt x="31984" y="0"/>
                      <a:pt x="0" y="31984"/>
                      <a:pt x="0" y="71438"/>
                    </a:cubicBezTo>
                    <a:cubicBezTo>
                      <a:pt x="0" y="135731"/>
                      <a:pt x="71438" y="185738"/>
                      <a:pt x="71438" y="185738"/>
                    </a:cubicBezTo>
                    <a:cubicBezTo>
                      <a:pt x="71438" y="185738"/>
                      <a:pt x="142875" y="135731"/>
                      <a:pt x="142875" y="71438"/>
                    </a:cubicBezTo>
                    <a:cubicBezTo>
                      <a:pt x="142875" y="31984"/>
                      <a:pt x="110891" y="0"/>
                      <a:pt x="71438" y="0"/>
                    </a:cubicBezTo>
                    <a:close/>
                    <a:moveTo>
                      <a:pt x="71438" y="100012"/>
                    </a:moveTo>
                    <a:cubicBezTo>
                      <a:pt x="55656" y="100012"/>
                      <a:pt x="42862" y="87219"/>
                      <a:pt x="42862" y="71438"/>
                    </a:cubicBezTo>
                    <a:cubicBezTo>
                      <a:pt x="42862" y="55656"/>
                      <a:pt x="55656" y="42862"/>
                      <a:pt x="71438" y="42862"/>
                    </a:cubicBezTo>
                    <a:cubicBezTo>
                      <a:pt x="87219" y="42862"/>
                      <a:pt x="100012" y="55656"/>
                      <a:pt x="100012" y="71438"/>
                    </a:cubicBezTo>
                    <a:cubicBezTo>
                      <a:pt x="100012" y="87219"/>
                      <a:pt x="87219" y="100012"/>
                      <a:pt x="71438" y="100012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2035969" y="3328988"/>
                <a:ext cx="157162" cy="200454"/>
              </a:xfrm>
              <a:custGeom>
                <a:avLst/>
                <a:gdLst/>
                <a:ahLst/>
                <a:cxnLst/>
                <a:rect l="l" t="t" r="r" b="b"/>
                <a:pathLst>
                  <a:path w="157162" h="200454">
                    <a:moveTo>
                      <a:pt x="78581" y="42862"/>
                    </a:moveTo>
                    <a:cubicBezTo>
                      <a:pt x="58854" y="42862"/>
                      <a:pt x="42862" y="58854"/>
                      <a:pt x="42862" y="78581"/>
                    </a:cubicBezTo>
                    <a:cubicBezTo>
                      <a:pt x="42862" y="98308"/>
                      <a:pt x="58854" y="114300"/>
                      <a:pt x="78581" y="114300"/>
                    </a:cubicBezTo>
                    <a:cubicBezTo>
                      <a:pt x="98308" y="114300"/>
                      <a:pt x="114300" y="98308"/>
                      <a:pt x="114300" y="78581"/>
                    </a:cubicBezTo>
                    <a:cubicBezTo>
                      <a:pt x="114300" y="58854"/>
                      <a:pt x="98308" y="42862"/>
                      <a:pt x="78581" y="42862"/>
                    </a:cubicBezTo>
                    <a:close/>
                    <a:moveTo>
                      <a:pt x="78581" y="100012"/>
                    </a:moveTo>
                    <a:cubicBezTo>
                      <a:pt x="66745" y="100012"/>
                      <a:pt x="57150" y="90417"/>
                      <a:pt x="57150" y="78581"/>
                    </a:cubicBezTo>
                    <a:cubicBezTo>
                      <a:pt x="57150" y="66745"/>
                      <a:pt x="66745" y="57150"/>
                      <a:pt x="78581" y="57150"/>
                    </a:cubicBezTo>
                    <a:cubicBezTo>
                      <a:pt x="90417" y="57150"/>
                      <a:pt x="100012" y="66745"/>
                      <a:pt x="100012" y="78581"/>
                    </a:cubicBezTo>
                    <a:cubicBezTo>
                      <a:pt x="100012" y="90417"/>
                      <a:pt x="90417" y="100012"/>
                      <a:pt x="78581" y="100012"/>
                    </a:cubicBezTo>
                    <a:close/>
                    <a:moveTo>
                      <a:pt x="78581" y="0"/>
                    </a:moveTo>
                    <a:cubicBezTo>
                      <a:pt x="35202" y="49"/>
                      <a:pt x="49" y="35202"/>
                      <a:pt x="0" y="78581"/>
                    </a:cubicBezTo>
                    <a:cubicBezTo>
                      <a:pt x="0" y="106620"/>
                      <a:pt x="12957" y="136338"/>
                      <a:pt x="37505" y="164529"/>
                    </a:cubicBezTo>
                    <a:cubicBezTo>
                      <a:pt x="48535" y="177268"/>
                      <a:pt x="60949" y="188739"/>
                      <a:pt x="74518" y="198730"/>
                    </a:cubicBezTo>
                    <a:cubicBezTo>
                      <a:pt x="76979" y="200454"/>
                      <a:pt x="80255" y="200454"/>
                      <a:pt x="82716" y="198730"/>
                    </a:cubicBezTo>
                    <a:cubicBezTo>
                      <a:pt x="96260" y="188735"/>
                      <a:pt x="108650" y="177264"/>
                      <a:pt x="119658" y="164529"/>
                    </a:cubicBezTo>
                    <a:cubicBezTo>
                      <a:pt x="144170" y="136338"/>
                      <a:pt x="157162" y="106620"/>
                      <a:pt x="157162" y="78581"/>
                    </a:cubicBezTo>
                    <a:cubicBezTo>
                      <a:pt x="157113" y="35202"/>
                      <a:pt x="121960" y="49"/>
                      <a:pt x="78581" y="0"/>
                    </a:cubicBezTo>
                    <a:close/>
                    <a:moveTo>
                      <a:pt x="78581" y="183952"/>
                    </a:moveTo>
                    <a:cubicBezTo>
                      <a:pt x="63820" y="172343"/>
                      <a:pt x="14288" y="129704"/>
                      <a:pt x="14288" y="78581"/>
                    </a:cubicBezTo>
                    <a:cubicBezTo>
                      <a:pt x="14288" y="43073"/>
                      <a:pt x="43073" y="14288"/>
                      <a:pt x="78581" y="14288"/>
                    </a:cubicBezTo>
                    <a:cubicBezTo>
                      <a:pt x="114090" y="14288"/>
                      <a:pt x="142875" y="43073"/>
                      <a:pt x="142875" y="78581"/>
                    </a:cubicBezTo>
                    <a:cubicBezTo>
                      <a:pt x="142875" y="129686"/>
                      <a:pt x="93342" y="172343"/>
                      <a:pt x="78581" y="183952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2" name="Ellipse 22"/>
            <p:cNvSpPr/>
            <p:nvPr/>
          </p:nvSpPr>
          <p:spPr>
            <a:xfrm>
              <a:off x="2762250" y="3048000"/>
              <a:ext cx="266700" cy="266700"/>
            </a:xfrm>
            <a:prstGeom prst="ellipse">
              <a:avLst/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2849516" y="3131820"/>
              <a:ext cx="92169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3</a:t>
              </a:r>
            </a:p>
          </p:txBody>
        </p:sp>
        <p:sp>
          <p:nvSpPr>
            <p:cNvPr id="24" name="Ellipse 24"/>
            <p:cNvSpPr/>
            <p:nvPr/>
          </p:nvSpPr>
          <p:spPr>
            <a:xfrm>
              <a:off x="2971800" y="3790950"/>
              <a:ext cx="304800" cy="304800"/>
            </a:xfrm>
            <a:prstGeom prst="ellipse">
              <a:avLst/>
            </a:prstGeom>
            <a:solidFill>
              <a:srgbClr val="FFB703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062754" y="3870960"/>
              <a:ext cx="1228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★</a:t>
              </a:r>
            </a:p>
          </p:txBody>
        </p:sp>
        <p:sp>
          <p:nvSpPr>
            <p:cNvPr id="26" name="Rectangle 26"/>
            <p:cNvSpPr/>
            <p:nvPr/>
          </p:nvSpPr>
          <p:spPr>
            <a:xfrm>
              <a:off x="1562100" y="4591050"/>
              <a:ext cx="1866900" cy="723900"/>
            </a:xfrm>
            <a:prstGeom prst="roundRect">
              <a:avLst>
                <a:gd name="adj" fmla="val 23684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739265" y="4763452"/>
              <a:ext cx="761762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二食堂窗口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741170" y="5027295"/>
              <a:ext cx="182308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聚合点含收藏商家，低缩放仍可读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4343400" y="3181350"/>
            <a:ext cx="3352800" cy="1042988"/>
            <a:chOff x="4343400" y="3181350"/>
            <a:chExt cx="3352800" cy="1042988"/>
          </a:xfrm>
        </p:grpSpPr>
        <p:sp>
          <p:nvSpPr>
            <p:cNvPr id="30" name="Line 30"/>
            <p:cNvSpPr/>
            <p:nvPr/>
          </p:nvSpPr>
          <p:spPr>
            <a:xfrm>
              <a:off x="4343400" y="3638550"/>
              <a:ext cx="3352800" cy="1"/>
            </a:xfrm>
            <a:prstGeom prst="line">
              <a:avLst/>
            </a:prstGeom>
            <a:noFill/>
            <a:ln w="47625" cap="rnd">
              <a:solidFill>
                <a:srgbClr val="3A86FF"/>
              </a:solidFill>
              <a:tailEnd type="triangle" w="lg" len="lg"/>
            </a:ln>
          </p:spPr>
        </p:sp>
        <p:sp>
          <p:nvSpPr>
            <p:cNvPr id="31" name="Rectangle 31"/>
            <p:cNvSpPr/>
            <p:nvPr/>
          </p:nvSpPr>
          <p:spPr>
            <a:xfrm>
              <a:off x="5162550" y="3181350"/>
              <a:ext cx="171450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5668518" y="329946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吃过之后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24608" y="395001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体验回流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8172450" y="1428750"/>
            <a:ext cx="2705100" cy="4457700"/>
            <a:chOff x="8172450" y="1428750"/>
            <a:chExt cx="2705100" cy="4457700"/>
          </a:xfrm>
        </p:grpSpPr>
        <p:sp>
          <p:nvSpPr>
            <p:cNvPr id="35" name="Rectangle 35"/>
            <p:cNvSpPr/>
            <p:nvPr/>
          </p:nvSpPr>
          <p:spPr>
            <a:xfrm>
              <a:off x="8172450" y="1428750"/>
              <a:ext cx="2705100" cy="4457700"/>
            </a:xfrm>
            <a:prstGeom prst="roundRect">
              <a:avLst>
                <a:gd name="adj" fmla="val 14789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36" name="Rectangle 36"/>
            <p:cNvSpPr/>
            <p:nvPr/>
          </p:nvSpPr>
          <p:spPr>
            <a:xfrm>
              <a:off x="8362950" y="1638300"/>
              <a:ext cx="2324100" cy="4038600"/>
            </a:xfrm>
            <a:prstGeom prst="roundRect">
              <a:avLst>
                <a:gd name="adj" fmla="val 12295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8576310" y="19088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我也吃过</a:t>
              </a:r>
            </a:p>
          </p:txBody>
        </p:sp>
        <p:sp>
          <p:nvSpPr>
            <p:cNvPr id="38" name="Rectangle 38"/>
            <p:cNvSpPr/>
            <p:nvPr/>
          </p:nvSpPr>
          <p:spPr>
            <a:xfrm>
              <a:off x="8591550" y="2266950"/>
              <a:ext cx="186690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8768715" y="2420302"/>
              <a:ext cx="90878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藤椒鸡双拼饭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8771572" y="2635091"/>
              <a:ext cx="102758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二食堂 · 已选择菜品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8578215" y="3068002"/>
              <a:ext cx="320707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评分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9121140" y="3006090"/>
              <a:ext cx="705802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FFB703"/>
                  </a:solidFill>
                  <a:latin typeface="Arial"/>
                  <a:ea typeface="Microsoft YaHei"/>
                  <a:cs typeface="Arial"/>
                </a:rPr>
                <a:t>★★★★★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8591550" y="3429000"/>
              <a:ext cx="1866900" cy="800100"/>
            </a:xfrm>
            <a:prstGeom prst="roundRect">
              <a:avLst>
                <a:gd name="adj" fmla="val 21429"/>
              </a:avLst>
            </a:prstGeom>
            <a:solidFill>
              <a:srgbClr val="FBFFF7"/>
            </a:solidFill>
            <a:ln w="11430">
              <a:solidFill>
                <a:srgbClr val="BFD9CC"/>
              </a:solidFill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8770620" y="3617595"/>
              <a:ext cx="940975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写下真实体验...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8591550" y="4400550"/>
              <a:ext cx="514350" cy="514350"/>
            </a:xfrm>
            <a:prstGeom prst="roundRect">
              <a:avLst>
                <a:gd name="adj" fmla="val 25926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8751404" y="4564849"/>
              <a:ext cx="197813" cy="193015"/>
              <a:chOff x="8751404" y="4564849"/>
              <a:chExt cx="197813" cy="193015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8756471" y="4564863"/>
                <a:ext cx="177983" cy="182440"/>
              </a:xfrm>
              <a:custGeom>
                <a:avLst/>
                <a:gdLst/>
                <a:ahLst/>
                <a:cxnLst/>
                <a:rect l="l" t="t" r="r" b="b"/>
                <a:pathLst>
                  <a:path w="177983" h="182440">
                    <a:moveTo>
                      <a:pt x="177979" y="92862"/>
                    </a:moveTo>
                    <a:cubicBezTo>
                      <a:pt x="177983" y="123504"/>
                      <a:pt x="161632" y="151817"/>
                      <a:pt x="135090" y="167128"/>
                    </a:cubicBezTo>
                    <a:cubicBezTo>
                      <a:pt x="108549" y="182440"/>
                      <a:pt x="75853" y="182420"/>
                      <a:pt x="49329" y="167077"/>
                    </a:cubicBezTo>
                    <a:lnTo>
                      <a:pt x="49329" y="167077"/>
                    </a:lnTo>
                    <a:lnTo>
                      <a:pt x="15941" y="178212"/>
                    </a:lnTo>
                    <a:cubicBezTo>
                      <a:pt x="13374" y="179068"/>
                      <a:pt x="10543" y="178400"/>
                      <a:pt x="8630" y="176487"/>
                    </a:cubicBezTo>
                    <a:cubicBezTo>
                      <a:pt x="6716" y="174573"/>
                      <a:pt x="6048" y="171743"/>
                      <a:pt x="6904" y="169175"/>
                    </a:cubicBezTo>
                    <a:lnTo>
                      <a:pt x="18040" y="135787"/>
                    </a:lnTo>
                    <a:lnTo>
                      <a:pt x="18040" y="135787"/>
                    </a:lnTo>
                    <a:cubicBezTo>
                      <a:pt x="0" y="104584"/>
                      <a:pt x="3405" y="65430"/>
                      <a:pt x="26560" y="37809"/>
                    </a:cubicBezTo>
                    <a:cubicBezTo>
                      <a:pt x="49714" y="10188"/>
                      <a:pt x="87673" y="0"/>
                      <a:pt x="121547" y="12316"/>
                    </a:cubicBezTo>
                    <a:cubicBezTo>
                      <a:pt x="155420" y="24631"/>
                      <a:pt x="177972" y="56820"/>
                      <a:pt x="177979" y="92862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8751404" y="4564849"/>
                <a:ext cx="197813" cy="193015"/>
              </a:xfrm>
              <a:custGeom>
                <a:avLst/>
                <a:gdLst/>
                <a:ahLst/>
                <a:cxnLst/>
                <a:rect l="l" t="t" r="r" b="b"/>
                <a:pathLst>
                  <a:path w="197813" h="193015">
                    <a:moveTo>
                      <a:pt x="97321" y="7"/>
                    </a:moveTo>
                    <a:cubicBezTo>
                      <a:pt x="64707" y="0"/>
                      <a:pt x="34480" y="17101"/>
                      <a:pt x="17688" y="45060"/>
                    </a:cubicBezTo>
                    <a:cubicBezTo>
                      <a:pt x="895" y="73019"/>
                      <a:pt x="0" y="107737"/>
                      <a:pt x="15329" y="136524"/>
                    </a:cubicBezTo>
                    <a:lnTo>
                      <a:pt x="5193" y="166930"/>
                    </a:lnTo>
                    <a:cubicBezTo>
                      <a:pt x="3481" y="172064"/>
                      <a:pt x="4817" y="177725"/>
                      <a:pt x="8644" y="181553"/>
                    </a:cubicBezTo>
                    <a:cubicBezTo>
                      <a:pt x="12471" y="185380"/>
                      <a:pt x="18133" y="186716"/>
                      <a:pt x="23267" y="185003"/>
                    </a:cubicBezTo>
                    <a:lnTo>
                      <a:pt x="53673" y="174868"/>
                    </a:lnTo>
                    <a:cubicBezTo>
                      <a:pt x="87790" y="193015"/>
                      <a:pt x="129579" y="188138"/>
                      <a:pt x="158601" y="162623"/>
                    </a:cubicBezTo>
                    <a:cubicBezTo>
                      <a:pt x="187623" y="137108"/>
                      <a:pt x="197813" y="96288"/>
                      <a:pt x="184186" y="60127"/>
                    </a:cubicBezTo>
                    <a:cubicBezTo>
                      <a:pt x="170559" y="23967"/>
                      <a:pt x="135964" y="23"/>
                      <a:pt x="97321" y="7"/>
                    </a:cubicBezTo>
                    <a:close/>
                    <a:moveTo>
                      <a:pt x="97321" y="171457"/>
                    </a:moveTo>
                    <a:cubicBezTo>
                      <a:pt x="83507" y="171467"/>
                      <a:pt x="69934" y="167829"/>
                      <a:pt x="57977" y="160911"/>
                    </a:cubicBezTo>
                    <a:cubicBezTo>
                      <a:pt x="56206" y="159884"/>
                      <a:pt x="54079" y="159666"/>
                      <a:pt x="52137" y="160313"/>
                    </a:cubicBezTo>
                    <a:lnTo>
                      <a:pt x="18740" y="171457"/>
                    </a:lnTo>
                    <a:lnTo>
                      <a:pt x="29875" y="138060"/>
                    </a:lnTo>
                    <a:cubicBezTo>
                      <a:pt x="30524" y="136119"/>
                      <a:pt x="30310" y="133992"/>
                      <a:pt x="29286" y="132220"/>
                    </a:cubicBezTo>
                    <a:cubicBezTo>
                      <a:pt x="11476" y="101429"/>
                      <a:pt x="16571" y="62514"/>
                      <a:pt x="41708" y="37346"/>
                    </a:cubicBezTo>
                    <a:cubicBezTo>
                      <a:pt x="66844" y="12177"/>
                      <a:pt x="105753" y="7033"/>
                      <a:pt x="136566" y="24804"/>
                    </a:cubicBezTo>
                    <a:cubicBezTo>
                      <a:pt x="167380" y="42575"/>
                      <a:pt x="182414" y="78828"/>
                      <a:pt x="173218" y="113190"/>
                    </a:cubicBezTo>
                    <a:cubicBezTo>
                      <a:pt x="164023" y="147552"/>
                      <a:pt x="132892" y="171451"/>
                      <a:pt x="97321" y="171457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9" name="Rectangle 49"/>
            <p:cNvSpPr/>
            <p:nvPr/>
          </p:nvSpPr>
          <p:spPr>
            <a:xfrm>
              <a:off x="9239250" y="4400550"/>
              <a:ext cx="514350" cy="514350"/>
            </a:xfrm>
            <a:prstGeom prst="roundRect">
              <a:avLst>
                <a:gd name="adj" fmla="val 25926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  <a:prstDash val="dash"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9429774" y="4559618"/>
              <a:ext cx="13330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+</a:t>
              </a:r>
            </a:p>
          </p:txBody>
        </p:sp>
        <p:sp>
          <p:nvSpPr>
            <p:cNvPr id="51" name="Rectangle 51"/>
            <p:cNvSpPr/>
            <p:nvPr/>
          </p:nvSpPr>
          <p:spPr>
            <a:xfrm>
              <a:off x="8591550" y="5124450"/>
              <a:ext cx="1866900" cy="32385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9217628" y="5220652"/>
              <a:ext cx="614744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提交审核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428750" y="6153150"/>
            <a:ext cx="8839200" cy="342900"/>
            <a:chOff x="1428750" y="6153150"/>
            <a:chExt cx="8839200" cy="342900"/>
          </a:xfrm>
        </p:grpSpPr>
        <p:sp>
          <p:nvSpPr>
            <p:cNvPr id="54" name="Rectangle 54"/>
            <p:cNvSpPr/>
            <p:nvPr/>
          </p:nvSpPr>
          <p:spPr>
            <a:xfrm>
              <a:off x="1428750" y="6153150"/>
              <a:ext cx="200025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1554432" y="6258878"/>
              <a:ext cx="1748885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普通点 / 聚合点 / 收藏星标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172450" y="6153150"/>
              <a:ext cx="2095500" cy="3429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85775" y="6258878"/>
              <a:ext cx="146885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文字 / 图片 / 审核状态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342900" y="1066800"/>
              <a:ext cx="11506200" cy="5257800"/>
            </a:xfrm>
            <a:prstGeom prst="roundRect">
              <a:avLst>
                <a:gd name="adj" fmla="val 5797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256408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后台保证可治理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389496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商家、菜品、评价、导入和审计都可维护、可追踪。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08 / 16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66750" y="1428750"/>
            <a:ext cx="7429500" cy="4476750"/>
            <a:chOff x="666750" y="1428750"/>
            <a:chExt cx="7429500" cy="4476750"/>
          </a:xfrm>
        </p:grpSpPr>
        <p:sp>
          <p:nvSpPr>
            <p:cNvPr id="9" name="Rectangle 9"/>
            <p:cNvSpPr/>
            <p:nvPr/>
          </p:nvSpPr>
          <p:spPr>
            <a:xfrm>
              <a:off x="666750" y="1428750"/>
              <a:ext cx="7429500" cy="4476750"/>
            </a:xfrm>
            <a:prstGeom prst="roundRect">
              <a:avLst>
                <a:gd name="adj" fmla="val 5957"/>
              </a:avLst>
            </a:prstGeom>
            <a:solidFill>
              <a:srgbClr val="182026"/>
            </a:solidFill>
            <a:ln>
              <a:noFill/>
            </a:ln>
          </p:spPr>
        </p:sp>
        <p:sp>
          <p:nvSpPr>
            <p:cNvPr id="10" name="Rectangle 10"/>
            <p:cNvSpPr/>
            <p:nvPr/>
          </p:nvSpPr>
          <p:spPr>
            <a:xfrm>
              <a:off x="857250" y="1695450"/>
              <a:ext cx="7048500" cy="3943350"/>
            </a:xfrm>
            <a:prstGeom prst="roundRect">
              <a:avLst>
                <a:gd name="adj" fmla="val 4348"/>
              </a:avLst>
            </a:prstGeom>
            <a:solidFill>
              <a:srgbClr val="FFFFFF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857250" y="1695450"/>
              <a:ext cx="1600200" cy="3943350"/>
            </a:xfrm>
            <a:prstGeom prst="roundRect">
              <a:avLst>
                <a:gd name="adj" fmla="val 10714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12" name="Rectangle 12"/>
            <p:cNvSpPr/>
            <p:nvPr/>
          </p:nvSpPr>
          <p:spPr>
            <a:xfrm>
              <a:off x="857250" y="5334000"/>
              <a:ext cx="1600200" cy="304800"/>
            </a:xfrm>
            <a:prstGeom prst="rect">
              <a:avLst/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15" name="Group 15"/>
            <p:cNvGrpSpPr/>
            <p:nvPr/>
          </p:nvGrpSpPr>
          <p:grpSpPr>
            <a:xfrm>
              <a:off x="1154311" y="2031801"/>
              <a:ext cx="263127" cy="242887"/>
              <a:chOff x="1154311" y="2031801"/>
              <a:chExt cx="263127" cy="242887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1164431" y="2041922"/>
                <a:ext cx="242887" cy="131564"/>
              </a:xfrm>
              <a:custGeom>
                <a:avLst/>
                <a:gdLst/>
                <a:ahLst/>
                <a:cxnLst/>
                <a:rect l="l" t="t" r="r" b="b"/>
                <a:pathLst>
                  <a:path w="242887" h="131564">
                    <a:moveTo>
                      <a:pt x="242887" y="20241"/>
                    </a:moveTo>
                    <a:lnTo>
                      <a:pt x="242887" y="131564"/>
                    </a:lnTo>
                    <a:lnTo>
                      <a:pt x="0" y="131564"/>
                    </a:lnTo>
                    <a:lnTo>
                      <a:pt x="0" y="20241"/>
                    </a:lnTo>
                    <a:cubicBezTo>
                      <a:pt x="0" y="9062"/>
                      <a:pt x="9062" y="0"/>
                      <a:pt x="20241" y="0"/>
                    </a:cubicBezTo>
                    <a:lnTo>
                      <a:pt x="222646" y="0"/>
                    </a:lnTo>
                    <a:cubicBezTo>
                      <a:pt x="233825" y="0"/>
                      <a:pt x="242887" y="9062"/>
                      <a:pt x="242887" y="20241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4" name="Freeform 14"/>
              <p:cNvSpPr/>
              <p:nvPr/>
            </p:nvSpPr>
            <p:spPr>
              <a:xfrm>
                <a:off x="1154311" y="2031801"/>
                <a:ext cx="263127" cy="242887"/>
              </a:xfrm>
              <a:custGeom>
                <a:avLst/>
                <a:gdLst/>
                <a:ahLst/>
                <a:cxnLst/>
                <a:rect l="l" t="t" r="r" b="b"/>
                <a:pathLst>
                  <a:path w="263127" h="242887">
                    <a:moveTo>
                      <a:pt x="232766" y="0"/>
                    </a:moveTo>
                    <a:lnTo>
                      <a:pt x="30361" y="0"/>
                    </a:lnTo>
                    <a:cubicBezTo>
                      <a:pt x="13593" y="0"/>
                      <a:pt x="0" y="13593"/>
                      <a:pt x="0" y="30361"/>
                    </a:cubicBezTo>
                    <a:lnTo>
                      <a:pt x="0" y="172045"/>
                    </a:lnTo>
                    <a:cubicBezTo>
                      <a:pt x="0" y="188812"/>
                      <a:pt x="13593" y="202405"/>
                      <a:pt x="30361" y="202405"/>
                    </a:cubicBezTo>
                    <a:lnTo>
                      <a:pt x="121443" y="202405"/>
                    </a:lnTo>
                    <a:lnTo>
                      <a:pt x="121443" y="222646"/>
                    </a:lnTo>
                    <a:lnTo>
                      <a:pt x="91082" y="222646"/>
                    </a:lnTo>
                    <a:cubicBezTo>
                      <a:pt x="85493" y="222646"/>
                      <a:pt x="80962" y="227177"/>
                      <a:pt x="80962" y="232766"/>
                    </a:cubicBezTo>
                    <a:cubicBezTo>
                      <a:pt x="80962" y="238356"/>
                      <a:pt x="85493" y="242887"/>
                      <a:pt x="91082" y="242887"/>
                    </a:cubicBezTo>
                    <a:lnTo>
                      <a:pt x="172045" y="242887"/>
                    </a:lnTo>
                    <a:cubicBezTo>
                      <a:pt x="177634" y="242887"/>
                      <a:pt x="182165" y="238356"/>
                      <a:pt x="182165" y="232766"/>
                    </a:cubicBezTo>
                    <a:cubicBezTo>
                      <a:pt x="182165" y="227177"/>
                      <a:pt x="177634" y="222646"/>
                      <a:pt x="172045" y="222646"/>
                    </a:cubicBezTo>
                    <a:lnTo>
                      <a:pt x="141684" y="222646"/>
                    </a:lnTo>
                    <a:lnTo>
                      <a:pt x="141684" y="202405"/>
                    </a:lnTo>
                    <a:lnTo>
                      <a:pt x="232766" y="202405"/>
                    </a:lnTo>
                    <a:cubicBezTo>
                      <a:pt x="249534" y="202405"/>
                      <a:pt x="263127" y="188812"/>
                      <a:pt x="263127" y="172045"/>
                    </a:cubicBezTo>
                    <a:lnTo>
                      <a:pt x="263127" y="30361"/>
                    </a:lnTo>
                    <a:cubicBezTo>
                      <a:pt x="263127" y="13593"/>
                      <a:pt x="249534" y="0"/>
                      <a:pt x="232766" y="0"/>
                    </a:cubicBezTo>
                    <a:close/>
                    <a:moveTo>
                      <a:pt x="30361" y="20241"/>
                    </a:moveTo>
                    <a:lnTo>
                      <a:pt x="232766" y="20241"/>
                    </a:lnTo>
                    <a:cubicBezTo>
                      <a:pt x="238356" y="20241"/>
                      <a:pt x="242887" y="24772"/>
                      <a:pt x="242887" y="30361"/>
                    </a:cubicBezTo>
                    <a:lnTo>
                      <a:pt x="242887" y="131564"/>
                    </a:lnTo>
                    <a:lnTo>
                      <a:pt x="20241" y="131564"/>
                    </a:lnTo>
                    <a:lnTo>
                      <a:pt x="20241" y="30361"/>
                    </a:lnTo>
                    <a:cubicBezTo>
                      <a:pt x="20241" y="24772"/>
                      <a:pt x="24772" y="20241"/>
                      <a:pt x="30361" y="20241"/>
                    </a:cubicBezTo>
                    <a:close/>
                    <a:moveTo>
                      <a:pt x="232766" y="182165"/>
                    </a:moveTo>
                    <a:lnTo>
                      <a:pt x="30361" y="182165"/>
                    </a:lnTo>
                    <a:cubicBezTo>
                      <a:pt x="24772" y="182165"/>
                      <a:pt x="20241" y="177634"/>
                      <a:pt x="20241" y="172045"/>
                    </a:cubicBezTo>
                    <a:lnTo>
                      <a:pt x="20241" y="151804"/>
                    </a:lnTo>
                    <a:lnTo>
                      <a:pt x="242887" y="151804"/>
                    </a:lnTo>
                    <a:lnTo>
                      <a:pt x="242887" y="172045"/>
                    </a:lnTo>
                    <a:cubicBezTo>
                      <a:pt x="242887" y="177634"/>
                      <a:pt x="238356" y="182165"/>
                      <a:pt x="232766" y="18216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6" name="TextBox 16"/>
            <p:cNvSpPr txBox="1"/>
            <p:nvPr/>
          </p:nvSpPr>
          <p:spPr>
            <a:xfrm>
              <a:off x="1527810" y="2070735"/>
              <a:ext cx="4841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Admin</a:t>
              </a:r>
            </a:p>
          </p:txBody>
        </p:sp>
        <p:grpSp>
          <p:nvGrpSpPr>
            <p:cNvPr id="22" name="Group 22"/>
            <p:cNvGrpSpPr/>
            <p:nvPr/>
          </p:nvGrpSpPr>
          <p:grpSpPr>
            <a:xfrm>
              <a:off x="1066800" y="2705100"/>
              <a:ext cx="1162050" cy="1674019"/>
              <a:chOff x="1066800" y="2705100"/>
              <a:chExt cx="1162050" cy="1674019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66800" y="2705100"/>
                <a:ext cx="1162050" cy="323850"/>
              </a:xfrm>
              <a:prstGeom prst="roundRect">
                <a:avLst>
                  <a:gd name="adj" fmla="val 50000"/>
                </a:avLst>
              </a:pr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340168" y="2809399"/>
                <a:ext cx="570833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评价审核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340168" y="32665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84000"/>
                      </a:srgbClr>
                    </a:solidFill>
                    <a:latin typeface="Arial"/>
                    <a:ea typeface="Microsoft YaHei"/>
                    <a:cs typeface="Arial"/>
                  </a:rPr>
                  <a:t>商家菜品</a:t>
                </a: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1340168" y="3723799"/>
                <a:ext cx="538329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84000"/>
                      </a:srgbClr>
                    </a:solidFill>
                    <a:latin typeface="Arial"/>
                    <a:ea typeface="Microsoft YaHei"/>
                    <a:cs typeface="Arial"/>
                  </a:rPr>
                  <a:t>CSV 导入</a:t>
                </a:r>
              </a:p>
            </p:txBody>
          </p:sp>
          <p:sp>
            <p:nvSpPr>
              <p:cNvPr id="21" name="TextBox 21"/>
              <p:cNvSpPr txBox="1"/>
              <p:nvPr/>
            </p:nvSpPr>
            <p:spPr>
              <a:xfrm>
                <a:off x="1340168" y="4180999"/>
                <a:ext cx="54483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FFFFFF">
                        <a:alphaMod val="84000"/>
                      </a:srgbClr>
                    </a:solidFill>
                    <a:latin typeface="Arial"/>
                    <a:ea typeface="Microsoft YaHei"/>
                    <a:cs typeface="Arial"/>
                  </a:rPr>
                  <a:t>审计日志</a:t>
                </a:r>
              </a:p>
            </p:txBody>
          </p:sp>
        </p:grpSp>
        <p:grpSp>
          <p:nvGrpSpPr>
            <p:cNvPr id="42" name="Group 42"/>
            <p:cNvGrpSpPr/>
            <p:nvPr/>
          </p:nvGrpSpPr>
          <p:grpSpPr>
            <a:xfrm>
              <a:off x="2760345" y="1962150"/>
              <a:ext cx="4783455" cy="3124200"/>
              <a:chOff x="2760345" y="1962150"/>
              <a:chExt cx="4783455" cy="3124200"/>
            </a:xfrm>
          </p:grpSpPr>
          <p:sp>
            <p:nvSpPr>
              <p:cNvPr id="23" name="TextBox 23"/>
              <p:cNvSpPr txBox="1"/>
              <p:nvPr/>
            </p:nvSpPr>
            <p:spPr>
              <a:xfrm>
                <a:off x="2760345" y="2012632"/>
                <a:ext cx="1428083" cy="3352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6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评价审核队列</a:t>
                </a:r>
              </a:p>
            </p:txBody>
          </p:sp>
          <p:sp>
            <p:nvSpPr>
              <p:cNvPr id="24" name="Rectangle 24"/>
              <p:cNvSpPr/>
              <p:nvPr/>
            </p:nvSpPr>
            <p:spPr>
              <a:xfrm>
                <a:off x="6191250" y="1962150"/>
                <a:ext cx="1257300" cy="3429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25" name="TextBox 25"/>
              <p:cNvSpPr txBox="1"/>
              <p:nvPr/>
            </p:nvSpPr>
            <p:spPr>
              <a:xfrm>
                <a:off x="6507180" y="2075974"/>
                <a:ext cx="625440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975" b="1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待处理 12</a:t>
                </a:r>
              </a:p>
            </p:txBody>
          </p:sp>
          <p:sp>
            <p:nvSpPr>
              <p:cNvPr id="26" name="Line 26"/>
              <p:cNvSpPr/>
              <p:nvPr/>
            </p:nvSpPr>
            <p:spPr>
              <a:xfrm>
                <a:off x="2781300" y="2571750"/>
                <a:ext cx="4762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4762500" h="9525">
                    <a:moveTo>
                      <a:pt x="0" y="0"/>
                    </a:moveTo>
                    <a:lnTo>
                      <a:pt x="4762500" y="0"/>
                    </a:lnTo>
                  </a:path>
                </a:pathLst>
              </a:custGeom>
              <a:noFill/>
              <a:ln w="19050">
                <a:solidFill>
                  <a:srgbClr val="DCEBE3"/>
                </a:solidFill>
              </a:ln>
            </p:spPr>
          </p:sp>
          <p:sp>
            <p:nvSpPr>
              <p:cNvPr id="27" name="Rectangle 27"/>
              <p:cNvSpPr/>
              <p:nvPr/>
            </p:nvSpPr>
            <p:spPr>
              <a:xfrm>
                <a:off x="2781300" y="2838450"/>
                <a:ext cx="47625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BFFF7"/>
              </a:solidFill>
              <a:ln w="9525">
                <a:solidFill>
                  <a:srgbClr val="BFD9CC"/>
                </a:solidFill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2977515" y="2991802"/>
                <a:ext cx="1665925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藤椒鸡双拼饭 · 五星评价</a:t>
                </a: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2980372" y="3206591"/>
                <a:ext cx="183068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图片 1 张 · 规则通过 · 等待人工确认</a:t>
                </a:r>
              </a:p>
            </p:txBody>
          </p:sp>
          <p:sp>
            <p:nvSpPr>
              <p:cNvPr id="30" name="Rectangle 30"/>
              <p:cNvSpPr/>
              <p:nvPr/>
            </p:nvSpPr>
            <p:spPr>
              <a:xfrm>
                <a:off x="6591300" y="2971800"/>
                <a:ext cx="7048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1F8A70"/>
              </a:solidFill>
              <a:ln>
                <a:noFill/>
              </a:ln>
            </p:spPr>
          </p:sp>
          <p:sp>
            <p:nvSpPr>
              <p:cNvPr id="31" name="TextBox 31"/>
              <p:cNvSpPr txBox="1"/>
              <p:nvPr/>
            </p:nvSpPr>
            <p:spPr>
              <a:xfrm>
                <a:off x="6817733" y="3035141"/>
                <a:ext cx="25198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FFFFFF"/>
                    </a:solidFill>
                    <a:latin typeface="Arial"/>
                    <a:ea typeface="Microsoft YaHei"/>
                    <a:cs typeface="Arial"/>
                  </a:rPr>
                  <a:t>通过</a:t>
                </a:r>
              </a:p>
            </p:txBody>
          </p:sp>
          <p:sp>
            <p:nvSpPr>
              <p:cNvPr id="32" name="Rectangle 32"/>
              <p:cNvSpPr/>
              <p:nvPr/>
            </p:nvSpPr>
            <p:spPr>
              <a:xfrm>
                <a:off x="2781300" y="3524250"/>
                <a:ext cx="4762500" cy="514350"/>
              </a:xfrm>
              <a:prstGeom prst="roundRect">
                <a:avLst>
                  <a:gd name="adj" fmla="val 25926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sp>
            <p:nvSpPr>
              <p:cNvPr id="33" name="TextBox 33"/>
              <p:cNvSpPr txBox="1"/>
              <p:nvPr/>
            </p:nvSpPr>
            <p:spPr>
              <a:xfrm>
                <a:off x="2977515" y="3677602"/>
                <a:ext cx="1202817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商家地图选点更新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2980372" y="3892391"/>
                <a:ext cx="1665661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825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WGS-84 坐标记录 · 管理员 admin</a:t>
                </a:r>
              </a:p>
            </p:txBody>
          </p:sp>
          <p:sp>
            <p:nvSpPr>
              <p:cNvPr id="35" name="Rectangle 35"/>
              <p:cNvSpPr/>
              <p:nvPr/>
            </p:nvSpPr>
            <p:spPr>
              <a:xfrm>
                <a:off x="6591300" y="3657600"/>
                <a:ext cx="7048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36" name="TextBox 36"/>
              <p:cNvSpPr txBox="1"/>
              <p:nvPr/>
            </p:nvSpPr>
            <p:spPr>
              <a:xfrm>
                <a:off x="6817733" y="3720941"/>
                <a:ext cx="251984" cy="1676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zh-CN" sz="825" b="1" dirty="0">
                    <a:solidFill>
                      <a:srgbClr val="1F8A70"/>
                    </a:solidFill>
                    <a:latin typeface="Arial"/>
                    <a:ea typeface="Microsoft YaHei"/>
                    <a:cs typeface="Arial"/>
                  </a:rPr>
                  <a:t>追踪</a:t>
                </a:r>
              </a:p>
            </p:txBody>
          </p:sp>
          <p:sp>
            <p:nvSpPr>
              <p:cNvPr id="37" name="Rectangle 37"/>
              <p:cNvSpPr/>
              <p:nvPr/>
            </p:nvSpPr>
            <p:spPr>
              <a:xfrm>
                <a:off x="2781300" y="4210050"/>
                <a:ext cx="4762500" cy="876300"/>
              </a:xfrm>
              <a:prstGeom prst="roundRect">
                <a:avLst>
                  <a:gd name="adj" fmla="val 15217"/>
                </a:avLst>
              </a:prstGeom>
              <a:solidFill>
                <a:srgbClr val="FBFFF7"/>
              </a:solidFill>
              <a:ln w="9525">
                <a:solidFill>
                  <a:srgbClr val="BFD9CC"/>
                </a:solidFill>
              </a:ln>
            </p:spPr>
          </p:sp>
          <p:sp>
            <p:nvSpPr>
              <p:cNvPr id="38" name="TextBox 38"/>
              <p:cNvSpPr txBox="1"/>
              <p:nvPr/>
            </p:nvSpPr>
            <p:spPr>
              <a:xfrm>
                <a:off x="2977515" y="4363402"/>
                <a:ext cx="754411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CSV 预校验</a:t>
                </a:r>
              </a:p>
            </p:txBody>
          </p:sp>
          <p:sp>
            <p:nvSpPr>
              <p:cNvPr id="39" name="Rectangle 39"/>
              <p:cNvSpPr/>
              <p:nvPr/>
            </p:nvSpPr>
            <p:spPr>
              <a:xfrm>
                <a:off x="2990850" y="4648200"/>
                <a:ext cx="42100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EAF7EF"/>
              </a:solidFill>
              <a:ln>
                <a:noFill/>
              </a:ln>
            </p:spPr>
          </p:sp>
          <p:sp>
            <p:nvSpPr>
              <p:cNvPr id="40" name="Rectangle 40"/>
              <p:cNvSpPr/>
              <p:nvPr/>
            </p:nvSpPr>
            <p:spPr>
              <a:xfrm>
                <a:off x="2990850" y="4648200"/>
                <a:ext cx="3143250" cy="228600"/>
              </a:xfrm>
              <a:prstGeom prst="roundRect">
                <a:avLst>
                  <a:gd name="adj" fmla="val 50000"/>
                </a:avLst>
              </a:prstGeom>
              <a:solidFill>
                <a:srgbClr val="22A06B"/>
              </a:solidFill>
              <a:ln>
                <a:noFill/>
              </a:ln>
            </p:spPr>
          </p:sp>
          <p:sp>
            <p:nvSpPr>
              <p:cNvPr id="41" name="TextBox 41"/>
              <p:cNvSpPr txBox="1"/>
              <p:nvPr/>
            </p:nvSpPr>
            <p:spPr>
              <a:xfrm>
                <a:off x="5624608" y="4712970"/>
                <a:ext cx="1721072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r"/>
                <a:r>
                  <a:rPr lang="zh-CN" sz="90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字段 / 行级错误先返回，再导入</a:t>
                </a:r>
              </a:p>
            </p:txBody>
          </p:sp>
        </p:grpSp>
      </p:grpSp>
      <p:grpSp>
        <p:nvGrpSpPr>
          <p:cNvPr id="62" name="Group 62"/>
          <p:cNvGrpSpPr/>
          <p:nvPr/>
        </p:nvGrpSpPr>
        <p:grpSpPr>
          <a:xfrm>
            <a:off x="8477250" y="1485900"/>
            <a:ext cx="3121818" cy="4000500"/>
            <a:chOff x="8477250" y="1485900"/>
            <a:chExt cx="3121818" cy="4000500"/>
          </a:xfrm>
        </p:grpSpPr>
        <p:sp>
          <p:nvSpPr>
            <p:cNvPr id="44" name="Rectangle 44"/>
            <p:cNvSpPr/>
            <p:nvPr/>
          </p:nvSpPr>
          <p:spPr>
            <a:xfrm>
              <a:off x="8477250" y="1485900"/>
              <a:ext cx="302895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7" name="Group 47"/>
            <p:cNvGrpSpPr/>
            <p:nvPr/>
          </p:nvGrpSpPr>
          <p:grpSpPr>
            <a:xfrm>
              <a:off x="8825508" y="1815705"/>
              <a:ext cx="275034" cy="337539"/>
              <a:chOff x="8825508" y="1815705"/>
              <a:chExt cx="275034" cy="337539"/>
            </a:xfrm>
          </p:grpSpPr>
          <p:sp>
            <p:nvSpPr>
              <p:cNvPr id="45" name="Freeform 45"/>
              <p:cNvSpPr/>
              <p:nvPr/>
            </p:nvSpPr>
            <p:spPr>
              <a:xfrm>
                <a:off x="8838009" y="1853208"/>
                <a:ext cx="250030" cy="287535"/>
              </a:xfrm>
              <a:custGeom>
                <a:avLst/>
                <a:gdLst/>
                <a:ahLst/>
                <a:cxnLst/>
                <a:rect l="l" t="t" r="r" b="b"/>
                <a:pathLst>
                  <a:path w="250030" h="287535">
                    <a:moveTo>
                      <a:pt x="250030" y="12502"/>
                    </a:moveTo>
                    <a:lnTo>
                      <a:pt x="250030" y="275034"/>
                    </a:lnTo>
                    <a:cubicBezTo>
                      <a:pt x="250030" y="281938"/>
                      <a:pt x="244433" y="287535"/>
                      <a:pt x="237529" y="287535"/>
                    </a:cubicBezTo>
                    <a:lnTo>
                      <a:pt x="12502" y="287535"/>
                    </a:lnTo>
                    <a:cubicBezTo>
                      <a:pt x="5597" y="287535"/>
                      <a:pt x="0" y="281938"/>
                      <a:pt x="0" y="275034"/>
                    </a:cubicBezTo>
                    <a:lnTo>
                      <a:pt x="0" y="12502"/>
                    </a:lnTo>
                    <a:cubicBezTo>
                      <a:pt x="0" y="5597"/>
                      <a:pt x="5597" y="0"/>
                      <a:pt x="12502" y="0"/>
                    </a:cubicBezTo>
                    <a:lnTo>
                      <a:pt x="75009" y="0"/>
                    </a:lnTo>
                    <a:cubicBezTo>
                      <a:pt x="66877" y="10811"/>
                      <a:pt x="62488" y="23977"/>
                      <a:pt x="62508" y="37505"/>
                    </a:cubicBezTo>
                    <a:lnTo>
                      <a:pt x="62508" y="50006"/>
                    </a:lnTo>
                    <a:lnTo>
                      <a:pt x="187523" y="50006"/>
                    </a:lnTo>
                    <a:lnTo>
                      <a:pt x="187523" y="37505"/>
                    </a:lnTo>
                    <a:cubicBezTo>
                      <a:pt x="187542" y="23977"/>
                      <a:pt x="183153" y="10811"/>
                      <a:pt x="175021" y="0"/>
                    </a:cubicBezTo>
                    <a:lnTo>
                      <a:pt x="237529" y="0"/>
                    </a:lnTo>
                    <a:cubicBezTo>
                      <a:pt x="244433" y="0"/>
                      <a:pt x="250030" y="5597"/>
                      <a:pt x="250030" y="12502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6" name="Freeform 46"/>
              <p:cNvSpPr/>
              <p:nvPr/>
            </p:nvSpPr>
            <p:spPr>
              <a:xfrm>
                <a:off x="8825508" y="1815705"/>
                <a:ext cx="275034" cy="337539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337539">
                    <a:moveTo>
                      <a:pt x="200024" y="212524"/>
                    </a:moveTo>
                    <a:cubicBezTo>
                      <a:pt x="200024" y="219428"/>
                      <a:pt x="194427" y="225025"/>
                      <a:pt x="187523" y="225025"/>
                    </a:cubicBezTo>
                    <a:lnTo>
                      <a:pt x="87511" y="225025"/>
                    </a:lnTo>
                    <a:cubicBezTo>
                      <a:pt x="80606" y="225025"/>
                      <a:pt x="75009" y="219428"/>
                      <a:pt x="75009" y="212524"/>
                    </a:cubicBezTo>
                    <a:cubicBezTo>
                      <a:pt x="75009" y="205619"/>
                      <a:pt x="80606" y="200022"/>
                      <a:pt x="87511" y="200022"/>
                    </a:cubicBezTo>
                    <a:lnTo>
                      <a:pt x="187523" y="200022"/>
                    </a:lnTo>
                    <a:cubicBezTo>
                      <a:pt x="194427" y="200022"/>
                      <a:pt x="200024" y="205619"/>
                      <a:pt x="200024" y="212524"/>
                    </a:cubicBezTo>
                    <a:close/>
                    <a:moveTo>
                      <a:pt x="187523" y="150016"/>
                    </a:moveTo>
                    <a:lnTo>
                      <a:pt x="87511" y="150016"/>
                    </a:lnTo>
                    <a:cubicBezTo>
                      <a:pt x="80606" y="150016"/>
                      <a:pt x="75009" y="155613"/>
                      <a:pt x="75009" y="162518"/>
                    </a:cubicBezTo>
                    <a:cubicBezTo>
                      <a:pt x="75009" y="169422"/>
                      <a:pt x="80606" y="175019"/>
                      <a:pt x="87511" y="175019"/>
                    </a:cubicBezTo>
                    <a:lnTo>
                      <a:pt x="187523" y="175019"/>
                    </a:lnTo>
                    <a:cubicBezTo>
                      <a:pt x="194427" y="175019"/>
                      <a:pt x="200024" y="169422"/>
                      <a:pt x="200024" y="162518"/>
                    </a:cubicBezTo>
                    <a:cubicBezTo>
                      <a:pt x="200024" y="155613"/>
                      <a:pt x="194427" y="150016"/>
                      <a:pt x="187523" y="150016"/>
                    </a:cubicBezTo>
                    <a:close/>
                    <a:moveTo>
                      <a:pt x="275034" y="50004"/>
                    </a:moveTo>
                    <a:lnTo>
                      <a:pt x="275034" y="312536"/>
                    </a:lnTo>
                    <a:cubicBezTo>
                      <a:pt x="275034" y="326345"/>
                      <a:pt x="263839" y="337539"/>
                      <a:pt x="250030" y="337539"/>
                    </a:cubicBezTo>
                    <a:lnTo>
                      <a:pt x="25003" y="337539"/>
                    </a:lnTo>
                    <a:cubicBezTo>
                      <a:pt x="11194" y="337539"/>
                      <a:pt x="0" y="326345"/>
                      <a:pt x="0" y="312536"/>
                    </a:cubicBezTo>
                    <a:lnTo>
                      <a:pt x="0" y="50004"/>
                    </a:lnTo>
                    <a:cubicBezTo>
                      <a:pt x="0" y="36195"/>
                      <a:pt x="11194" y="25001"/>
                      <a:pt x="25003" y="25001"/>
                    </a:cubicBezTo>
                    <a:lnTo>
                      <a:pt x="81666" y="25001"/>
                    </a:lnTo>
                    <a:cubicBezTo>
                      <a:pt x="95873" y="9094"/>
                      <a:pt x="116189" y="0"/>
                      <a:pt x="137517" y="0"/>
                    </a:cubicBezTo>
                    <a:cubicBezTo>
                      <a:pt x="158844" y="0"/>
                      <a:pt x="179160" y="9094"/>
                      <a:pt x="193367" y="25001"/>
                    </a:cubicBezTo>
                    <a:lnTo>
                      <a:pt x="250030" y="25001"/>
                    </a:lnTo>
                    <a:cubicBezTo>
                      <a:pt x="263839" y="25001"/>
                      <a:pt x="275034" y="36195"/>
                      <a:pt x="275034" y="50004"/>
                    </a:cubicBezTo>
                    <a:close/>
                    <a:moveTo>
                      <a:pt x="87511" y="75007"/>
                    </a:moveTo>
                    <a:lnTo>
                      <a:pt x="187523" y="75007"/>
                    </a:lnTo>
                    <a:cubicBezTo>
                      <a:pt x="187523" y="47389"/>
                      <a:pt x="165134" y="25001"/>
                      <a:pt x="137517" y="25001"/>
                    </a:cubicBezTo>
                    <a:cubicBezTo>
                      <a:pt x="109899" y="25001"/>
                      <a:pt x="87511" y="47389"/>
                      <a:pt x="87511" y="75007"/>
                    </a:cubicBezTo>
                    <a:close/>
                    <a:moveTo>
                      <a:pt x="250030" y="50004"/>
                    </a:moveTo>
                    <a:lnTo>
                      <a:pt x="208229" y="50004"/>
                    </a:lnTo>
                    <a:cubicBezTo>
                      <a:pt x="211072" y="58033"/>
                      <a:pt x="212526" y="66489"/>
                      <a:pt x="212526" y="75007"/>
                    </a:cubicBezTo>
                    <a:lnTo>
                      <a:pt x="212526" y="87508"/>
                    </a:lnTo>
                    <a:cubicBezTo>
                      <a:pt x="212526" y="94413"/>
                      <a:pt x="206929" y="100010"/>
                      <a:pt x="200024" y="100010"/>
                    </a:cubicBezTo>
                    <a:lnTo>
                      <a:pt x="75009" y="100010"/>
                    </a:lnTo>
                    <a:cubicBezTo>
                      <a:pt x="68105" y="100010"/>
                      <a:pt x="62508" y="94413"/>
                      <a:pt x="62508" y="87508"/>
                    </a:cubicBezTo>
                    <a:lnTo>
                      <a:pt x="62508" y="75007"/>
                    </a:lnTo>
                    <a:cubicBezTo>
                      <a:pt x="62508" y="66489"/>
                      <a:pt x="63961" y="58033"/>
                      <a:pt x="66805" y="50004"/>
                    </a:cubicBezTo>
                    <a:lnTo>
                      <a:pt x="25003" y="50004"/>
                    </a:lnTo>
                    <a:lnTo>
                      <a:pt x="25003" y="312536"/>
                    </a:lnTo>
                    <a:lnTo>
                      <a:pt x="250030" y="312536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8" name="TextBox 48"/>
            <p:cNvSpPr txBox="1"/>
            <p:nvPr/>
          </p:nvSpPr>
          <p:spPr>
            <a:xfrm>
              <a:off x="9315450" y="1724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评价审核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20212" y="2050256"/>
              <a:ext cx="1978819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通过、驳回、隐藏都写明原因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8477250" y="2914650"/>
              <a:ext cx="302895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3" name="Group 53"/>
            <p:cNvGrpSpPr/>
            <p:nvPr/>
          </p:nvGrpSpPr>
          <p:grpSpPr>
            <a:xfrm>
              <a:off x="8811778" y="3280729"/>
              <a:ext cx="301265" cy="276272"/>
              <a:chOff x="8811778" y="3280729"/>
              <a:chExt cx="301265" cy="276272"/>
            </a:xfrm>
          </p:grpSpPr>
          <p:sp>
            <p:nvSpPr>
              <p:cNvPr id="51" name="Freeform 51"/>
              <p:cNvSpPr/>
              <p:nvPr/>
            </p:nvSpPr>
            <p:spPr>
              <a:xfrm>
                <a:off x="8963024" y="3319462"/>
                <a:ext cx="137517" cy="200024"/>
              </a:xfrm>
              <a:custGeom>
                <a:avLst/>
                <a:gdLst/>
                <a:ahLst/>
                <a:cxnLst/>
                <a:rect l="l" t="t" r="r" b="b"/>
                <a:pathLst>
                  <a:path w="137517" h="200024">
                    <a:moveTo>
                      <a:pt x="137517" y="0"/>
                    </a:moveTo>
                    <a:lnTo>
                      <a:pt x="137517" y="200024"/>
                    </a:lnTo>
                    <a:lnTo>
                      <a:pt x="0" y="20002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2" name="Freeform 52"/>
              <p:cNvSpPr/>
              <p:nvPr/>
            </p:nvSpPr>
            <p:spPr>
              <a:xfrm>
                <a:off x="8811778" y="3280729"/>
                <a:ext cx="301265" cy="276272"/>
              </a:xfrm>
              <a:custGeom>
                <a:avLst/>
                <a:gdLst/>
                <a:ahLst/>
                <a:cxnLst/>
                <a:rect l="l" t="t" r="r" b="b"/>
                <a:pathLst>
                  <a:path w="301265" h="276272">
                    <a:moveTo>
                      <a:pt x="301265" y="138745"/>
                    </a:moveTo>
                    <a:cubicBezTo>
                      <a:pt x="301265" y="145649"/>
                      <a:pt x="295668" y="151246"/>
                      <a:pt x="288763" y="151246"/>
                    </a:cubicBezTo>
                    <a:lnTo>
                      <a:pt x="151246" y="151246"/>
                    </a:lnTo>
                    <a:cubicBezTo>
                      <a:pt x="144342" y="151246"/>
                      <a:pt x="138745" y="145649"/>
                      <a:pt x="138745" y="138745"/>
                    </a:cubicBezTo>
                    <a:cubicBezTo>
                      <a:pt x="138745" y="131841"/>
                      <a:pt x="144342" y="126243"/>
                      <a:pt x="151246" y="126243"/>
                    </a:cubicBezTo>
                    <a:lnTo>
                      <a:pt x="288763" y="126243"/>
                    </a:lnTo>
                    <a:cubicBezTo>
                      <a:pt x="295668" y="126243"/>
                      <a:pt x="301265" y="131841"/>
                      <a:pt x="301265" y="138745"/>
                    </a:cubicBezTo>
                    <a:close/>
                    <a:moveTo>
                      <a:pt x="151246" y="51234"/>
                    </a:moveTo>
                    <a:lnTo>
                      <a:pt x="288763" y="51234"/>
                    </a:lnTo>
                    <a:cubicBezTo>
                      <a:pt x="295668" y="51234"/>
                      <a:pt x="301265" y="45637"/>
                      <a:pt x="301265" y="38733"/>
                    </a:cubicBezTo>
                    <a:cubicBezTo>
                      <a:pt x="301265" y="31828"/>
                      <a:pt x="295668" y="26231"/>
                      <a:pt x="288763" y="26231"/>
                    </a:cubicBezTo>
                    <a:lnTo>
                      <a:pt x="151246" y="26231"/>
                    </a:lnTo>
                    <a:cubicBezTo>
                      <a:pt x="144342" y="26231"/>
                      <a:pt x="138745" y="31828"/>
                      <a:pt x="138745" y="38733"/>
                    </a:cubicBezTo>
                    <a:cubicBezTo>
                      <a:pt x="138745" y="45637"/>
                      <a:pt x="144342" y="51234"/>
                      <a:pt x="151246" y="51234"/>
                    </a:cubicBezTo>
                    <a:close/>
                    <a:moveTo>
                      <a:pt x="288763" y="226256"/>
                    </a:moveTo>
                    <a:lnTo>
                      <a:pt x="151246" y="226256"/>
                    </a:lnTo>
                    <a:cubicBezTo>
                      <a:pt x="144342" y="226256"/>
                      <a:pt x="138745" y="231853"/>
                      <a:pt x="138745" y="238757"/>
                    </a:cubicBezTo>
                    <a:cubicBezTo>
                      <a:pt x="138745" y="245662"/>
                      <a:pt x="144342" y="251259"/>
                      <a:pt x="151246" y="251259"/>
                    </a:cubicBezTo>
                    <a:lnTo>
                      <a:pt x="288763" y="251259"/>
                    </a:lnTo>
                    <a:cubicBezTo>
                      <a:pt x="295668" y="251259"/>
                      <a:pt x="301265" y="245662"/>
                      <a:pt x="301265" y="238757"/>
                    </a:cubicBezTo>
                    <a:cubicBezTo>
                      <a:pt x="301265" y="231853"/>
                      <a:pt x="295668" y="226256"/>
                      <a:pt x="288763" y="226256"/>
                    </a:cubicBezTo>
                    <a:close/>
                    <a:moveTo>
                      <a:pt x="79894" y="4885"/>
                    </a:moveTo>
                    <a:lnTo>
                      <a:pt x="38733" y="46062"/>
                    </a:lnTo>
                    <a:lnTo>
                      <a:pt x="22575" y="29888"/>
                    </a:lnTo>
                    <a:cubicBezTo>
                      <a:pt x="17690" y="25003"/>
                      <a:pt x="9770" y="25003"/>
                      <a:pt x="4885" y="29888"/>
                    </a:cubicBezTo>
                    <a:cubicBezTo>
                      <a:pt x="0" y="34773"/>
                      <a:pt x="0" y="42693"/>
                      <a:pt x="4885" y="47578"/>
                    </a:cubicBezTo>
                    <a:lnTo>
                      <a:pt x="29888" y="72581"/>
                    </a:lnTo>
                    <a:cubicBezTo>
                      <a:pt x="32233" y="74928"/>
                      <a:pt x="35415" y="76247"/>
                      <a:pt x="38733" y="76247"/>
                    </a:cubicBezTo>
                    <a:cubicBezTo>
                      <a:pt x="42051" y="76247"/>
                      <a:pt x="45233" y="74928"/>
                      <a:pt x="47578" y="72581"/>
                    </a:cubicBezTo>
                    <a:lnTo>
                      <a:pt x="97584" y="22575"/>
                    </a:lnTo>
                    <a:cubicBezTo>
                      <a:pt x="102469" y="17690"/>
                      <a:pt x="102469" y="9770"/>
                      <a:pt x="97584" y="4885"/>
                    </a:cubicBezTo>
                    <a:cubicBezTo>
                      <a:pt x="92699" y="0"/>
                      <a:pt x="84779" y="0"/>
                      <a:pt x="79894" y="4885"/>
                    </a:cubicBezTo>
                    <a:close/>
                    <a:moveTo>
                      <a:pt x="79894" y="104897"/>
                    </a:moveTo>
                    <a:lnTo>
                      <a:pt x="38733" y="146074"/>
                    </a:lnTo>
                    <a:lnTo>
                      <a:pt x="22575" y="129900"/>
                    </a:lnTo>
                    <a:cubicBezTo>
                      <a:pt x="17690" y="125015"/>
                      <a:pt x="9770" y="125015"/>
                      <a:pt x="4885" y="129900"/>
                    </a:cubicBezTo>
                    <a:cubicBezTo>
                      <a:pt x="0" y="134785"/>
                      <a:pt x="0" y="142705"/>
                      <a:pt x="4885" y="147590"/>
                    </a:cubicBezTo>
                    <a:lnTo>
                      <a:pt x="29888" y="172593"/>
                    </a:lnTo>
                    <a:cubicBezTo>
                      <a:pt x="32233" y="174940"/>
                      <a:pt x="35415" y="176259"/>
                      <a:pt x="38733" y="176259"/>
                    </a:cubicBezTo>
                    <a:cubicBezTo>
                      <a:pt x="42051" y="176259"/>
                      <a:pt x="45233" y="174940"/>
                      <a:pt x="47578" y="172593"/>
                    </a:cubicBezTo>
                    <a:lnTo>
                      <a:pt x="97584" y="122587"/>
                    </a:lnTo>
                    <a:cubicBezTo>
                      <a:pt x="102469" y="117702"/>
                      <a:pt x="102469" y="109782"/>
                      <a:pt x="97584" y="104897"/>
                    </a:cubicBezTo>
                    <a:cubicBezTo>
                      <a:pt x="92699" y="100012"/>
                      <a:pt x="84779" y="100012"/>
                      <a:pt x="79894" y="104897"/>
                    </a:cubicBezTo>
                    <a:close/>
                    <a:moveTo>
                      <a:pt x="79894" y="204909"/>
                    </a:moveTo>
                    <a:lnTo>
                      <a:pt x="38733" y="246086"/>
                    </a:lnTo>
                    <a:lnTo>
                      <a:pt x="22575" y="229912"/>
                    </a:lnTo>
                    <a:cubicBezTo>
                      <a:pt x="17690" y="225027"/>
                      <a:pt x="9770" y="225027"/>
                      <a:pt x="4885" y="229912"/>
                    </a:cubicBezTo>
                    <a:cubicBezTo>
                      <a:pt x="0" y="234797"/>
                      <a:pt x="0" y="242717"/>
                      <a:pt x="4885" y="247602"/>
                    </a:cubicBezTo>
                    <a:lnTo>
                      <a:pt x="29888" y="272605"/>
                    </a:lnTo>
                    <a:cubicBezTo>
                      <a:pt x="32233" y="274953"/>
                      <a:pt x="35415" y="276272"/>
                      <a:pt x="38733" y="276272"/>
                    </a:cubicBezTo>
                    <a:cubicBezTo>
                      <a:pt x="42051" y="276272"/>
                      <a:pt x="45233" y="274953"/>
                      <a:pt x="47578" y="272605"/>
                    </a:cubicBezTo>
                    <a:lnTo>
                      <a:pt x="97584" y="222599"/>
                    </a:lnTo>
                    <a:cubicBezTo>
                      <a:pt x="102469" y="217714"/>
                      <a:pt x="102469" y="209794"/>
                      <a:pt x="97584" y="204909"/>
                    </a:cubicBezTo>
                    <a:cubicBezTo>
                      <a:pt x="92699" y="200024"/>
                      <a:pt x="84779" y="200024"/>
                      <a:pt x="79894" y="204909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54" name="TextBox 54"/>
            <p:cNvSpPr txBox="1"/>
            <p:nvPr/>
          </p:nvSpPr>
          <p:spPr>
            <a:xfrm>
              <a:off x="9315450" y="315277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数据导入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9320212" y="3479006"/>
              <a:ext cx="197131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CSV 先校验，避免脏数据入库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8477250" y="4343400"/>
              <a:ext cx="3028950" cy="1143000"/>
            </a:xfrm>
            <a:prstGeom prst="roundRect">
              <a:avLst>
                <a:gd name="adj" fmla="val 2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9" name="Group 59"/>
            <p:cNvGrpSpPr/>
            <p:nvPr/>
          </p:nvGrpSpPr>
          <p:grpSpPr>
            <a:xfrm>
              <a:off x="8813006" y="4710708"/>
              <a:ext cx="300037" cy="312964"/>
              <a:chOff x="8813006" y="4710708"/>
              <a:chExt cx="300037" cy="312964"/>
            </a:xfrm>
          </p:grpSpPr>
          <p:sp>
            <p:nvSpPr>
              <p:cNvPr id="57" name="Freeform 57"/>
              <p:cNvSpPr/>
              <p:nvPr/>
            </p:nvSpPr>
            <p:spPr>
              <a:xfrm>
                <a:off x="8825508" y="4723209"/>
                <a:ext cx="275034" cy="287723"/>
              </a:xfrm>
              <a:custGeom>
                <a:avLst/>
                <a:gdLst/>
                <a:ahLst/>
                <a:cxnLst/>
                <a:rect l="l" t="t" r="r" b="b"/>
                <a:pathLst>
                  <a:path w="275034" h="287723">
                    <a:moveTo>
                      <a:pt x="275034" y="12502"/>
                    </a:moveTo>
                    <a:lnTo>
                      <a:pt x="275034" y="104341"/>
                    </a:lnTo>
                    <a:cubicBezTo>
                      <a:pt x="275034" y="235888"/>
                      <a:pt x="163598" y="279472"/>
                      <a:pt x="141361" y="286863"/>
                    </a:cubicBezTo>
                    <a:cubicBezTo>
                      <a:pt x="138870" y="287723"/>
                      <a:pt x="136163" y="287723"/>
                      <a:pt x="133673" y="286863"/>
                    </a:cubicBezTo>
                    <a:cubicBezTo>
                      <a:pt x="111435" y="279503"/>
                      <a:pt x="0" y="235966"/>
                      <a:pt x="0" y="104372"/>
                    </a:cubicBezTo>
                    <a:lnTo>
                      <a:pt x="0" y="12502"/>
                    </a:lnTo>
                    <a:cubicBezTo>
                      <a:pt x="0" y="5597"/>
                      <a:pt x="5597" y="0"/>
                      <a:pt x="12502" y="0"/>
                    </a:cubicBezTo>
                    <a:lnTo>
                      <a:pt x="262532" y="0"/>
                    </a:lnTo>
                    <a:cubicBezTo>
                      <a:pt x="269436" y="0"/>
                      <a:pt x="275034" y="5597"/>
                      <a:pt x="275034" y="12502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8" name="Freeform 58"/>
              <p:cNvSpPr/>
              <p:nvPr/>
            </p:nvSpPr>
            <p:spPr>
              <a:xfrm>
                <a:off x="8813006" y="4710708"/>
                <a:ext cx="300037" cy="312964"/>
              </a:xfrm>
              <a:custGeom>
                <a:avLst/>
                <a:gdLst/>
                <a:ahLst/>
                <a:cxnLst/>
                <a:rect l="l" t="t" r="r" b="b"/>
                <a:pathLst>
                  <a:path w="300037" h="312964">
                    <a:moveTo>
                      <a:pt x="275034" y="0"/>
                    </a:moveTo>
                    <a:lnTo>
                      <a:pt x="25003" y="0"/>
                    </a:lnTo>
                    <a:cubicBezTo>
                      <a:pt x="11194" y="0"/>
                      <a:pt x="0" y="11194"/>
                      <a:pt x="0" y="25003"/>
                    </a:cubicBezTo>
                    <a:lnTo>
                      <a:pt x="0" y="116858"/>
                    </a:lnTo>
                    <a:cubicBezTo>
                      <a:pt x="0" y="256891"/>
                      <a:pt x="118483" y="303349"/>
                      <a:pt x="142205" y="311241"/>
                    </a:cubicBezTo>
                    <a:cubicBezTo>
                      <a:pt x="147271" y="312964"/>
                      <a:pt x="152765" y="312964"/>
                      <a:pt x="157832" y="311241"/>
                    </a:cubicBezTo>
                    <a:cubicBezTo>
                      <a:pt x="181585" y="303349"/>
                      <a:pt x="300037" y="256891"/>
                      <a:pt x="300037" y="116858"/>
                    </a:cubicBezTo>
                    <a:lnTo>
                      <a:pt x="300037" y="25003"/>
                    </a:lnTo>
                    <a:cubicBezTo>
                      <a:pt x="300037" y="11194"/>
                      <a:pt x="288842" y="0"/>
                      <a:pt x="275034" y="0"/>
                    </a:cubicBezTo>
                    <a:close/>
                    <a:moveTo>
                      <a:pt x="275034" y="116874"/>
                    </a:moveTo>
                    <a:cubicBezTo>
                      <a:pt x="275034" y="239420"/>
                      <a:pt x="171349" y="280362"/>
                      <a:pt x="150018" y="287488"/>
                    </a:cubicBezTo>
                    <a:cubicBezTo>
                      <a:pt x="128875" y="280440"/>
                      <a:pt x="25003" y="239529"/>
                      <a:pt x="25003" y="116874"/>
                    </a:cubicBezTo>
                    <a:lnTo>
                      <a:pt x="25003" y="25003"/>
                    </a:lnTo>
                    <a:lnTo>
                      <a:pt x="275034" y="25003"/>
                    </a:lnTo>
                    <a:close/>
                    <a:moveTo>
                      <a:pt x="78666" y="158863"/>
                    </a:moveTo>
                    <a:cubicBezTo>
                      <a:pt x="73781" y="153978"/>
                      <a:pt x="73781" y="146058"/>
                      <a:pt x="78666" y="141173"/>
                    </a:cubicBezTo>
                    <a:cubicBezTo>
                      <a:pt x="83551" y="136289"/>
                      <a:pt x="91471" y="136289"/>
                      <a:pt x="96355" y="141173"/>
                    </a:cubicBezTo>
                    <a:lnTo>
                      <a:pt x="125015" y="169833"/>
                    </a:lnTo>
                    <a:lnTo>
                      <a:pt x="203681" y="91167"/>
                    </a:lnTo>
                    <a:cubicBezTo>
                      <a:pt x="208566" y="86283"/>
                      <a:pt x="216486" y="86283"/>
                      <a:pt x="221371" y="91167"/>
                    </a:cubicBezTo>
                    <a:cubicBezTo>
                      <a:pt x="226256" y="96052"/>
                      <a:pt x="226256" y="103972"/>
                      <a:pt x="221371" y="108857"/>
                    </a:cubicBezTo>
                    <a:lnTo>
                      <a:pt x="133860" y="196368"/>
                    </a:lnTo>
                    <a:cubicBezTo>
                      <a:pt x="131515" y="198715"/>
                      <a:pt x="128333" y="200034"/>
                      <a:pt x="125015" y="200034"/>
                    </a:cubicBezTo>
                    <a:cubicBezTo>
                      <a:pt x="121697" y="200034"/>
                      <a:pt x="118515" y="198715"/>
                      <a:pt x="116170" y="196368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60" name="TextBox 60"/>
            <p:cNvSpPr txBox="1"/>
            <p:nvPr/>
          </p:nvSpPr>
          <p:spPr>
            <a:xfrm>
              <a:off x="9315450" y="45815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审计日志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9320212" y="4907756"/>
              <a:ext cx="227885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操作者、对象、时间、变更可追踪</a:t>
              </a:r>
            </a:p>
          </p:txBody>
        </p:sp>
      </p:grpSp>
      <p:sp>
        <p:nvSpPr>
          <p:cNvPr id="63" name="TextBox 63"/>
          <p:cNvSpPr txBox="1"/>
          <p:nvPr/>
        </p:nvSpPr>
        <p:spPr>
          <a:xfrm>
            <a:off x="521018" y="6466999"/>
            <a:ext cx="2859119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管理端独立端口 5174 · 管理接口 /admin/api/v1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F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1015" y="315278"/>
            <a:ext cx="11168062" cy="694372"/>
            <a:chOff x="501015" y="315278"/>
            <a:chExt cx="11168062" cy="694372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15278"/>
              <a:ext cx="363521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模块化单体，边界清晰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765810"/>
              <a:ext cx="439902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初版用前后端分离保证开发效率，同时保留服务拆分边界。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09 / 16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533400" y="1238250"/>
            <a:ext cx="2781300" cy="4572000"/>
            <a:chOff x="533400" y="1238250"/>
            <a:chExt cx="2781300" cy="4572000"/>
          </a:xfrm>
        </p:grpSpPr>
        <p:sp>
          <p:nvSpPr>
            <p:cNvPr id="7" name="Rectangle 7"/>
            <p:cNvSpPr/>
            <p:nvPr/>
          </p:nvSpPr>
          <p:spPr>
            <a:xfrm>
              <a:off x="533400" y="1238250"/>
              <a:ext cx="2781300" cy="4572000"/>
            </a:xfrm>
            <a:prstGeom prst="roundRect">
              <a:avLst>
                <a:gd name="adj" fmla="val 8219"/>
              </a:avLst>
            </a:prstGeom>
            <a:solidFill>
              <a:srgbClr val="EAF7EF"/>
            </a:solidFill>
            <a:ln w="14288">
              <a:solidFill>
                <a:srgbClr val="BFD9CC"/>
              </a:solidFill>
            </a:ln>
          </p:spPr>
        </p:sp>
        <p:sp>
          <p:nvSpPr>
            <p:cNvPr id="8" name="Rectangle 8"/>
            <p:cNvSpPr/>
            <p:nvPr/>
          </p:nvSpPr>
          <p:spPr>
            <a:xfrm>
              <a:off x="533400" y="1238250"/>
              <a:ext cx="2781300" cy="457200"/>
            </a:xfrm>
            <a:prstGeom prst="roundRect">
              <a:avLst>
                <a:gd name="adj" fmla="val 50000"/>
              </a:avLst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533400" y="1466850"/>
              <a:ext cx="2781300" cy="228600"/>
            </a:xfrm>
            <a:prstGeom prst="rect">
              <a:avLst/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606372" y="1413510"/>
              <a:ext cx="63535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CLIENTS</a:t>
              </a:r>
            </a:p>
          </p:txBody>
        </p:sp>
        <p:grpSp>
          <p:nvGrpSpPr>
            <p:cNvPr id="18" name="Group 18"/>
            <p:cNvGrpSpPr/>
            <p:nvPr/>
          </p:nvGrpSpPr>
          <p:grpSpPr>
            <a:xfrm>
              <a:off x="819150" y="2095500"/>
              <a:ext cx="2310089" cy="1123950"/>
              <a:chOff x="819150" y="2095500"/>
              <a:chExt cx="2310089" cy="1123950"/>
            </a:xfrm>
          </p:grpSpPr>
          <p:sp>
            <p:nvSpPr>
              <p:cNvPr id="11" name="Rectangle 11"/>
              <p:cNvSpPr/>
              <p:nvPr/>
            </p:nvSpPr>
            <p:spPr>
              <a:xfrm>
                <a:off x="819150" y="2095500"/>
                <a:ext cx="2209800" cy="1123950"/>
              </a:xfrm>
              <a:prstGeom prst="roundRect">
                <a:avLst>
                  <a:gd name="adj" fmla="val 15254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14" name="Group 14"/>
              <p:cNvGrpSpPr/>
              <p:nvPr/>
            </p:nvGrpSpPr>
            <p:grpSpPr>
              <a:xfrm>
                <a:off x="1126927" y="2365772"/>
                <a:ext cx="203598" cy="316707"/>
                <a:chOff x="1126927" y="2365772"/>
                <a:chExt cx="203598" cy="316707"/>
              </a:xfrm>
            </p:grpSpPr>
            <p:sp>
              <p:nvSpPr>
                <p:cNvPr id="12" name="Freeform 12"/>
                <p:cNvSpPr/>
                <p:nvPr/>
              </p:nvSpPr>
              <p:spPr>
                <a:xfrm>
                  <a:off x="1138238" y="2422327"/>
                  <a:ext cx="180976" cy="20359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80976" h="203598">
                      <a:moveTo>
                        <a:pt x="180976" y="0"/>
                      </a:moveTo>
                      <a:lnTo>
                        <a:pt x="180976" y="203598"/>
                      </a:lnTo>
                      <a:lnTo>
                        <a:pt x="0" y="20359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3A86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13" name="Freeform 13"/>
                <p:cNvSpPr/>
                <p:nvPr/>
              </p:nvSpPr>
              <p:spPr>
                <a:xfrm>
                  <a:off x="1126927" y="2365772"/>
                  <a:ext cx="203598" cy="31670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3598" h="316707">
                      <a:moveTo>
                        <a:pt x="169665" y="0"/>
                      </a:moveTo>
                      <a:lnTo>
                        <a:pt x="33933" y="0"/>
                      </a:lnTo>
                      <a:cubicBezTo>
                        <a:pt x="15192" y="0"/>
                        <a:pt x="0" y="15192"/>
                        <a:pt x="0" y="33933"/>
                      </a:cubicBezTo>
                      <a:lnTo>
                        <a:pt x="0" y="282774"/>
                      </a:lnTo>
                      <a:cubicBezTo>
                        <a:pt x="0" y="301515"/>
                        <a:pt x="15192" y="316707"/>
                        <a:pt x="33933" y="316707"/>
                      </a:cubicBezTo>
                      <a:lnTo>
                        <a:pt x="169665" y="316707"/>
                      </a:lnTo>
                      <a:cubicBezTo>
                        <a:pt x="188405" y="316707"/>
                        <a:pt x="203598" y="301515"/>
                        <a:pt x="203598" y="282774"/>
                      </a:cubicBezTo>
                      <a:lnTo>
                        <a:pt x="203598" y="33933"/>
                      </a:lnTo>
                      <a:cubicBezTo>
                        <a:pt x="203598" y="15192"/>
                        <a:pt x="188405" y="0"/>
                        <a:pt x="169665" y="0"/>
                      </a:cubicBezTo>
                      <a:close/>
                      <a:moveTo>
                        <a:pt x="22622" y="67866"/>
                      </a:moveTo>
                      <a:lnTo>
                        <a:pt x="180976" y="67866"/>
                      </a:lnTo>
                      <a:lnTo>
                        <a:pt x="180976" y="248841"/>
                      </a:lnTo>
                      <a:lnTo>
                        <a:pt x="22622" y="248841"/>
                      </a:lnTo>
                      <a:close/>
                      <a:moveTo>
                        <a:pt x="33933" y="22622"/>
                      </a:moveTo>
                      <a:lnTo>
                        <a:pt x="169665" y="22622"/>
                      </a:lnTo>
                      <a:cubicBezTo>
                        <a:pt x="175912" y="22622"/>
                        <a:pt x="180976" y="27686"/>
                        <a:pt x="180976" y="33933"/>
                      </a:cubicBezTo>
                      <a:lnTo>
                        <a:pt x="180976" y="45244"/>
                      </a:lnTo>
                      <a:lnTo>
                        <a:pt x="22622" y="45244"/>
                      </a:lnTo>
                      <a:lnTo>
                        <a:pt x="22622" y="33933"/>
                      </a:lnTo>
                      <a:cubicBezTo>
                        <a:pt x="22622" y="27686"/>
                        <a:pt x="27686" y="22622"/>
                        <a:pt x="33933" y="22622"/>
                      </a:cubicBezTo>
                      <a:close/>
                      <a:moveTo>
                        <a:pt x="169665" y="294085"/>
                      </a:moveTo>
                      <a:lnTo>
                        <a:pt x="33933" y="294085"/>
                      </a:lnTo>
                      <a:cubicBezTo>
                        <a:pt x="27686" y="294085"/>
                        <a:pt x="22622" y="289021"/>
                        <a:pt x="22622" y="282774"/>
                      </a:cubicBezTo>
                      <a:lnTo>
                        <a:pt x="22622" y="271463"/>
                      </a:lnTo>
                      <a:lnTo>
                        <a:pt x="180976" y="271463"/>
                      </a:lnTo>
                      <a:lnTo>
                        <a:pt x="180976" y="282774"/>
                      </a:lnTo>
                      <a:cubicBezTo>
                        <a:pt x="180976" y="289021"/>
                        <a:pt x="175912" y="294085"/>
                        <a:pt x="169665" y="294085"/>
                      </a:cubicBezTo>
                      <a:close/>
                    </a:path>
                  </a:pathLst>
                </a:custGeom>
                <a:solidFill>
                  <a:srgbClr val="3A86FF"/>
                </a:solidFill>
                <a:ln>
                  <a:noFill/>
                </a:ln>
              </p:spPr>
            </p:sp>
          </p:grpSp>
          <p:sp>
            <p:nvSpPr>
              <p:cNvPr id="15" name="TextBox 15"/>
              <p:cNvSpPr txBox="1"/>
              <p:nvPr/>
            </p:nvSpPr>
            <p:spPr>
              <a:xfrm>
                <a:off x="1544955" y="2292668"/>
                <a:ext cx="15842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用户端 React PWA</a:t>
                </a:r>
              </a:p>
            </p:txBody>
          </p:sp>
          <p:sp>
            <p:nvSpPr>
              <p:cNvPr id="16" name="TextBox 16"/>
              <p:cNvSpPr txBox="1"/>
              <p:nvPr/>
            </p:nvSpPr>
            <p:spPr>
              <a:xfrm>
                <a:off x="1548765" y="2591752"/>
                <a:ext cx="6567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端口 5173</a:t>
                </a:r>
              </a:p>
            </p:txBody>
          </p:sp>
          <p:sp>
            <p:nvSpPr>
              <p:cNvPr id="17" name="TextBox 17"/>
              <p:cNvSpPr txBox="1"/>
              <p:nvPr/>
            </p:nvSpPr>
            <p:spPr>
              <a:xfrm>
                <a:off x="1035368" y="29236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推荐、搜索、地图、评价、我的</a:t>
                </a: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19150" y="3695700"/>
              <a:ext cx="2310089" cy="1123950"/>
              <a:chOff x="819150" y="3695700"/>
              <a:chExt cx="2310089" cy="1123950"/>
            </a:xfrm>
          </p:grpSpPr>
          <p:sp>
            <p:nvSpPr>
              <p:cNvPr id="19" name="Rectangle 19"/>
              <p:cNvSpPr/>
              <p:nvPr/>
            </p:nvSpPr>
            <p:spPr>
              <a:xfrm>
                <a:off x="819150" y="3695700"/>
                <a:ext cx="2209800" cy="1123950"/>
              </a:xfrm>
              <a:prstGeom prst="roundRect">
                <a:avLst>
                  <a:gd name="adj" fmla="val 15254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22" name="Group 22"/>
              <p:cNvGrpSpPr/>
              <p:nvPr/>
            </p:nvGrpSpPr>
            <p:grpSpPr>
              <a:xfrm>
                <a:off x="1081683" y="3999905"/>
                <a:ext cx="294085" cy="271463"/>
                <a:chOff x="1081683" y="3999905"/>
                <a:chExt cx="294085" cy="271463"/>
              </a:xfrm>
            </p:grpSpPr>
            <p:sp>
              <p:nvSpPr>
                <p:cNvPr id="20" name="Freeform 20"/>
                <p:cNvSpPr/>
                <p:nvPr/>
              </p:nvSpPr>
              <p:spPr>
                <a:xfrm>
                  <a:off x="1092994" y="4011216"/>
                  <a:ext cx="271463" cy="1470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1463" h="147043">
                      <a:moveTo>
                        <a:pt x="271463" y="22622"/>
                      </a:moveTo>
                      <a:lnTo>
                        <a:pt x="271463" y="147043"/>
                      </a:lnTo>
                      <a:lnTo>
                        <a:pt x="0" y="147043"/>
                      </a:lnTo>
                      <a:lnTo>
                        <a:pt x="0" y="22622"/>
                      </a:lnTo>
                      <a:cubicBezTo>
                        <a:pt x="0" y="10128"/>
                        <a:pt x="10128" y="0"/>
                        <a:pt x="22622" y="0"/>
                      </a:cubicBezTo>
                      <a:lnTo>
                        <a:pt x="248841" y="0"/>
                      </a:lnTo>
                      <a:cubicBezTo>
                        <a:pt x="261335" y="0"/>
                        <a:pt x="271463" y="10128"/>
                        <a:pt x="271463" y="22622"/>
                      </a:cubicBezTo>
                      <a:close/>
                    </a:path>
                  </a:pathLst>
                </a:custGeom>
                <a:solidFill>
                  <a:srgbClr val="1F8A7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21" name="Freeform 21"/>
                <p:cNvSpPr/>
                <p:nvPr/>
              </p:nvSpPr>
              <p:spPr>
                <a:xfrm>
                  <a:off x="1081683" y="3999905"/>
                  <a:ext cx="294085" cy="27146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94085" h="271463">
                      <a:moveTo>
                        <a:pt x="260152" y="0"/>
                      </a:moveTo>
                      <a:lnTo>
                        <a:pt x="33933" y="0"/>
                      </a:lnTo>
                      <a:cubicBezTo>
                        <a:pt x="15192" y="0"/>
                        <a:pt x="0" y="15192"/>
                        <a:pt x="0" y="33933"/>
                      </a:cubicBezTo>
                      <a:lnTo>
                        <a:pt x="0" y="192287"/>
                      </a:lnTo>
                      <a:cubicBezTo>
                        <a:pt x="0" y="211027"/>
                        <a:pt x="15192" y="226220"/>
                        <a:pt x="33933" y="226220"/>
                      </a:cubicBezTo>
                      <a:lnTo>
                        <a:pt x="135732" y="226220"/>
                      </a:lnTo>
                      <a:lnTo>
                        <a:pt x="135732" y="248841"/>
                      </a:lnTo>
                      <a:lnTo>
                        <a:pt x="101799" y="248841"/>
                      </a:lnTo>
                      <a:cubicBezTo>
                        <a:pt x="95552" y="248841"/>
                        <a:pt x="90488" y="253906"/>
                        <a:pt x="90488" y="260152"/>
                      </a:cubicBezTo>
                      <a:cubicBezTo>
                        <a:pt x="90488" y="266399"/>
                        <a:pt x="95552" y="271463"/>
                        <a:pt x="101799" y="271463"/>
                      </a:cubicBezTo>
                      <a:lnTo>
                        <a:pt x="192287" y="271463"/>
                      </a:lnTo>
                      <a:cubicBezTo>
                        <a:pt x="198533" y="271463"/>
                        <a:pt x="203598" y="266399"/>
                        <a:pt x="203598" y="260152"/>
                      </a:cubicBezTo>
                      <a:cubicBezTo>
                        <a:pt x="203598" y="253906"/>
                        <a:pt x="198533" y="248841"/>
                        <a:pt x="192287" y="248841"/>
                      </a:cubicBezTo>
                      <a:lnTo>
                        <a:pt x="158354" y="248841"/>
                      </a:lnTo>
                      <a:lnTo>
                        <a:pt x="158354" y="226220"/>
                      </a:lnTo>
                      <a:lnTo>
                        <a:pt x="260152" y="226220"/>
                      </a:lnTo>
                      <a:cubicBezTo>
                        <a:pt x="278893" y="226220"/>
                        <a:pt x="294085" y="211027"/>
                        <a:pt x="294085" y="192287"/>
                      </a:cubicBezTo>
                      <a:lnTo>
                        <a:pt x="294085" y="33933"/>
                      </a:lnTo>
                      <a:cubicBezTo>
                        <a:pt x="294085" y="15192"/>
                        <a:pt x="278893" y="0"/>
                        <a:pt x="260152" y="0"/>
                      </a:cubicBezTo>
                      <a:close/>
                      <a:moveTo>
                        <a:pt x="33933" y="22622"/>
                      </a:moveTo>
                      <a:lnTo>
                        <a:pt x="260152" y="22622"/>
                      </a:lnTo>
                      <a:cubicBezTo>
                        <a:pt x="266399" y="22622"/>
                        <a:pt x="271463" y="27686"/>
                        <a:pt x="271463" y="33933"/>
                      </a:cubicBezTo>
                      <a:lnTo>
                        <a:pt x="271463" y="147043"/>
                      </a:lnTo>
                      <a:lnTo>
                        <a:pt x="22622" y="147043"/>
                      </a:lnTo>
                      <a:lnTo>
                        <a:pt x="22622" y="33933"/>
                      </a:lnTo>
                      <a:cubicBezTo>
                        <a:pt x="22622" y="27686"/>
                        <a:pt x="27686" y="22622"/>
                        <a:pt x="33933" y="22622"/>
                      </a:cubicBezTo>
                      <a:close/>
                      <a:moveTo>
                        <a:pt x="260152" y="203598"/>
                      </a:moveTo>
                      <a:lnTo>
                        <a:pt x="33933" y="203598"/>
                      </a:lnTo>
                      <a:cubicBezTo>
                        <a:pt x="27686" y="203598"/>
                        <a:pt x="22622" y="198533"/>
                        <a:pt x="22622" y="192287"/>
                      </a:cubicBezTo>
                      <a:lnTo>
                        <a:pt x="22622" y="169665"/>
                      </a:lnTo>
                      <a:lnTo>
                        <a:pt x="271463" y="169665"/>
                      </a:lnTo>
                      <a:lnTo>
                        <a:pt x="271463" y="192287"/>
                      </a:lnTo>
                      <a:cubicBezTo>
                        <a:pt x="271463" y="198533"/>
                        <a:pt x="266399" y="203598"/>
                        <a:pt x="260152" y="203598"/>
                      </a:cubicBezTo>
                      <a:close/>
                    </a:path>
                  </a:pathLst>
                </a:custGeom>
                <a:solidFill>
                  <a:srgbClr val="1F8A70"/>
                </a:solidFill>
                <a:ln>
                  <a:noFill/>
                </a:ln>
              </p:spPr>
            </p:sp>
          </p:grpSp>
          <p:sp>
            <p:nvSpPr>
              <p:cNvPr id="23" name="TextBox 23"/>
              <p:cNvSpPr txBox="1"/>
              <p:nvPr/>
            </p:nvSpPr>
            <p:spPr>
              <a:xfrm>
                <a:off x="1544955" y="3892868"/>
                <a:ext cx="1584284" cy="2743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管理端 React Web</a:t>
                </a: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1548765" y="4191952"/>
                <a:ext cx="656749" cy="21336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dirty="0">
                    <a:solidFill>
                      <a:srgbClr val="4D5A57"/>
                    </a:solidFill>
                    <a:latin typeface="Arial"/>
                    <a:ea typeface="Microsoft YaHei"/>
                    <a:cs typeface="Arial"/>
                  </a:rPr>
                  <a:t>端口 5174</a:t>
                </a: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1035368" y="4523899"/>
                <a:ext cx="1844992" cy="19812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75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用户、商家、菜品、审核、导入</a:t>
                </a:r>
              </a:p>
            </p:txBody>
          </p:sp>
        </p:grpSp>
      </p:grpSp>
      <p:grpSp>
        <p:nvGrpSpPr>
          <p:cNvPr id="41" name="Group 41"/>
          <p:cNvGrpSpPr/>
          <p:nvPr/>
        </p:nvGrpSpPr>
        <p:grpSpPr>
          <a:xfrm>
            <a:off x="4724400" y="1847850"/>
            <a:ext cx="2966847" cy="3352800"/>
            <a:chOff x="4724400" y="1847850"/>
            <a:chExt cx="2966847" cy="3352800"/>
          </a:xfrm>
        </p:grpSpPr>
        <p:sp>
          <p:nvSpPr>
            <p:cNvPr id="28" name="Rectangle 28"/>
            <p:cNvSpPr/>
            <p:nvPr/>
          </p:nvSpPr>
          <p:spPr>
            <a:xfrm>
              <a:off x="4724400" y="1847850"/>
              <a:ext cx="2743200" cy="3352800"/>
            </a:xfrm>
            <a:prstGeom prst="roundRect">
              <a:avLst>
                <a:gd name="adj" fmla="val 9722"/>
              </a:avLst>
            </a:prstGeom>
            <a:solidFill>
              <a:srgbClr val="FFFFFF"/>
            </a:solidFill>
            <a:ln w="28575">
              <a:solidFill>
                <a:srgbClr val="1F8A70"/>
              </a:solidFill>
            </a:ln>
          </p:spPr>
        </p:sp>
        <p:sp>
          <p:nvSpPr>
            <p:cNvPr id="29" name="Rectangle 29"/>
            <p:cNvSpPr/>
            <p:nvPr/>
          </p:nvSpPr>
          <p:spPr>
            <a:xfrm>
              <a:off x="5048250" y="2171700"/>
              <a:ext cx="762000" cy="762000"/>
            </a:xfrm>
            <a:prstGeom prst="roundRect">
              <a:avLst>
                <a:gd name="adj" fmla="val 30000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2" name="Group 32"/>
            <p:cNvGrpSpPr/>
            <p:nvPr/>
          </p:nvGrpSpPr>
          <p:grpSpPr>
            <a:xfrm>
              <a:off x="5261521" y="2397436"/>
              <a:ext cx="335436" cy="310543"/>
              <a:chOff x="5261521" y="2397436"/>
              <a:chExt cx="335436" cy="310543"/>
            </a:xfrm>
          </p:grpSpPr>
          <p:sp>
            <p:nvSpPr>
              <p:cNvPr id="30" name="Freeform 30"/>
              <p:cNvSpPr/>
              <p:nvPr/>
            </p:nvSpPr>
            <p:spPr>
              <a:xfrm>
                <a:off x="5273546" y="2409825"/>
                <a:ext cx="311388" cy="285750"/>
              </a:xfrm>
              <a:custGeom>
                <a:avLst/>
                <a:gdLst/>
                <a:ahLst/>
                <a:cxnLst/>
                <a:rect l="l" t="t" r="r" b="b"/>
                <a:pathLst>
                  <a:path w="311388" h="285750">
                    <a:moveTo>
                      <a:pt x="307658" y="114240"/>
                    </a:moveTo>
                    <a:lnTo>
                      <a:pt x="260256" y="87243"/>
                    </a:lnTo>
                    <a:cubicBezTo>
                      <a:pt x="259304" y="85517"/>
                      <a:pt x="258306" y="83835"/>
                      <a:pt x="257280" y="82168"/>
                    </a:cubicBezTo>
                    <a:lnTo>
                      <a:pt x="257101" y="28590"/>
                    </a:lnTo>
                    <a:cubicBezTo>
                      <a:pt x="242120" y="15947"/>
                      <a:pt x="224886" y="6247"/>
                      <a:pt x="206306" y="0"/>
                    </a:cubicBezTo>
                    <a:lnTo>
                      <a:pt x="158681" y="26625"/>
                    </a:lnTo>
                    <a:cubicBezTo>
                      <a:pt x="156687" y="26625"/>
                      <a:pt x="154677" y="26625"/>
                      <a:pt x="152728" y="26625"/>
                    </a:cubicBezTo>
                    <a:lnTo>
                      <a:pt x="105103" y="0"/>
                    </a:lnTo>
                    <a:cubicBezTo>
                      <a:pt x="86528" y="6268"/>
                      <a:pt x="69304" y="15988"/>
                      <a:pt x="54338" y="28649"/>
                    </a:cubicBezTo>
                    <a:lnTo>
                      <a:pt x="54099" y="82228"/>
                    </a:lnTo>
                    <a:cubicBezTo>
                      <a:pt x="53058" y="83894"/>
                      <a:pt x="52060" y="85591"/>
                      <a:pt x="51123" y="87303"/>
                    </a:cubicBezTo>
                    <a:lnTo>
                      <a:pt x="3736" y="114240"/>
                    </a:lnTo>
                    <a:cubicBezTo>
                      <a:pt x="0" y="133137"/>
                      <a:pt x="0" y="152583"/>
                      <a:pt x="3736" y="171480"/>
                    </a:cubicBezTo>
                    <a:lnTo>
                      <a:pt x="51138" y="198477"/>
                    </a:lnTo>
                    <a:cubicBezTo>
                      <a:pt x="52090" y="200204"/>
                      <a:pt x="53087" y="201885"/>
                      <a:pt x="54114" y="203552"/>
                    </a:cubicBezTo>
                    <a:lnTo>
                      <a:pt x="54293" y="257130"/>
                    </a:lnTo>
                    <a:cubicBezTo>
                      <a:pt x="69276" y="269785"/>
                      <a:pt x="86515" y="279496"/>
                      <a:pt x="105103" y="285750"/>
                    </a:cubicBezTo>
                    <a:lnTo>
                      <a:pt x="152728" y="259154"/>
                    </a:lnTo>
                    <a:cubicBezTo>
                      <a:pt x="154722" y="259154"/>
                      <a:pt x="156731" y="259154"/>
                      <a:pt x="158681" y="259154"/>
                    </a:cubicBezTo>
                    <a:lnTo>
                      <a:pt x="206306" y="285750"/>
                    </a:lnTo>
                    <a:cubicBezTo>
                      <a:pt x="224865" y="279477"/>
                      <a:pt x="242073" y="269757"/>
                      <a:pt x="257027" y="257101"/>
                    </a:cubicBezTo>
                    <a:lnTo>
                      <a:pt x="257265" y="203522"/>
                    </a:lnTo>
                    <a:cubicBezTo>
                      <a:pt x="258306" y="201856"/>
                      <a:pt x="259304" y="200159"/>
                      <a:pt x="260241" y="198447"/>
                    </a:cubicBezTo>
                    <a:lnTo>
                      <a:pt x="307628" y="171510"/>
                    </a:lnTo>
                    <a:cubicBezTo>
                      <a:pt x="311378" y="152605"/>
                      <a:pt x="311388" y="133149"/>
                      <a:pt x="307658" y="114240"/>
                    </a:cubicBezTo>
                    <a:close/>
                    <a:moveTo>
                      <a:pt x="155704" y="202406"/>
                    </a:moveTo>
                    <a:cubicBezTo>
                      <a:pt x="122826" y="202406"/>
                      <a:pt x="96173" y="175753"/>
                      <a:pt x="96173" y="142875"/>
                    </a:cubicBezTo>
                    <a:cubicBezTo>
                      <a:pt x="96173" y="109997"/>
                      <a:pt x="122826" y="83344"/>
                      <a:pt x="155704" y="83344"/>
                    </a:cubicBezTo>
                    <a:cubicBezTo>
                      <a:pt x="188583" y="83344"/>
                      <a:pt x="215236" y="109997"/>
                      <a:pt x="215236" y="142875"/>
                    </a:cubicBezTo>
                    <a:cubicBezTo>
                      <a:pt x="215236" y="175753"/>
                      <a:pt x="188583" y="202406"/>
                      <a:pt x="155704" y="202406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1" name="Freeform 31"/>
              <p:cNvSpPr/>
              <p:nvPr/>
            </p:nvSpPr>
            <p:spPr>
              <a:xfrm>
                <a:off x="5261521" y="2397436"/>
                <a:ext cx="335436" cy="310543"/>
              </a:xfrm>
              <a:custGeom>
                <a:avLst/>
                <a:gdLst/>
                <a:ahLst/>
                <a:cxnLst/>
                <a:rect l="l" t="t" r="r" b="b"/>
                <a:pathLst>
                  <a:path w="335436" h="310543">
                    <a:moveTo>
                      <a:pt x="167729" y="83826"/>
                    </a:moveTo>
                    <a:cubicBezTo>
                      <a:pt x="128276" y="83826"/>
                      <a:pt x="96292" y="115810"/>
                      <a:pt x="96292" y="155264"/>
                    </a:cubicBezTo>
                    <a:cubicBezTo>
                      <a:pt x="96292" y="194718"/>
                      <a:pt x="128276" y="226701"/>
                      <a:pt x="167729" y="226701"/>
                    </a:cubicBezTo>
                    <a:cubicBezTo>
                      <a:pt x="207183" y="226701"/>
                      <a:pt x="239167" y="194718"/>
                      <a:pt x="239167" y="155264"/>
                    </a:cubicBezTo>
                    <a:cubicBezTo>
                      <a:pt x="239126" y="115827"/>
                      <a:pt x="207166" y="83867"/>
                      <a:pt x="167729" y="83826"/>
                    </a:cubicBezTo>
                    <a:close/>
                    <a:moveTo>
                      <a:pt x="167729" y="202889"/>
                    </a:moveTo>
                    <a:cubicBezTo>
                      <a:pt x="141427" y="202889"/>
                      <a:pt x="120104" y="181566"/>
                      <a:pt x="120104" y="155264"/>
                    </a:cubicBezTo>
                    <a:cubicBezTo>
                      <a:pt x="120104" y="128961"/>
                      <a:pt x="141427" y="107639"/>
                      <a:pt x="167729" y="107639"/>
                    </a:cubicBezTo>
                    <a:cubicBezTo>
                      <a:pt x="194032" y="107639"/>
                      <a:pt x="215354" y="128961"/>
                      <a:pt x="215354" y="155264"/>
                    </a:cubicBezTo>
                    <a:cubicBezTo>
                      <a:pt x="215354" y="181566"/>
                      <a:pt x="194032" y="202889"/>
                      <a:pt x="167729" y="202889"/>
                    </a:cubicBezTo>
                    <a:close/>
                    <a:moveTo>
                      <a:pt x="331351" y="124323"/>
                    </a:moveTo>
                    <a:cubicBezTo>
                      <a:pt x="330680" y="120930"/>
                      <a:pt x="328567" y="117997"/>
                      <a:pt x="325562" y="116286"/>
                    </a:cubicBezTo>
                    <a:lnTo>
                      <a:pt x="281166" y="90985"/>
                    </a:lnTo>
                    <a:lnTo>
                      <a:pt x="280988" y="40949"/>
                    </a:lnTo>
                    <a:cubicBezTo>
                      <a:pt x="280977" y="37461"/>
                      <a:pt x="279437" y="34154"/>
                      <a:pt x="276776" y="31900"/>
                    </a:cubicBezTo>
                    <a:cubicBezTo>
                      <a:pt x="260671" y="18278"/>
                      <a:pt x="242126" y="7839"/>
                      <a:pt x="222126" y="1137"/>
                    </a:cubicBezTo>
                    <a:cubicBezTo>
                      <a:pt x="218941" y="59"/>
                      <a:pt x="215449" y="378"/>
                      <a:pt x="212512" y="2016"/>
                    </a:cubicBezTo>
                    <a:lnTo>
                      <a:pt x="167729" y="27048"/>
                    </a:lnTo>
                    <a:lnTo>
                      <a:pt x="122902" y="1971"/>
                    </a:lnTo>
                    <a:cubicBezTo>
                      <a:pt x="119963" y="324"/>
                      <a:pt x="116465" y="0"/>
                      <a:pt x="113273" y="1078"/>
                    </a:cubicBezTo>
                    <a:cubicBezTo>
                      <a:pt x="93285" y="7822"/>
                      <a:pt x="74760" y="18302"/>
                      <a:pt x="58683" y="31960"/>
                    </a:cubicBezTo>
                    <a:cubicBezTo>
                      <a:pt x="56025" y="34210"/>
                      <a:pt x="54486" y="37511"/>
                      <a:pt x="54471" y="40994"/>
                    </a:cubicBezTo>
                    <a:lnTo>
                      <a:pt x="54248" y="91074"/>
                    </a:lnTo>
                    <a:lnTo>
                      <a:pt x="9852" y="116375"/>
                    </a:lnTo>
                    <a:cubicBezTo>
                      <a:pt x="6847" y="118086"/>
                      <a:pt x="4734" y="121019"/>
                      <a:pt x="4063" y="124412"/>
                    </a:cubicBezTo>
                    <a:cubicBezTo>
                      <a:pt x="0" y="144829"/>
                      <a:pt x="0" y="165847"/>
                      <a:pt x="4063" y="186265"/>
                    </a:cubicBezTo>
                    <a:cubicBezTo>
                      <a:pt x="4734" y="189657"/>
                      <a:pt x="6847" y="192591"/>
                      <a:pt x="9852" y="194301"/>
                    </a:cubicBezTo>
                    <a:lnTo>
                      <a:pt x="54248" y="219602"/>
                    </a:lnTo>
                    <a:lnTo>
                      <a:pt x="54427" y="269653"/>
                    </a:lnTo>
                    <a:cubicBezTo>
                      <a:pt x="54437" y="273141"/>
                      <a:pt x="55977" y="276448"/>
                      <a:pt x="58638" y="278702"/>
                    </a:cubicBezTo>
                    <a:cubicBezTo>
                      <a:pt x="74743" y="292324"/>
                      <a:pt x="93288" y="302763"/>
                      <a:pt x="113288" y="309465"/>
                    </a:cubicBezTo>
                    <a:cubicBezTo>
                      <a:pt x="116473" y="310543"/>
                      <a:pt x="119965" y="310224"/>
                      <a:pt x="122902" y="308587"/>
                    </a:cubicBezTo>
                    <a:lnTo>
                      <a:pt x="167729" y="283479"/>
                    </a:lnTo>
                    <a:lnTo>
                      <a:pt x="212556" y="308557"/>
                    </a:lnTo>
                    <a:cubicBezTo>
                      <a:pt x="214330" y="309545"/>
                      <a:pt x="216330" y="310058"/>
                      <a:pt x="218361" y="310045"/>
                    </a:cubicBezTo>
                    <a:cubicBezTo>
                      <a:pt x="219661" y="310045"/>
                      <a:pt x="220953" y="309834"/>
                      <a:pt x="222186" y="309420"/>
                    </a:cubicBezTo>
                    <a:cubicBezTo>
                      <a:pt x="242169" y="302679"/>
                      <a:pt x="260693" y="292210"/>
                      <a:pt x="276776" y="278568"/>
                    </a:cubicBezTo>
                    <a:cubicBezTo>
                      <a:pt x="279433" y="276318"/>
                      <a:pt x="280972" y="273016"/>
                      <a:pt x="280988" y="269534"/>
                    </a:cubicBezTo>
                    <a:lnTo>
                      <a:pt x="281211" y="219453"/>
                    </a:lnTo>
                    <a:lnTo>
                      <a:pt x="325606" y="194153"/>
                    </a:lnTo>
                    <a:cubicBezTo>
                      <a:pt x="328612" y="192442"/>
                      <a:pt x="330725" y="189509"/>
                      <a:pt x="331396" y="186116"/>
                    </a:cubicBezTo>
                    <a:cubicBezTo>
                      <a:pt x="335436" y="165715"/>
                      <a:pt x="335421" y="144718"/>
                      <a:pt x="331351" y="124323"/>
                    </a:cubicBezTo>
                    <a:close/>
                    <a:moveTo>
                      <a:pt x="309027" y="176278"/>
                    </a:moveTo>
                    <a:lnTo>
                      <a:pt x="266507" y="200463"/>
                    </a:lnTo>
                    <a:cubicBezTo>
                      <a:pt x="264644" y="201522"/>
                      <a:pt x="263101" y="203065"/>
                      <a:pt x="262042" y="204928"/>
                    </a:cubicBezTo>
                    <a:cubicBezTo>
                      <a:pt x="261179" y="206416"/>
                      <a:pt x="260271" y="207994"/>
                      <a:pt x="259348" y="209482"/>
                    </a:cubicBezTo>
                    <a:cubicBezTo>
                      <a:pt x="258167" y="211359"/>
                      <a:pt x="257538" y="213530"/>
                      <a:pt x="257532" y="215748"/>
                    </a:cubicBezTo>
                    <a:lnTo>
                      <a:pt x="257309" y="263745"/>
                    </a:lnTo>
                    <a:cubicBezTo>
                      <a:pt x="245880" y="272720"/>
                      <a:pt x="233147" y="279897"/>
                      <a:pt x="219551" y="285027"/>
                    </a:cubicBezTo>
                    <a:lnTo>
                      <a:pt x="176659" y="261125"/>
                    </a:lnTo>
                    <a:cubicBezTo>
                      <a:pt x="174878" y="260140"/>
                      <a:pt x="172875" y="259628"/>
                      <a:pt x="170840" y="259637"/>
                    </a:cubicBezTo>
                    <a:lnTo>
                      <a:pt x="170557" y="259637"/>
                    </a:lnTo>
                    <a:cubicBezTo>
                      <a:pt x="168756" y="259637"/>
                      <a:pt x="166941" y="259637"/>
                      <a:pt x="165140" y="259637"/>
                    </a:cubicBezTo>
                    <a:cubicBezTo>
                      <a:pt x="163010" y="259585"/>
                      <a:pt x="160905" y="260099"/>
                      <a:pt x="159038" y="261125"/>
                    </a:cubicBezTo>
                    <a:lnTo>
                      <a:pt x="116116" y="285087"/>
                    </a:lnTo>
                    <a:cubicBezTo>
                      <a:pt x="102491" y="279996"/>
                      <a:pt x="89723" y="272854"/>
                      <a:pt x="78254" y="263908"/>
                    </a:cubicBezTo>
                    <a:lnTo>
                      <a:pt x="78090" y="215986"/>
                    </a:lnTo>
                    <a:cubicBezTo>
                      <a:pt x="78083" y="213764"/>
                      <a:pt x="77454" y="211588"/>
                      <a:pt x="76274" y="209705"/>
                    </a:cubicBezTo>
                    <a:cubicBezTo>
                      <a:pt x="75352" y="208217"/>
                      <a:pt x="74444" y="206729"/>
                      <a:pt x="73596" y="205151"/>
                    </a:cubicBezTo>
                    <a:cubicBezTo>
                      <a:pt x="72544" y="203259"/>
                      <a:pt x="71001" y="201686"/>
                      <a:pt x="69131" y="200597"/>
                    </a:cubicBezTo>
                    <a:lnTo>
                      <a:pt x="26566" y="176353"/>
                    </a:lnTo>
                    <a:cubicBezTo>
                      <a:pt x="24363" y="162420"/>
                      <a:pt x="24363" y="148227"/>
                      <a:pt x="26566" y="134294"/>
                    </a:cubicBezTo>
                    <a:lnTo>
                      <a:pt x="69012" y="110065"/>
                    </a:lnTo>
                    <a:cubicBezTo>
                      <a:pt x="70875" y="109005"/>
                      <a:pt x="72417" y="107463"/>
                      <a:pt x="73477" y="105600"/>
                    </a:cubicBezTo>
                    <a:cubicBezTo>
                      <a:pt x="74340" y="104112"/>
                      <a:pt x="75248" y="102534"/>
                      <a:pt x="76170" y="101046"/>
                    </a:cubicBezTo>
                    <a:cubicBezTo>
                      <a:pt x="77351" y="99169"/>
                      <a:pt x="77981" y="96998"/>
                      <a:pt x="77986" y="94780"/>
                    </a:cubicBezTo>
                    <a:lnTo>
                      <a:pt x="78209" y="46783"/>
                    </a:lnTo>
                    <a:cubicBezTo>
                      <a:pt x="89638" y="37808"/>
                      <a:pt x="102371" y="30631"/>
                      <a:pt x="115967" y="25501"/>
                    </a:cubicBezTo>
                    <a:lnTo>
                      <a:pt x="158800" y="49402"/>
                    </a:lnTo>
                    <a:cubicBezTo>
                      <a:pt x="160664" y="50436"/>
                      <a:pt x="162771" y="50950"/>
                      <a:pt x="164902" y="50891"/>
                    </a:cubicBezTo>
                    <a:cubicBezTo>
                      <a:pt x="166702" y="50891"/>
                      <a:pt x="168518" y="50891"/>
                      <a:pt x="170319" y="50891"/>
                    </a:cubicBezTo>
                    <a:cubicBezTo>
                      <a:pt x="172449" y="50950"/>
                      <a:pt x="174557" y="50436"/>
                      <a:pt x="176421" y="49402"/>
                    </a:cubicBezTo>
                    <a:lnTo>
                      <a:pt x="219343" y="25441"/>
                    </a:lnTo>
                    <a:cubicBezTo>
                      <a:pt x="232968" y="30532"/>
                      <a:pt x="245736" y="37674"/>
                      <a:pt x="257205" y="46619"/>
                    </a:cubicBezTo>
                    <a:lnTo>
                      <a:pt x="257369" y="94542"/>
                    </a:lnTo>
                    <a:cubicBezTo>
                      <a:pt x="257376" y="96764"/>
                      <a:pt x="258005" y="98939"/>
                      <a:pt x="259184" y="100823"/>
                    </a:cubicBezTo>
                    <a:cubicBezTo>
                      <a:pt x="260107" y="102311"/>
                      <a:pt x="261015" y="103799"/>
                      <a:pt x="261863" y="105377"/>
                    </a:cubicBezTo>
                    <a:cubicBezTo>
                      <a:pt x="262915" y="107268"/>
                      <a:pt x="264457" y="108842"/>
                      <a:pt x="266328" y="109931"/>
                    </a:cubicBezTo>
                    <a:lnTo>
                      <a:pt x="308893" y="134175"/>
                    </a:lnTo>
                    <a:cubicBezTo>
                      <a:pt x="311125" y="148119"/>
                      <a:pt x="311150" y="162327"/>
                      <a:pt x="308967" y="17627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3" name="TextBox 33"/>
            <p:cNvSpPr txBox="1"/>
            <p:nvPr/>
          </p:nvSpPr>
          <p:spPr>
            <a:xfrm>
              <a:off x="5996940" y="2263140"/>
              <a:ext cx="9530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FastAPI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04560" y="2651760"/>
              <a:ext cx="168668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模块化 API · 端口 8000</a:t>
              </a:r>
            </a:p>
          </p:txBody>
        </p:sp>
        <p:sp>
          <p:nvSpPr>
            <p:cNvPr id="35" name="Line 35"/>
            <p:cNvSpPr/>
            <p:nvPr/>
          </p:nvSpPr>
          <p:spPr>
            <a:xfrm>
              <a:off x="5067300" y="3181350"/>
              <a:ext cx="2057400" cy="9525"/>
            </a:xfrm>
            <a:custGeom>
              <a:avLst/>
              <a:gdLst/>
              <a:ahLst/>
              <a:cxnLst/>
              <a:rect l="l" t="t" r="r" b="b"/>
              <a:pathLst>
                <a:path w="2057400" h="9525">
                  <a:moveTo>
                    <a:pt x="0" y="0"/>
                  </a:moveTo>
                  <a:lnTo>
                    <a:pt x="2057400" y="0"/>
                  </a:lnTo>
                </a:path>
              </a:pathLst>
            </a:custGeom>
            <a:noFill/>
            <a:ln w="19050">
              <a:solidFill>
                <a:srgbClr val="DCEBE3"/>
              </a:solidFill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053012" y="3402806"/>
              <a:ext cx="1746290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认证 / 推荐 / 地图 / 评价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5053012" y="3707606"/>
              <a:ext cx="1573768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目录 / 收藏 / 个人中心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053012" y="4012406"/>
              <a:ext cx="170128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管理接口 /admin/api/v1</a:t>
              </a:r>
            </a:p>
          </p:txBody>
        </p:sp>
        <p:sp>
          <p:nvSpPr>
            <p:cNvPr id="39" name="Rectangle 39"/>
            <p:cNvSpPr/>
            <p:nvPr/>
          </p:nvSpPr>
          <p:spPr>
            <a:xfrm>
              <a:off x="5067300" y="4495800"/>
              <a:ext cx="2057400" cy="36195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0" name="TextBox 40"/>
            <p:cNvSpPr txBox="1"/>
            <p:nvPr/>
          </p:nvSpPr>
          <p:spPr>
            <a:xfrm>
              <a:off x="5127046" y="4611052"/>
              <a:ext cx="1937909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共享业务库，校园和权限隔离</a:t>
              </a:r>
            </a:p>
          </p:txBody>
        </p:sp>
      </p:grpSp>
      <p:grpSp>
        <p:nvGrpSpPr>
          <p:cNvPr id="74" name="Group 74"/>
          <p:cNvGrpSpPr/>
          <p:nvPr/>
        </p:nvGrpSpPr>
        <p:grpSpPr>
          <a:xfrm>
            <a:off x="8877300" y="1238250"/>
            <a:ext cx="2781300" cy="4572000"/>
            <a:chOff x="8877300" y="1238250"/>
            <a:chExt cx="2781300" cy="4572000"/>
          </a:xfrm>
        </p:grpSpPr>
        <p:sp>
          <p:nvSpPr>
            <p:cNvPr id="42" name="Rectangle 42"/>
            <p:cNvSpPr/>
            <p:nvPr/>
          </p:nvSpPr>
          <p:spPr>
            <a:xfrm>
              <a:off x="8877300" y="1238250"/>
              <a:ext cx="2781300" cy="4572000"/>
            </a:xfrm>
            <a:prstGeom prst="roundRect">
              <a:avLst>
                <a:gd name="adj" fmla="val 8219"/>
              </a:avLst>
            </a:prstGeom>
            <a:solidFill>
              <a:srgbClr val="EAF7EF"/>
            </a:solidFill>
            <a:ln w="14288">
              <a:solidFill>
                <a:srgbClr val="BFD9CC"/>
              </a:solidFill>
            </a:ln>
          </p:spPr>
        </p:sp>
        <p:sp>
          <p:nvSpPr>
            <p:cNvPr id="43" name="Rectangle 43"/>
            <p:cNvSpPr/>
            <p:nvPr/>
          </p:nvSpPr>
          <p:spPr>
            <a:xfrm>
              <a:off x="8877300" y="1238250"/>
              <a:ext cx="2781300" cy="45720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44" name="Rectangle 44"/>
            <p:cNvSpPr/>
            <p:nvPr/>
          </p:nvSpPr>
          <p:spPr>
            <a:xfrm>
              <a:off x="8877300" y="1466850"/>
              <a:ext cx="2781300" cy="228600"/>
            </a:xfrm>
            <a:prstGeom prst="rect">
              <a:avLst/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9530220" y="1413510"/>
              <a:ext cx="1475461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DATA AND SERVICES</a:t>
              </a:r>
            </a:p>
          </p:txBody>
        </p:sp>
        <p:grpSp>
          <p:nvGrpSpPr>
            <p:cNvPr id="52" name="Group 52"/>
            <p:cNvGrpSpPr/>
            <p:nvPr/>
          </p:nvGrpSpPr>
          <p:grpSpPr>
            <a:xfrm>
              <a:off x="9163050" y="1962150"/>
              <a:ext cx="2359952" cy="685800"/>
              <a:chOff x="9163050" y="1962150"/>
              <a:chExt cx="2359952" cy="685800"/>
            </a:xfrm>
          </p:grpSpPr>
          <p:sp>
            <p:nvSpPr>
              <p:cNvPr id="46" name="Rectangle 46"/>
              <p:cNvSpPr/>
              <p:nvPr/>
            </p:nvSpPr>
            <p:spPr>
              <a:xfrm>
                <a:off x="9163050" y="19621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49" name="Group 49"/>
              <p:cNvGrpSpPr/>
              <p:nvPr/>
            </p:nvGrpSpPr>
            <p:grpSpPr>
              <a:xfrm>
                <a:off x="9413081" y="2163961"/>
                <a:ext cx="242887" cy="263127"/>
                <a:chOff x="9413081" y="2163961"/>
                <a:chExt cx="242887" cy="263127"/>
              </a:xfrm>
            </p:grpSpPr>
            <p:sp>
              <p:nvSpPr>
                <p:cNvPr id="47" name="Freeform 47"/>
                <p:cNvSpPr/>
                <p:nvPr/>
              </p:nvSpPr>
              <p:spPr>
                <a:xfrm>
                  <a:off x="9423201" y="2174081"/>
                  <a:ext cx="222646" cy="1214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6" h="121443">
                      <a:moveTo>
                        <a:pt x="222646" y="60722"/>
                      </a:moveTo>
                      <a:cubicBezTo>
                        <a:pt x="222646" y="94258"/>
                        <a:pt x="172804" y="121443"/>
                        <a:pt x="111323" y="121443"/>
                      </a:cubicBezTo>
                      <a:cubicBezTo>
                        <a:pt x="49842" y="121443"/>
                        <a:pt x="0" y="94258"/>
                        <a:pt x="0" y="60722"/>
                      </a:cubicBezTo>
                      <a:cubicBezTo>
                        <a:pt x="0" y="27186"/>
                        <a:pt x="49842" y="0"/>
                        <a:pt x="111323" y="0"/>
                      </a:cubicBezTo>
                      <a:cubicBezTo>
                        <a:pt x="172804" y="0"/>
                        <a:pt x="222646" y="27186"/>
                        <a:pt x="222646" y="60722"/>
                      </a:cubicBezTo>
                      <a:close/>
                    </a:path>
                  </a:pathLst>
                </a:custGeom>
                <a:solidFill>
                  <a:srgbClr val="1F8A70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48" name="Freeform 48"/>
                <p:cNvSpPr/>
                <p:nvPr/>
              </p:nvSpPr>
              <p:spPr>
                <a:xfrm>
                  <a:off x="9413081" y="2163961"/>
                  <a:ext cx="242887" cy="26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42887" h="263127">
                      <a:moveTo>
                        <a:pt x="121443" y="0"/>
                      </a:moveTo>
                      <a:cubicBezTo>
                        <a:pt x="53346" y="0"/>
                        <a:pt x="0" y="31120"/>
                        <a:pt x="0" y="70842"/>
                      </a:cubicBezTo>
                      <a:lnTo>
                        <a:pt x="0" y="192285"/>
                      </a:lnTo>
                      <a:cubicBezTo>
                        <a:pt x="0" y="232007"/>
                        <a:pt x="53346" y="263127"/>
                        <a:pt x="121443" y="263127"/>
                      </a:cubicBezTo>
                      <a:cubicBezTo>
                        <a:pt x="189540" y="263127"/>
                        <a:pt x="242887" y="232007"/>
                        <a:pt x="242887" y="192285"/>
                      </a:cubicBezTo>
                      <a:lnTo>
                        <a:pt x="242887" y="70842"/>
                      </a:lnTo>
                      <a:cubicBezTo>
                        <a:pt x="242887" y="31120"/>
                        <a:pt x="189540" y="0"/>
                        <a:pt x="121443" y="0"/>
                      </a:cubicBezTo>
                      <a:close/>
                      <a:moveTo>
                        <a:pt x="222646" y="131564"/>
                      </a:moveTo>
                      <a:cubicBezTo>
                        <a:pt x="222646" y="143733"/>
                        <a:pt x="212678" y="156143"/>
                        <a:pt x="195309" y="165618"/>
                      </a:cubicBezTo>
                      <a:cubicBezTo>
                        <a:pt x="175751" y="176283"/>
                        <a:pt x="149514" y="182165"/>
                        <a:pt x="121443" y="182165"/>
                      </a:cubicBezTo>
                      <a:cubicBezTo>
                        <a:pt x="93372" y="182165"/>
                        <a:pt x="67135" y="176283"/>
                        <a:pt x="47578" y="165618"/>
                      </a:cubicBezTo>
                      <a:cubicBezTo>
                        <a:pt x="30209" y="156143"/>
                        <a:pt x="20241" y="143733"/>
                        <a:pt x="20241" y="131564"/>
                      </a:cubicBezTo>
                      <a:lnTo>
                        <a:pt x="20241" y="110513"/>
                      </a:lnTo>
                      <a:cubicBezTo>
                        <a:pt x="41822" y="129489"/>
                        <a:pt x="78723" y="141684"/>
                        <a:pt x="121443" y="141684"/>
                      </a:cubicBezTo>
                      <a:cubicBezTo>
                        <a:pt x="164164" y="141684"/>
                        <a:pt x="201065" y="129438"/>
                        <a:pt x="222646" y="110513"/>
                      </a:cubicBezTo>
                      <a:close/>
                      <a:moveTo>
                        <a:pt x="47578" y="36787"/>
                      </a:moveTo>
                      <a:cubicBezTo>
                        <a:pt x="67135" y="26123"/>
                        <a:pt x="93372" y="20241"/>
                        <a:pt x="121443" y="20241"/>
                      </a:cubicBezTo>
                      <a:cubicBezTo>
                        <a:pt x="149514" y="20241"/>
                        <a:pt x="175751" y="26123"/>
                        <a:pt x="195309" y="36787"/>
                      </a:cubicBezTo>
                      <a:cubicBezTo>
                        <a:pt x="212678" y="46262"/>
                        <a:pt x="222646" y="58672"/>
                        <a:pt x="222646" y="70842"/>
                      </a:cubicBezTo>
                      <a:cubicBezTo>
                        <a:pt x="222646" y="83012"/>
                        <a:pt x="212678" y="95422"/>
                        <a:pt x="195309" y="104897"/>
                      </a:cubicBezTo>
                      <a:cubicBezTo>
                        <a:pt x="175751" y="115561"/>
                        <a:pt x="149514" y="121443"/>
                        <a:pt x="121443" y="121443"/>
                      </a:cubicBezTo>
                      <a:cubicBezTo>
                        <a:pt x="93372" y="121443"/>
                        <a:pt x="67135" y="115561"/>
                        <a:pt x="47578" y="104897"/>
                      </a:cubicBezTo>
                      <a:cubicBezTo>
                        <a:pt x="30209" y="95422"/>
                        <a:pt x="20241" y="83012"/>
                        <a:pt x="20241" y="70842"/>
                      </a:cubicBezTo>
                      <a:cubicBezTo>
                        <a:pt x="20241" y="58672"/>
                        <a:pt x="30209" y="46262"/>
                        <a:pt x="47578" y="36787"/>
                      </a:cubicBezTo>
                      <a:close/>
                      <a:moveTo>
                        <a:pt x="195309" y="226340"/>
                      </a:moveTo>
                      <a:cubicBezTo>
                        <a:pt x="175751" y="237004"/>
                        <a:pt x="149514" y="242887"/>
                        <a:pt x="121443" y="242887"/>
                      </a:cubicBezTo>
                      <a:cubicBezTo>
                        <a:pt x="93372" y="242887"/>
                        <a:pt x="67135" y="237004"/>
                        <a:pt x="47578" y="226340"/>
                      </a:cubicBezTo>
                      <a:cubicBezTo>
                        <a:pt x="30209" y="216865"/>
                        <a:pt x="20241" y="204455"/>
                        <a:pt x="20241" y="192285"/>
                      </a:cubicBezTo>
                      <a:lnTo>
                        <a:pt x="20241" y="171235"/>
                      </a:lnTo>
                      <a:cubicBezTo>
                        <a:pt x="41822" y="190211"/>
                        <a:pt x="78723" y="202405"/>
                        <a:pt x="121443" y="202405"/>
                      </a:cubicBezTo>
                      <a:cubicBezTo>
                        <a:pt x="164164" y="202405"/>
                        <a:pt x="201065" y="190160"/>
                        <a:pt x="222646" y="171235"/>
                      </a:cubicBezTo>
                      <a:lnTo>
                        <a:pt x="222646" y="192285"/>
                      </a:lnTo>
                      <a:cubicBezTo>
                        <a:pt x="222646" y="204455"/>
                        <a:pt x="212678" y="216865"/>
                        <a:pt x="195309" y="226340"/>
                      </a:cubicBezTo>
                      <a:close/>
                    </a:path>
                  </a:pathLst>
                </a:custGeom>
                <a:solidFill>
                  <a:srgbClr val="1F8A70"/>
                </a:solidFill>
                <a:ln>
                  <a:noFill/>
                </a:ln>
              </p:spPr>
            </p:sp>
          </p:grpSp>
          <p:sp>
            <p:nvSpPr>
              <p:cNvPr id="50" name="TextBox 50"/>
              <p:cNvSpPr txBox="1"/>
              <p:nvPr/>
            </p:nvSpPr>
            <p:spPr>
              <a:xfrm>
                <a:off x="9795510" y="2099310"/>
                <a:ext cx="1727492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SQLite / PostgreSQL</a:t>
                </a:r>
              </a:p>
            </p:txBody>
          </p:sp>
          <p:sp>
            <p:nvSpPr>
              <p:cNvPr id="51" name="TextBox 51"/>
              <p:cNvSpPr txBox="1"/>
              <p:nvPr/>
            </p:nvSpPr>
            <p:spPr>
              <a:xfrm>
                <a:off x="9799320" y="23602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开发存储与生产扩展</a:t>
                </a:r>
              </a:p>
            </p:txBody>
          </p:sp>
        </p:grpSp>
        <p:grpSp>
          <p:nvGrpSpPr>
            <p:cNvPr id="59" name="Group 59"/>
            <p:cNvGrpSpPr/>
            <p:nvPr/>
          </p:nvGrpSpPr>
          <p:grpSpPr>
            <a:xfrm>
              <a:off x="9163050" y="2876550"/>
              <a:ext cx="2209800" cy="685800"/>
              <a:chOff x="9163050" y="2876550"/>
              <a:chExt cx="2209800" cy="685800"/>
            </a:xfrm>
          </p:grpSpPr>
          <p:sp>
            <p:nvSpPr>
              <p:cNvPr id="53" name="Rectangle 53"/>
              <p:cNvSpPr/>
              <p:nvPr/>
            </p:nvSpPr>
            <p:spPr>
              <a:xfrm>
                <a:off x="9163050" y="28765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56" name="Group 56"/>
              <p:cNvGrpSpPr/>
              <p:nvPr/>
            </p:nvGrpSpPr>
            <p:grpSpPr>
              <a:xfrm>
                <a:off x="9382711" y="3073275"/>
                <a:ext cx="303618" cy="263179"/>
                <a:chOff x="9382711" y="3073275"/>
                <a:chExt cx="303618" cy="263179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9392786" y="3088481"/>
                  <a:ext cx="283430" cy="23276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3430" h="232766">
                      <a:moveTo>
                        <a:pt x="283422" y="116383"/>
                      </a:moveTo>
                      <a:cubicBezTo>
                        <a:pt x="283430" y="142123"/>
                        <a:pt x="267209" y="165071"/>
                        <a:pt x="242941" y="173651"/>
                      </a:cubicBezTo>
                      <a:lnTo>
                        <a:pt x="242941" y="173651"/>
                      </a:lnTo>
                      <a:lnTo>
                        <a:pt x="242941" y="182165"/>
                      </a:lnTo>
                      <a:cubicBezTo>
                        <a:pt x="242941" y="210111"/>
                        <a:pt x="220286" y="232766"/>
                        <a:pt x="192340" y="232766"/>
                      </a:cubicBezTo>
                      <a:cubicBezTo>
                        <a:pt x="164393" y="232766"/>
                        <a:pt x="141738" y="210111"/>
                        <a:pt x="141738" y="182165"/>
                      </a:cubicBezTo>
                      <a:cubicBezTo>
                        <a:pt x="141738" y="210111"/>
                        <a:pt x="119083" y="232766"/>
                        <a:pt x="91137" y="232766"/>
                      </a:cubicBezTo>
                      <a:cubicBezTo>
                        <a:pt x="63190" y="232766"/>
                        <a:pt x="40535" y="210111"/>
                        <a:pt x="40535" y="182165"/>
                      </a:cubicBezTo>
                      <a:lnTo>
                        <a:pt x="40535" y="173651"/>
                      </a:lnTo>
                      <a:lnTo>
                        <a:pt x="40535" y="173651"/>
                      </a:lnTo>
                      <a:cubicBezTo>
                        <a:pt x="16246" y="165090"/>
                        <a:pt x="0" y="142137"/>
                        <a:pt x="0" y="116383"/>
                      </a:cubicBezTo>
                      <a:cubicBezTo>
                        <a:pt x="0" y="90629"/>
                        <a:pt x="16246" y="67677"/>
                        <a:pt x="40535" y="59115"/>
                      </a:cubicBezTo>
                      <a:lnTo>
                        <a:pt x="40535" y="50601"/>
                      </a:lnTo>
                      <a:cubicBezTo>
                        <a:pt x="40535" y="22655"/>
                        <a:pt x="63190" y="0"/>
                        <a:pt x="91137" y="0"/>
                      </a:cubicBezTo>
                      <a:cubicBezTo>
                        <a:pt x="119083" y="0"/>
                        <a:pt x="141738" y="22655"/>
                        <a:pt x="141738" y="50601"/>
                      </a:cubicBezTo>
                      <a:cubicBezTo>
                        <a:pt x="141738" y="22655"/>
                        <a:pt x="164393" y="0"/>
                        <a:pt x="192340" y="0"/>
                      </a:cubicBezTo>
                      <a:cubicBezTo>
                        <a:pt x="220286" y="0"/>
                        <a:pt x="242941" y="22655"/>
                        <a:pt x="242941" y="50601"/>
                      </a:cubicBezTo>
                      <a:lnTo>
                        <a:pt x="242941" y="59115"/>
                      </a:lnTo>
                      <a:cubicBezTo>
                        <a:pt x="267209" y="67695"/>
                        <a:pt x="283430" y="90643"/>
                        <a:pt x="283422" y="116383"/>
                      </a:cubicBezTo>
                      <a:close/>
                    </a:path>
                  </a:pathLst>
                </a:custGeom>
                <a:solidFill>
                  <a:srgbClr val="3A86FF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55" name="Freeform 55"/>
                <p:cNvSpPr/>
                <p:nvPr/>
              </p:nvSpPr>
              <p:spPr>
                <a:xfrm>
                  <a:off x="9382711" y="3073275"/>
                  <a:ext cx="303618" cy="26317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3618" h="263179">
                      <a:moveTo>
                        <a:pt x="303618" y="131589"/>
                      </a:moveTo>
                      <a:cubicBezTo>
                        <a:pt x="303590" y="104230"/>
                        <a:pt x="287841" y="79322"/>
                        <a:pt x="263137" y="67566"/>
                      </a:cubicBezTo>
                      <a:lnTo>
                        <a:pt x="263137" y="65808"/>
                      </a:lnTo>
                      <a:cubicBezTo>
                        <a:pt x="263113" y="39034"/>
                        <a:pt x="245555" y="15435"/>
                        <a:pt x="219918" y="7718"/>
                      </a:cubicBezTo>
                      <a:cubicBezTo>
                        <a:pt x="194280" y="0"/>
                        <a:pt x="166613" y="9985"/>
                        <a:pt x="151814" y="32297"/>
                      </a:cubicBezTo>
                      <a:cubicBezTo>
                        <a:pt x="137014" y="9985"/>
                        <a:pt x="109347" y="0"/>
                        <a:pt x="83709" y="7718"/>
                      </a:cubicBezTo>
                      <a:cubicBezTo>
                        <a:pt x="58072" y="15435"/>
                        <a:pt x="40515" y="39034"/>
                        <a:pt x="40491" y="65808"/>
                      </a:cubicBezTo>
                      <a:lnTo>
                        <a:pt x="40491" y="67566"/>
                      </a:lnTo>
                      <a:cubicBezTo>
                        <a:pt x="15763" y="79291"/>
                        <a:pt x="0" y="104210"/>
                        <a:pt x="0" y="131577"/>
                      </a:cubicBezTo>
                      <a:cubicBezTo>
                        <a:pt x="0" y="158943"/>
                        <a:pt x="15763" y="183862"/>
                        <a:pt x="40491" y="195587"/>
                      </a:cubicBezTo>
                      <a:lnTo>
                        <a:pt x="40491" y="197371"/>
                      </a:lnTo>
                      <a:cubicBezTo>
                        <a:pt x="40515" y="224145"/>
                        <a:pt x="58072" y="247744"/>
                        <a:pt x="83709" y="255461"/>
                      </a:cubicBezTo>
                      <a:cubicBezTo>
                        <a:pt x="109347" y="263179"/>
                        <a:pt x="137014" y="253194"/>
                        <a:pt x="151814" y="230882"/>
                      </a:cubicBezTo>
                      <a:cubicBezTo>
                        <a:pt x="166613" y="253194"/>
                        <a:pt x="194280" y="263179"/>
                        <a:pt x="219918" y="255461"/>
                      </a:cubicBezTo>
                      <a:cubicBezTo>
                        <a:pt x="245555" y="247744"/>
                        <a:pt x="263113" y="224145"/>
                        <a:pt x="263137" y="197371"/>
                      </a:cubicBezTo>
                      <a:lnTo>
                        <a:pt x="263137" y="195587"/>
                      </a:lnTo>
                      <a:cubicBezTo>
                        <a:pt x="287837" y="183840"/>
                        <a:pt x="303587" y="158941"/>
                        <a:pt x="303618" y="131589"/>
                      </a:cubicBezTo>
                      <a:close/>
                      <a:moveTo>
                        <a:pt x="101212" y="237852"/>
                      </a:moveTo>
                      <a:cubicBezTo>
                        <a:pt x="80542" y="237849"/>
                        <a:pt x="63194" y="222274"/>
                        <a:pt x="60971" y="201723"/>
                      </a:cubicBezTo>
                      <a:cubicBezTo>
                        <a:pt x="64244" y="202190"/>
                        <a:pt x="67546" y="202426"/>
                        <a:pt x="70851" y="202431"/>
                      </a:cubicBezTo>
                      <a:lnTo>
                        <a:pt x="80972" y="202431"/>
                      </a:lnTo>
                      <a:cubicBezTo>
                        <a:pt x="86561" y="202431"/>
                        <a:pt x="91092" y="197900"/>
                        <a:pt x="91092" y="192311"/>
                      </a:cubicBezTo>
                      <a:cubicBezTo>
                        <a:pt x="91092" y="186722"/>
                        <a:pt x="86561" y="182191"/>
                        <a:pt x="80972" y="182191"/>
                      </a:cubicBezTo>
                      <a:lnTo>
                        <a:pt x="70851" y="182191"/>
                      </a:lnTo>
                      <a:cubicBezTo>
                        <a:pt x="46183" y="182220"/>
                        <a:pt x="25089" y="164456"/>
                        <a:pt x="20919" y="140142"/>
                      </a:cubicBezTo>
                      <a:cubicBezTo>
                        <a:pt x="16749" y="115829"/>
                        <a:pt x="30720" y="92052"/>
                        <a:pt x="53989" y="83860"/>
                      </a:cubicBezTo>
                      <a:cubicBezTo>
                        <a:pt x="58029" y="82429"/>
                        <a:pt x="60730" y="78608"/>
                        <a:pt x="60731" y="74321"/>
                      </a:cubicBezTo>
                      <a:lnTo>
                        <a:pt x="60731" y="65808"/>
                      </a:lnTo>
                      <a:cubicBezTo>
                        <a:pt x="60731" y="43450"/>
                        <a:pt x="78855" y="25326"/>
                        <a:pt x="101212" y="25326"/>
                      </a:cubicBezTo>
                      <a:cubicBezTo>
                        <a:pt x="123569" y="25326"/>
                        <a:pt x="141693" y="43450"/>
                        <a:pt x="141693" y="65808"/>
                      </a:cubicBezTo>
                      <a:lnTo>
                        <a:pt x="141693" y="152159"/>
                      </a:lnTo>
                      <a:cubicBezTo>
                        <a:pt x="130580" y="142164"/>
                        <a:pt x="116159" y="136638"/>
                        <a:pt x="101212" y="136649"/>
                      </a:cubicBezTo>
                      <a:cubicBezTo>
                        <a:pt x="95623" y="136649"/>
                        <a:pt x="91092" y="141180"/>
                        <a:pt x="91092" y="146770"/>
                      </a:cubicBezTo>
                      <a:cubicBezTo>
                        <a:pt x="91092" y="152359"/>
                        <a:pt x="95623" y="156890"/>
                        <a:pt x="101212" y="156890"/>
                      </a:cubicBezTo>
                      <a:cubicBezTo>
                        <a:pt x="123569" y="156890"/>
                        <a:pt x="141693" y="175014"/>
                        <a:pt x="141693" y="197371"/>
                      </a:cubicBezTo>
                      <a:cubicBezTo>
                        <a:pt x="141693" y="219728"/>
                        <a:pt x="123569" y="237852"/>
                        <a:pt x="101212" y="237852"/>
                      </a:cubicBezTo>
                      <a:close/>
                      <a:moveTo>
                        <a:pt x="232776" y="182191"/>
                      </a:moveTo>
                      <a:lnTo>
                        <a:pt x="222656" y="182191"/>
                      </a:lnTo>
                      <a:cubicBezTo>
                        <a:pt x="217066" y="182191"/>
                        <a:pt x="212535" y="186722"/>
                        <a:pt x="212535" y="192311"/>
                      </a:cubicBezTo>
                      <a:cubicBezTo>
                        <a:pt x="212535" y="197900"/>
                        <a:pt x="217066" y="202431"/>
                        <a:pt x="222656" y="202431"/>
                      </a:cubicBezTo>
                      <a:lnTo>
                        <a:pt x="232776" y="202431"/>
                      </a:lnTo>
                      <a:cubicBezTo>
                        <a:pt x="236082" y="202426"/>
                        <a:pt x="239383" y="202190"/>
                        <a:pt x="242656" y="201723"/>
                      </a:cubicBezTo>
                      <a:cubicBezTo>
                        <a:pt x="240313" y="223389"/>
                        <a:pt x="221239" y="239312"/>
                        <a:pt x="199503" y="237748"/>
                      </a:cubicBezTo>
                      <a:cubicBezTo>
                        <a:pt x="177767" y="236183"/>
                        <a:pt x="161170" y="217692"/>
                        <a:pt x="161954" y="195914"/>
                      </a:cubicBezTo>
                      <a:cubicBezTo>
                        <a:pt x="162739" y="174136"/>
                        <a:pt x="180623" y="156887"/>
                        <a:pt x="202415" y="156890"/>
                      </a:cubicBezTo>
                      <a:cubicBezTo>
                        <a:pt x="208004" y="156890"/>
                        <a:pt x="212535" y="152359"/>
                        <a:pt x="212535" y="146770"/>
                      </a:cubicBezTo>
                      <a:cubicBezTo>
                        <a:pt x="212535" y="141180"/>
                        <a:pt x="208004" y="136649"/>
                        <a:pt x="202415" y="136649"/>
                      </a:cubicBezTo>
                      <a:cubicBezTo>
                        <a:pt x="187468" y="136638"/>
                        <a:pt x="173047" y="142164"/>
                        <a:pt x="161934" y="152159"/>
                      </a:cubicBezTo>
                      <a:lnTo>
                        <a:pt x="161934" y="65808"/>
                      </a:lnTo>
                      <a:cubicBezTo>
                        <a:pt x="161934" y="43450"/>
                        <a:pt x="180058" y="25326"/>
                        <a:pt x="202415" y="25326"/>
                      </a:cubicBezTo>
                      <a:cubicBezTo>
                        <a:pt x="224772" y="25326"/>
                        <a:pt x="242896" y="43450"/>
                        <a:pt x="242896" y="65808"/>
                      </a:cubicBezTo>
                      <a:lnTo>
                        <a:pt x="242896" y="74321"/>
                      </a:lnTo>
                      <a:cubicBezTo>
                        <a:pt x="242897" y="78608"/>
                        <a:pt x="245598" y="82429"/>
                        <a:pt x="249639" y="83860"/>
                      </a:cubicBezTo>
                      <a:cubicBezTo>
                        <a:pt x="272907" y="92052"/>
                        <a:pt x="286878" y="115829"/>
                        <a:pt x="282708" y="140142"/>
                      </a:cubicBezTo>
                      <a:cubicBezTo>
                        <a:pt x="278539" y="164456"/>
                        <a:pt x="257444" y="182220"/>
                        <a:pt x="232776" y="182191"/>
                      </a:cubicBezTo>
                      <a:close/>
                      <a:moveTo>
                        <a:pt x="253016" y="116409"/>
                      </a:moveTo>
                      <a:cubicBezTo>
                        <a:pt x="253016" y="121998"/>
                        <a:pt x="248485" y="126529"/>
                        <a:pt x="242896" y="126529"/>
                      </a:cubicBezTo>
                      <a:lnTo>
                        <a:pt x="237836" y="126529"/>
                      </a:lnTo>
                      <a:cubicBezTo>
                        <a:pt x="212684" y="126529"/>
                        <a:pt x="192295" y="106140"/>
                        <a:pt x="192295" y="80988"/>
                      </a:cubicBezTo>
                      <a:lnTo>
                        <a:pt x="192295" y="75928"/>
                      </a:lnTo>
                      <a:cubicBezTo>
                        <a:pt x="192295" y="70339"/>
                        <a:pt x="196826" y="65808"/>
                        <a:pt x="202415" y="65808"/>
                      </a:cubicBezTo>
                      <a:cubicBezTo>
                        <a:pt x="208004" y="65808"/>
                        <a:pt x="212535" y="70339"/>
                        <a:pt x="212535" y="75928"/>
                      </a:cubicBezTo>
                      <a:lnTo>
                        <a:pt x="212535" y="80988"/>
                      </a:lnTo>
                      <a:cubicBezTo>
                        <a:pt x="212535" y="94961"/>
                        <a:pt x="223863" y="106289"/>
                        <a:pt x="237836" y="106289"/>
                      </a:cubicBezTo>
                      <a:lnTo>
                        <a:pt x="242896" y="106289"/>
                      </a:lnTo>
                      <a:cubicBezTo>
                        <a:pt x="248485" y="106289"/>
                        <a:pt x="253016" y="110820"/>
                        <a:pt x="253016" y="116409"/>
                      </a:cubicBezTo>
                      <a:close/>
                      <a:moveTo>
                        <a:pt x="65791" y="126529"/>
                      </a:moveTo>
                      <a:lnTo>
                        <a:pt x="60731" y="126529"/>
                      </a:lnTo>
                      <a:cubicBezTo>
                        <a:pt x="55142" y="126529"/>
                        <a:pt x="50611" y="121998"/>
                        <a:pt x="50611" y="116409"/>
                      </a:cubicBezTo>
                      <a:cubicBezTo>
                        <a:pt x="50611" y="110820"/>
                        <a:pt x="55142" y="106289"/>
                        <a:pt x="60731" y="106289"/>
                      </a:cubicBezTo>
                      <a:lnTo>
                        <a:pt x="65791" y="106289"/>
                      </a:lnTo>
                      <a:cubicBezTo>
                        <a:pt x="79764" y="106289"/>
                        <a:pt x="91092" y="94961"/>
                        <a:pt x="91092" y="80988"/>
                      </a:cubicBezTo>
                      <a:lnTo>
                        <a:pt x="91092" y="75928"/>
                      </a:lnTo>
                      <a:cubicBezTo>
                        <a:pt x="91092" y="70339"/>
                        <a:pt x="95623" y="65808"/>
                        <a:pt x="101212" y="65808"/>
                      </a:cubicBezTo>
                      <a:cubicBezTo>
                        <a:pt x="106802" y="65808"/>
                        <a:pt x="111333" y="70339"/>
                        <a:pt x="111333" y="75928"/>
                      </a:cubicBezTo>
                      <a:lnTo>
                        <a:pt x="111333" y="80988"/>
                      </a:lnTo>
                      <a:cubicBezTo>
                        <a:pt x="111333" y="106140"/>
                        <a:pt x="90943" y="126529"/>
                        <a:pt x="65791" y="126529"/>
                      </a:cubicBezTo>
                      <a:close/>
                    </a:path>
                  </a:pathLst>
                </a:custGeom>
                <a:solidFill>
                  <a:srgbClr val="3A86FF"/>
                </a:solidFill>
                <a:ln>
                  <a:noFill/>
                </a:ln>
              </p:spPr>
            </p:sp>
          </p:grpSp>
          <p:sp>
            <p:nvSpPr>
              <p:cNvPr id="57" name="TextBox 57"/>
              <p:cNvSpPr txBox="1"/>
              <p:nvPr/>
            </p:nvSpPr>
            <p:spPr>
              <a:xfrm>
                <a:off x="9795510" y="3013710"/>
                <a:ext cx="1055408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DeepSeek API</a:t>
                </a:r>
              </a:p>
            </p:txBody>
          </p:sp>
          <p:sp>
            <p:nvSpPr>
              <p:cNvPr id="58" name="TextBox 58"/>
              <p:cNvSpPr txBox="1"/>
              <p:nvPr/>
            </p:nvSpPr>
            <p:spPr>
              <a:xfrm>
                <a:off x="9799320" y="32746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推荐重排与审核辅助</a:t>
                </a:r>
              </a:p>
            </p:txBody>
          </p:sp>
        </p:grpSp>
        <p:grpSp>
          <p:nvGrpSpPr>
            <p:cNvPr id="66" name="Group 66"/>
            <p:cNvGrpSpPr/>
            <p:nvPr/>
          </p:nvGrpSpPr>
          <p:grpSpPr>
            <a:xfrm>
              <a:off x="9163050" y="3790950"/>
              <a:ext cx="2209800" cy="685800"/>
              <a:chOff x="9163050" y="3790950"/>
              <a:chExt cx="2209800" cy="685800"/>
            </a:xfrm>
          </p:grpSpPr>
          <p:sp>
            <p:nvSpPr>
              <p:cNvPr id="60" name="Rectangle 60"/>
              <p:cNvSpPr/>
              <p:nvPr/>
            </p:nvSpPr>
            <p:spPr>
              <a:xfrm>
                <a:off x="9163050" y="37909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63" name="Group 63"/>
              <p:cNvGrpSpPr/>
              <p:nvPr/>
            </p:nvGrpSpPr>
            <p:grpSpPr>
              <a:xfrm>
                <a:off x="9423201" y="3982641"/>
                <a:ext cx="222646" cy="283975"/>
                <a:chOff x="9423201" y="3982641"/>
                <a:chExt cx="222646" cy="283975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9433322" y="3992761"/>
                  <a:ext cx="202405" cy="263127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02405" h="263127">
                      <a:moveTo>
                        <a:pt x="101203" y="0"/>
                      </a:moveTo>
                      <a:cubicBezTo>
                        <a:pt x="45310" y="0"/>
                        <a:pt x="0" y="45310"/>
                        <a:pt x="0" y="101203"/>
                      </a:cubicBezTo>
                      <a:cubicBezTo>
                        <a:pt x="0" y="192285"/>
                        <a:pt x="101203" y="263127"/>
                        <a:pt x="101203" y="263127"/>
                      </a:cubicBezTo>
                      <a:cubicBezTo>
                        <a:pt x="101203" y="263127"/>
                        <a:pt x="202405" y="192285"/>
                        <a:pt x="202405" y="101203"/>
                      </a:cubicBezTo>
                      <a:cubicBezTo>
                        <a:pt x="202405" y="45310"/>
                        <a:pt x="157095" y="0"/>
                        <a:pt x="101203" y="0"/>
                      </a:cubicBezTo>
                      <a:close/>
                      <a:moveTo>
                        <a:pt x="101203" y="141684"/>
                      </a:moveTo>
                      <a:cubicBezTo>
                        <a:pt x="78846" y="141684"/>
                        <a:pt x="60722" y="123560"/>
                        <a:pt x="60722" y="101203"/>
                      </a:cubicBezTo>
                      <a:cubicBezTo>
                        <a:pt x="60722" y="78846"/>
                        <a:pt x="78846" y="60722"/>
                        <a:pt x="101203" y="60722"/>
                      </a:cubicBezTo>
                      <a:cubicBezTo>
                        <a:pt x="123560" y="60722"/>
                        <a:pt x="141684" y="78846"/>
                        <a:pt x="141684" y="101203"/>
                      </a:cubicBezTo>
                      <a:cubicBezTo>
                        <a:pt x="141684" y="123560"/>
                        <a:pt x="123560" y="141684"/>
                        <a:pt x="101203" y="141684"/>
                      </a:cubicBezTo>
                      <a:close/>
                    </a:path>
                  </a:pathLst>
                </a:custGeom>
                <a:solidFill>
                  <a:srgbClr val="FFB703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2" name="Freeform 62"/>
                <p:cNvSpPr/>
                <p:nvPr/>
              </p:nvSpPr>
              <p:spPr>
                <a:xfrm>
                  <a:off x="9423201" y="3982641"/>
                  <a:ext cx="222646" cy="2839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22646" h="283975">
                      <a:moveTo>
                        <a:pt x="111323" y="60722"/>
                      </a:moveTo>
                      <a:cubicBezTo>
                        <a:pt x="83377" y="60722"/>
                        <a:pt x="60722" y="83377"/>
                        <a:pt x="60722" y="111323"/>
                      </a:cubicBezTo>
                      <a:cubicBezTo>
                        <a:pt x="60722" y="139269"/>
                        <a:pt x="83377" y="161924"/>
                        <a:pt x="111323" y="161924"/>
                      </a:cubicBezTo>
                      <a:cubicBezTo>
                        <a:pt x="139269" y="161924"/>
                        <a:pt x="161924" y="139269"/>
                        <a:pt x="161924" y="111323"/>
                      </a:cubicBezTo>
                      <a:cubicBezTo>
                        <a:pt x="161924" y="83377"/>
                        <a:pt x="139269" y="60722"/>
                        <a:pt x="111323" y="60722"/>
                      </a:cubicBezTo>
                      <a:close/>
                      <a:moveTo>
                        <a:pt x="111323" y="141684"/>
                      </a:moveTo>
                      <a:cubicBezTo>
                        <a:pt x="94555" y="141684"/>
                        <a:pt x="80962" y="128091"/>
                        <a:pt x="80962" y="111323"/>
                      </a:cubicBezTo>
                      <a:cubicBezTo>
                        <a:pt x="80962" y="94555"/>
                        <a:pt x="94555" y="80962"/>
                        <a:pt x="111323" y="80962"/>
                      </a:cubicBezTo>
                      <a:cubicBezTo>
                        <a:pt x="128091" y="80962"/>
                        <a:pt x="141684" y="94555"/>
                        <a:pt x="141684" y="111323"/>
                      </a:cubicBezTo>
                      <a:cubicBezTo>
                        <a:pt x="141684" y="128091"/>
                        <a:pt x="128091" y="141684"/>
                        <a:pt x="111323" y="141684"/>
                      </a:cubicBezTo>
                      <a:close/>
                      <a:moveTo>
                        <a:pt x="111323" y="0"/>
                      </a:moveTo>
                      <a:cubicBezTo>
                        <a:pt x="49870" y="70"/>
                        <a:pt x="70" y="49870"/>
                        <a:pt x="0" y="111323"/>
                      </a:cubicBezTo>
                      <a:cubicBezTo>
                        <a:pt x="0" y="151045"/>
                        <a:pt x="18356" y="193145"/>
                        <a:pt x="53131" y="233083"/>
                      </a:cubicBezTo>
                      <a:cubicBezTo>
                        <a:pt x="68757" y="251129"/>
                        <a:pt x="86344" y="267380"/>
                        <a:pt x="105567" y="281533"/>
                      </a:cubicBezTo>
                      <a:cubicBezTo>
                        <a:pt x="109053" y="283975"/>
                        <a:pt x="113694" y="283975"/>
                        <a:pt x="117180" y="281533"/>
                      </a:cubicBezTo>
                      <a:cubicBezTo>
                        <a:pt x="136368" y="267374"/>
                        <a:pt x="153920" y="251123"/>
                        <a:pt x="169515" y="233083"/>
                      </a:cubicBezTo>
                      <a:cubicBezTo>
                        <a:pt x="204240" y="193145"/>
                        <a:pt x="222646" y="151045"/>
                        <a:pt x="222646" y="111323"/>
                      </a:cubicBezTo>
                      <a:cubicBezTo>
                        <a:pt x="222576" y="49870"/>
                        <a:pt x="172776" y="70"/>
                        <a:pt x="111323" y="0"/>
                      </a:cubicBezTo>
                      <a:close/>
                      <a:moveTo>
                        <a:pt x="111323" y="260597"/>
                      </a:moveTo>
                      <a:cubicBezTo>
                        <a:pt x="90412" y="244152"/>
                        <a:pt x="20241" y="183746"/>
                        <a:pt x="20241" y="111323"/>
                      </a:cubicBezTo>
                      <a:cubicBezTo>
                        <a:pt x="20241" y="61020"/>
                        <a:pt x="61020" y="20241"/>
                        <a:pt x="111323" y="20241"/>
                      </a:cubicBezTo>
                      <a:cubicBezTo>
                        <a:pt x="161626" y="20241"/>
                        <a:pt x="202405" y="61020"/>
                        <a:pt x="202405" y="111323"/>
                      </a:cubicBezTo>
                      <a:cubicBezTo>
                        <a:pt x="202405" y="183721"/>
                        <a:pt x="132234" y="244152"/>
                        <a:pt x="111323" y="260597"/>
                      </a:cubicBezTo>
                      <a:close/>
                    </a:path>
                  </a:pathLst>
                </a:custGeom>
                <a:solidFill>
                  <a:srgbClr val="FFB703"/>
                </a:solidFill>
                <a:ln>
                  <a:noFill/>
                </a:ln>
              </p:spPr>
            </p:sp>
          </p:grpSp>
          <p:sp>
            <p:nvSpPr>
              <p:cNvPr id="64" name="TextBox 64"/>
              <p:cNvSpPr txBox="1"/>
              <p:nvPr/>
            </p:nvSpPr>
            <p:spPr>
              <a:xfrm>
                <a:off x="9795510" y="3928110"/>
                <a:ext cx="1206627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地图与图片存储</a:t>
                </a:r>
              </a:p>
            </p:txBody>
          </p:sp>
          <p:sp>
            <p:nvSpPr>
              <p:cNvPr id="65" name="TextBox 65"/>
              <p:cNvSpPr txBox="1"/>
              <p:nvPr/>
            </p:nvSpPr>
            <p:spPr>
              <a:xfrm>
                <a:off x="9799320" y="4189095"/>
                <a:ext cx="1493044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高德 Key 可选，失败可降级</a:t>
                </a:r>
              </a:p>
            </p:txBody>
          </p:sp>
        </p:grpSp>
        <p:grpSp>
          <p:nvGrpSpPr>
            <p:cNvPr id="73" name="Group 73"/>
            <p:cNvGrpSpPr/>
            <p:nvPr/>
          </p:nvGrpSpPr>
          <p:grpSpPr>
            <a:xfrm>
              <a:off x="9163050" y="4705350"/>
              <a:ext cx="2209800" cy="685800"/>
              <a:chOff x="9163050" y="4705350"/>
              <a:chExt cx="2209800" cy="685800"/>
            </a:xfrm>
          </p:grpSpPr>
          <p:sp>
            <p:nvSpPr>
              <p:cNvPr id="67" name="Rectangle 67"/>
              <p:cNvSpPr/>
              <p:nvPr/>
            </p:nvSpPr>
            <p:spPr>
              <a:xfrm>
                <a:off x="9163050" y="4705350"/>
                <a:ext cx="2209800" cy="685800"/>
              </a:xfrm>
              <a:prstGeom prst="roundRect">
                <a:avLst>
                  <a:gd name="adj" fmla="val 22222"/>
                </a:avLst>
              </a:prstGeom>
              <a:solidFill>
                <a:srgbClr val="FFFFFF"/>
              </a:solidFill>
              <a:ln w="9525">
                <a:solidFill>
                  <a:srgbClr val="BFD9CC"/>
                </a:solidFill>
              </a:ln>
            </p:spPr>
          </p:sp>
          <p:grpSp>
            <p:nvGrpSpPr>
              <p:cNvPr id="70" name="Group 70"/>
              <p:cNvGrpSpPr/>
              <p:nvPr/>
            </p:nvGrpSpPr>
            <p:grpSpPr>
              <a:xfrm>
                <a:off x="9377884" y="4927401"/>
                <a:ext cx="308445" cy="222646"/>
                <a:chOff x="9377884" y="4927401"/>
                <a:chExt cx="308445" cy="222646"/>
              </a:xfrm>
            </p:grpSpPr>
            <p:sp>
              <p:nvSpPr>
                <p:cNvPr id="68" name="Freeform 68"/>
                <p:cNvSpPr/>
                <p:nvPr/>
              </p:nvSpPr>
              <p:spPr>
                <a:xfrm>
                  <a:off x="9387994" y="4930166"/>
                  <a:ext cx="288215" cy="2097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88215" h="209761">
                      <a:moveTo>
                        <a:pt x="288215" y="108558"/>
                      </a:moveTo>
                      <a:cubicBezTo>
                        <a:pt x="288215" y="164451"/>
                        <a:pt x="242905" y="209761"/>
                        <a:pt x="187012" y="209761"/>
                      </a:cubicBezTo>
                      <a:lnTo>
                        <a:pt x="75689" y="209761"/>
                      </a:lnTo>
                      <a:cubicBezTo>
                        <a:pt x="48269" y="209727"/>
                        <a:pt x="23332" y="193873"/>
                        <a:pt x="11666" y="169059"/>
                      </a:cubicBezTo>
                      <a:cubicBezTo>
                        <a:pt x="0" y="144245"/>
                        <a:pt x="3701" y="114927"/>
                        <a:pt x="21168" y="93791"/>
                      </a:cubicBezTo>
                      <a:cubicBezTo>
                        <a:pt x="38635" y="72655"/>
                        <a:pt x="66731" y="63496"/>
                        <a:pt x="93298" y="70278"/>
                      </a:cubicBezTo>
                      <a:lnTo>
                        <a:pt x="93298" y="70405"/>
                      </a:lnTo>
                      <a:cubicBezTo>
                        <a:pt x="111562" y="25607"/>
                        <a:pt x="158976" y="0"/>
                        <a:pt x="206453" y="9293"/>
                      </a:cubicBezTo>
                      <a:cubicBezTo>
                        <a:pt x="253929" y="18586"/>
                        <a:pt x="288189" y="60181"/>
                        <a:pt x="288215" y="108558"/>
                      </a:cubicBezTo>
                      <a:close/>
                    </a:path>
                  </a:pathLst>
                </a:custGeom>
                <a:solidFill>
                  <a:srgbClr val="22A06B">
                    <a:alpha val="20000"/>
                  </a:srgbClr>
                </a:solidFill>
                <a:ln>
                  <a:noFill/>
                </a:ln>
              </p:spPr>
            </p:sp>
            <p:sp>
              <p:nvSpPr>
                <p:cNvPr id="69" name="Freeform 69"/>
                <p:cNvSpPr/>
                <p:nvPr/>
              </p:nvSpPr>
              <p:spPr>
                <a:xfrm>
                  <a:off x="9377884" y="4927401"/>
                  <a:ext cx="308445" cy="2226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8445" h="222646">
                      <a:moveTo>
                        <a:pt x="197122" y="0"/>
                      </a:moveTo>
                      <a:cubicBezTo>
                        <a:pt x="154956" y="32"/>
                        <a:pt x="116420" y="23861"/>
                        <a:pt x="97551" y="61569"/>
                      </a:cubicBezTo>
                      <a:cubicBezTo>
                        <a:pt x="67551" y="57194"/>
                        <a:pt x="37620" y="69946"/>
                        <a:pt x="19994" y="94614"/>
                      </a:cubicBezTo>
                      <a:cubicBezTo>
                        <a:pt x="2367" y="119281"/>
                        <a:pt x="0" y="151729"/>
                        <a:pt x="13859" y="178694"/>
                      </a:cubicBezTo>
                      <a:cubicBezTo>
                        <a:pt x="27718" y="205659"/>
                        <a:pt x="55481" y="222621"/>
                        <a:pt x="85799" y="222646"/>
                      </a:cubicBezTo>
                      <a:lnTo>
                        <a:pt x="197122" y="222646"/>
                      </a:lnTo>
                      <a:cubicBezTo>
                        <a:pt x="258604" y="222646"/>
                        <a:pt x="308445" y="172805"/>
                        <a:pt x="308445" y="111323"/>
                      </a:cubicBezTo>
                      <a:cubicBezTo>
                        <a:pt x="308445" y="49841"/>
                        <a:pt x="258604" y="0"/>
                        <a:pt x="197122" y="0"/>
                      </a:cubicBezTo>
                      <a:close/>
                      <a:moveTo>
                        <a:pt x="197122" y="202405"/>
                      </a:moveTo>
                      <a:lnTo>
                        <a:pt x="85799" y="202405"/>
                      </a:lnTo>
                      <a:cubicBezTo>
                        <a:pt x="52263" y="202405"/>
                        <a:pt x="25077" y="175219"/>
                        <a:pt x="25077" y="141684"/>
                      </a:cubicBezTo>
                      <a:cubicBezTo>
                        <a:pt x="25077" y="108148"/>
                        <a:pt x="52263" y="80962"/>
                        <a:pt x="85799" y="80962"/>
                      </a:cubicBezTo>
                      <a:cubicBezTo>
                        <a:pt x="87190" y="80962"/>
                        <a:pt x="88582" y="80962"/>
                        <a:pt x="89961" y="81101"/>
                      </a:cubicBezTo>
                      <a:cubicBezTo>
                        <a:pt x="87193" y="90937"/>
                        <a:pt x="85793" y="101106"/>
                        <a:pt x="85799" y="111323"/>
                      </a:cubicBezTo>
                      <a:cubicBezTo>
                        <a:pt x="85799" y="116912"/>
                        <a:pt x="90330" y="121443"/>
                        <a:pt x="95919" y="121443"/>
                      </a:cubicBezTo>
                      <a:cubicBezTo>
                        <a:pt x="101508" y="121443"/>
                        <a:pt x="106039" y="116912"/>
                        <a:pt x="106039" y="111323"/>
                      </a:cubicBezTo>
                      <a:cubicBezTo>
                        <a:pt x="106039" y="61020"/>
                        <a:pt x="146819" y="20241"/>
                        <a:pt x="197122" y="20241"/>
                      </a:cubicBezTo>
                      <a:cubicBezTo>
                        <a:pt x="247425" y="20241"/>
                        <a:pt x="288204" y="61020"/>
                        <a:pt x="288204" y="111323"/>
                      </a:cubicBezTo>
                      <a:cubicBezTo>
                        <a:pt x="288204" y="161626"/>
                        <a:pt x="247425" y="202405"/>
                        <a:pt x="197122" y="202405"/>
                      </a:cubicBezTo>
                      <a:close/>
                      <a:moveTo>
                        <a:pt x="244763" y="83922"/>
                      </a:moveTo>
                      <a:cubicBezTo>
                        <a:pt x="246664" y="85821"/>
                        <a:pt x="247731" y="88396"/>
                        <a:pt x="247731" y="91082"/>
                      </a:cubicBezTo>
                      <a:cubicBezTo>
                        <a:pt x="247731" y="93768"/>
                        <a:pt x="246664" y="96344"/>
                        <a:pt x="244763" y="98243"/>
                      </a:cubicBezTo>
                      <a:lnTo>
                        <a:pt x="184042" y="158964"/>
                      </a:lnTo>
                      <a:cubicBezTo>
                        <a:pt x="182143" y="160865"/>
                        <a:pt x="179567" y="161932"/>
                        <a:pt x="176881" y="161932"/>
                      </a:cubicBezTo>
                      <a:cubicBezTo>
                        <a:pt x="174195" y="161932"/>
                        <a:pt x="171620" y="160865"/>
                        <a:pt x="169721" y="158964"/>
                      </a:cubicBezTo>
                      <a:lnTo>
                        <a:pt x="139360" y="128603"/>
                      </a:lnTo>
                      <a:cubicBezTo>
                        <a:pt x="135406" y="124649"/>
                        <a:pt x="135406" y="118238"/>
                        <a:pt x="139360" y="114283"/>
                      </a:cubicBezTo>
                      <a:cubicBezTo>
                        <a:pt x="143315" y="110329"/>
                        <a:pt x="149726" y="110329"/>
                        <a:pt x="153681" y="114283"/>
                      </a:cubicBezTo>
                      <a:lnTo>
                        <a:pt x="176881" y="137497"/>
                      </a:lnTo>
                      <a:lnTo>
                        <a:pt x="230443" y="83922"/>
                      </a:lnTo>
                      <a:cubicBezTo>
                        <a:pt x="232341" y="82022"/>
                        <a:pt x="234917" y="80954"/>
                        <a:pt x="237603" y="80954"/>
                      </a:cubicBezTo>
                      <a:cubicBezTo>
                        <a:pt x="240289" y="80954"/>
                        <a:pt x="242865" y="82022"/>
                        <a:pt x="244763" y="83922"/>
                      </a:cubicBezTo>
                      <a:close/>
                    </a:path>
                  </a:pathLst>
                </a:custGeom>
                <a:solidFill>
                  <a:srgbClr val="22A06B"/>
                </a:solidFill>
                <a:ln>
                  <a:noFill/>
                </a:ln>
              </p:spPr>
            </p:sp>
          </p:grpSp>
          <p:sp>
            <p:nvSpPr>
              <p:cNvPr id="71" name="TextBox 71"/>
              <p:cNvSpPr txBox="1"/>
              <p:nvPr/>
            </p:nvSpPr>
            <p:spPr>
              <a:xfrm>
                <a:off x="9795510" y="4842510"/>
                <a:ext cx="1181424" cy="24384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200" b="1" dirty="0">
                    <a:solidFill>
                      <a:srgbClr val="182026"/>
                    </a:solidFill>
                    <a:latin typeface="Arial"/>
                    <a:ea typeface="Microsoft YaHei"/>
                    <a:cs typeface="Arial"/>
                  </a:rPr>
                  <a:t>SMTP / Mailpit</a:t>
                </a:r>
              </a:p>
            </p:txBody>
          </p:sp>
          <p:sp>
            <p:nvSpPr>
              <p:cNvPr id="72" name="TextBox 72"/>
              <p:cNvSpPr txBox="1"/>
              <p:nvPr/>
            </p:nvSpPr>
            <p:spPr>
              <a:xfrm>
                <a:off x="9799320" y="5103495"/>
                <a:ext cx="1102995" cy="18288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00" dirty="0">
                    <a:solidFill>
                      <a:srgbClr val="74807C"/>
                    </a:solidFill>
                    <a:latin typeface="Arial"/>
                    <a:ea typeface="Microsoft YaHei"/>
                    <a:cs typeface="Arial"/>
                  </a:rPr>
                  <a:t>邮箱验证与密码找回</a:t>
                </a:r>
              </a:p>
            </p:txBody>
          </p:sp>
        </p:grpSp>
      </p:grpSp>
      <p:grpSp>
        <p:nvGrpSpPr>
          <p:cNvPr id="90" name="Group 90"/>
          <p:cNvGrpSpPr/>
          <p:nvPr/>
        </p:nvGrpSpPr>
        <p:grpSpPr>
          <a:xfrm>
            <a:off x="3314700" y="2324100"/>
            <a:ext cx="5524500" cy="2038351"/>
            <a:chOff x="3314700" y="2324100"/>
            <a:chExt cx="5524500" cy="2038351"/>
          </a:xfrm>
        </p:grpSpPr>
        <p:sp>
          <p:nvSpPr>
            <p:cNvPr id="75" name="Line 75"/>
            <p:cNvSpPr/>
            <p:nvPr/>
          </p:nvSpPr>
          <p:spPr>
            <a:xfrm>
              <a:off x="3314700" y="2628900"/>
              <a:ext cx="1371600" cy="1"/>
            </a:xfrm>
            <a:prstGeom prst="line">
              <a:avLst/>
            </a:prstGeom>
            <a:noFill/>
            <a:ln w="28575">
              <a:solidFill>
                <a:srgbClr val="3A86FF"/>
              </a:solidFill>
              <a:tailEnd type="triangle" w="lg" len="lg"/>
            </a:ln>
          </p:spPr>
        </p:sp>
        <p:sp>
          <p:nvSpPr>
            <p:cNvPr id="76" name="Rectangle 76"/>
            <p:cNvSpPr/>
            <p:nvPr/>
          </p:nvSpPr>
          <p:spPr>
            <a:xfrm>
              <a:off x="3581400" y="2324100"/>
              <a:ext cx="9144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A86FF"/>
              </a:solidFill>
            </a:ln>
          </p:spPr>
        </p:sp>
        <p:sp>
          <p:nvSpPr>
            <p:cNvPr id="77" name="TextBox 77"/>
            <p:cNvSpPr txBox="1"/>
            <p:nvPr/>
          </p:nvSpPr>
          <p:spPr>
            <a:xfrm>
              <a:off x="3800342" y="2388870"/>
              <a:ext cx="476517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/api/v1</a:t>
              </a:r>
            </a:p>
          </p:txBody>
        </p:sp>
        <p:sp>
          <p:nvSpPr>
            <p:cNvPr id="78" name="Line 78"/>
            <p:cNvSpPr/>
            <p:nvPr/>
          </p:nvSpPr>
          <p:spPr>
            <a:xfrm>
              <a:off x="3314700" y="4229100"/>
              <a:ext cx="1371600" cy="1"/>
            </a:xfrm>
            <a:prstGeom prst="line">
              <a:avLst/>
            </a:prstGeom>
            <a:noFill/>
            <a:ln w="28575">
              <a:solidFill>
                <a:srgbClr val="3A86FF"/>
              </a:solidFill>
              <a:tailEnd type="triangle" w="lg" len="lg"/>
            </a:ln>
          </p:spPr>
        </p:sp>
        <p:sp>
          <p:nvSpPr>
            <p:cNvPr id="79" name="Rectangle 79"/>
            <p:cNvSpPr/>
            <p:nvPr/>
          </p:nvSpPr>
          <p:spPr>
            <a:xfrm>
              <a:off x="3429000" y="3924300"/>
              <a:ext cx="123825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A86FF"/>
              </a:solidFill>
            </a:ln>
          </p:spPr>
        </p:sp>
        <p:sp>
          <p:nvSpPr>
            <p:cNvPr id="80" name="TextBox 80"/>
            <p:cNvSpPr txBox="1"/>
            <p:nvPr/>
          </p:nvSpPr>
          <p:spPr>
            <a:xfrm>
              <a:off x="3605091" y="3989070"/>
              <a:ext cx="886068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/admin/api/v1</a:t>
              </a:r>
            </a:p>
          </p:txBody>
        </p:sp>
        <p:sp>
          <p:nvSpPr>
            <p:cNvPr id="81" name="Line 81"/>
            <p:cNvSpPr/>
            <p:nvPr/>
          </p:nvSpPr>
          <p:spPr>
            <a:xfrm>
              <a:off x="7467600" y="2628900"/>
              <a:ext cx="13716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82" name="Rectangle 82"/>
            <p:cNvSpPr/>
            <p:nvPr/>
          </p:nvSpPr>
          <p:spPr>
            <a:xfrm>
              <a:off x="7715250" y="2324100"/>
              <a:ext cx="8763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1F8A70"/>
              </a:solidFill>
            </a:ln>
          </p:spPr>
        </p:sp>
        <p:sp>
          <p:nvSpPr>
            <p:cNvPr id="83" name="TextBox 83"/>
            <p:cNvSpPr txBox="1"/>
            <p:nvPr/>
          </p:nvSpPr>
          <p:spPr>
            <a:xfrm>
              <a:off x="7889938" y="238887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读写数据</a:t>
              </a:r>
            </a:p>
          </p:txBody>
        </p:sp>
        <p:sp>
          <p:nvSpPr>
            <p:cNvPr id="84" name="Line 84"/>
            <p:cNvSpPr/>
            <p:nvPr/>
          </p:nvSpPr>
          <p:spPr>
            <a:xfrm>
              <a:off x="7467600" y="3505200"/>
              <a:ext cx="1371600" cy="1"/>
            </a:xfrm>
            <a:prstGeom prst="line">
              <a:avLst/>
            </a:prstGeom>
            <a:noFill/>
            <a:ln w="28575">
              <a:solidFill>
                <a:srgbClr val="3A86FF"/>
              </a:solidFill>
              <a:tailEnd type="triangle" w="lg" len="lg"/>
            </a:ln>
          </p:spPr>
        </p:sp>
        <p:sp>
          <p:nvSpPr>
            <p:cNvPr id="85" name="Rectangle 85"/>
            <p:cNvSpPr/>
            <p:nvPr/>
          </p:nvSpPr>
          <p:spPr>
            <a:xfrm>
              <a:off x="7639050" y="3200400"/>
              <a:ext cx="10287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3A86FF"/>
              </a:solidFill>
            </a:ln>
          </p:spPr>
        </p:sp>
        <p:sp>
          <p:nvSpPr>
            <p:cNvPr id="86" name="TextBox 86"/>
            <p:cNvSpPr txBox="1"/>
            <p:nvPr/>
          </p:nvSpPr>
          <p:spPr>
            <a:xfrm>
              <a:off x="7817479" y="3265170"/>
              <a:ext cx="671841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AI 重排审核</a:t>
              </a:r>
            </a:p>
          </p:txBody>
        </p:sp>
        <p:sp>
          <p:nvSpPr>
            <p:cNvPr id="87" name="Line 87"/>
            <p:cNvSpPr/>
            <p:nvPr/>
          </p:nvSpPr>
          <p:spPr>
            <a:xfrm>
              <a:off x="7467600" y="4362450"/>
              <a:ext cx="13716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88" name="Rectangle 88"/>
            <p:cNvSpPr/>
            <p:nvPr/>
          </p:nvSpPr>
          <p:spPr>
            <a:xfrm>
              <a:off x="7658100" y="4057650"/>
              <a:ext cx="990600" cy="2286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9525">
              <a:solidFill>
                <a:srgbClr val="1F8A70"/>
              </a:solidFill>
            </a:ln>
          </p:spPr>
        </p:sp>
        <p:sp>
          <p:nvSpPr>
            <p:cNvPr id="89" name="TextBox 89"/>
            <p:cNvSpPr txBox="1"/>
            <p:nvPr/>
          </p:nvSpPr>
          <p:spPr>
            <a:xfrm>
              <a:off x="7889938" y="41224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可选增强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521018" y="6390799"/>
            <a:ext cx="4061770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Blue = request / enhancement · Green = data or stable response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76250" y="1257300"/>
              <a:ext cx="11239500" cy="4095750"/>
            </a:xfrm>
            <a:prstGeom prst="roundRect">
              <a:avLst>
                <a:gd name="adj" fmla="val 6977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3688773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AI 只重排，不凭空创造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5071110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大模型只处理数据库召回的合法候选，智能增强不破坏系统可控性。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10 / 16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2076450" y="2857500"/>
            <a:ext cx="7639050" cy="1"/>
            <a:chOff x="2076450" y="2857500"/>
            <a:chExt cx="7639050" cy="1"/>
          </a:xfrm>
        </p:grpSpPr>
        <p:sp>
          <p:nvSpPr>
            <p:cNvPr id="9" name="Line 9"/>
            <p:cNvSpPr/>
            <p:nvPr/>
          </p:nvSpPr>
          <p:spPr>
            <a:xfrm>
              <a:off x="2076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  <p:sp>
          <p:nvSpPr>
            <p:cNvPr id="10" name="Line 10"/>
            <p:cNvSpPr/>
            <p:nvPr/>
          </p:nvSpPr>
          <p:spPr>
            <a:xfrm>
              <a:off x="4362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  <p:sp>
          <p:nvSpPr>
            <p:cNvPr id="11" name="Line 11"/>
            <p:cNvSpPr/>
            <p:nvPr/>
          </p:nvSpPr>
          <p:spPr>
            <a:xfrm>
              <a:off x="6648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  <p:sp>
          <p:nvSpPr>
            <p:cNvPr id="12" name="Line 12"/>
            <p:cNvSpPr/>
            <p:nvPr/>
          </p:nvSpPr>
          <p:spPr>
            <a:xfrm>
              <a:off x="8934450" y="2857500"/>
              <a:ext cx="781050" cy="1"/>
            </a:xfrm>
            <a:prstGeom prst="line">
              <a:avLst/>
            </a:prstGeom>
            <a:noFill/>
            <a:ln w="38100">
              <a:solidFill>
                <a:srgbClr val="1F8A70"/>
              </a:solidFill>
              <a:tailEnd type="triangle" w="lg" len="lg"/>
            </a:ln>
          </p:spPr>
        </p:sp>
      </p:grpSp>
      <p:grpSp>
        <p:nvGrpSpPr>
          <p:cNvPr id="21" name="Group 21"/>
          <p:cNvGrpSpPr/>
          <p:nvPr/>
        </p:nvGrpSpPr>
        <p:grpSpPr>
          <a:xfrm>
            <a:off x="685800" y="2038350"/>
            <a:ext cx="1390650" cy="1638300"/>
            <a:chOff x="685800" y="2038350"/>
            <a:chExt cx="1390650" cy="1638300"/>
          </a:xfrm>
        </p:grpSpPr>
        <p:sp>
          <p:nvSpPr>
            <p:cNvPr id="14" name="Rectangle 14"/>
            <p:cNvSpPr/>
            <p:nvPr/>
          </p:nvSpPr>
          <p:spPr>
            <a:xfrm>
              <a:off x="685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981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1147762" y="2425303"/>
              <a:ext cx="200025" cy="216694"/>
              <a:chOff x="1147762" y="2425303"/>
              <a:chExt cx="200025" cy="216694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1156097" y="2433638"/>
                <a:ext cx="183356" cy="100012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00012">
                    <a:moveTo>
                      <a:pt x="183356" y="50006"/>
                    </a:moveTo>
                    <a:cubicBezTo>
                      <a:pt x="183356" y="77624"/>
                      <a:pt x="142309" y="100012"/>
                      <a:pt x="91678" y="100012"/>
                    </a:cubicBezTo>
                    <a:cubicBezTo>
                      <a:pt x="41047" y="100012"/>
                      <a:pt x="0" y="77624"/>
                      <a:pt x="0" y="50006"/>
                    </a:cubicBezTo>
                    <a:cubicBezTo>
                      <a:pt x="0" y="22388"/>
                      <a:pt x="41047" y="0"/>
                      <a:pt x="91678" y="0"/>
                    </a:cubicBezTo>
                    <a:cubicBezTo>
                      <a:pt x="142309" y="0"/>
                      <a:pt x="183356" y="22388"/>
                      <a:pt x="183356" y="50006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1147762" y="2425303"/>
                <a:ext cx="200025" cy="216694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16694">
                    <a:moveTo>
                      <a:pt x="100012" y="0"/>
                    </a:moveTo>
                    <a:cubicBezTo>
                      <a:pt x="43933" y="0"/>
                      <a:pt x="0" y="25628"/>
                      <a:pt x="0" y="58341"/>
                    </a:cubicBezTo>
                    <a:lnTo>
                      <a:pt x="0" y="158353"/>
                    </a:lnTo>
                    <a:cubicBezTo>
                      <a:pt x="0" y="191066"/>
                      <a:pt x="43933" y="216694"/>
                      <a:pt x="100012" y="216694"/>
                    </a:cubicBezTo>
                    <a:cubicBezTo>
                      <a:pt x="156092" y="216694"/>
                      <a:pt x="200025" y="191066"/>
                      <a:pt x="200025" y="158353"/>
                    </a:cubicBezTo>
                    <a:lnTo>
                      <a:pt x="200025" y="58341"/>
                    </a:lnTo>
                    <a:cubicBezTo>
                      <a:pt x="200025" y="25628"/>
                      <a:pt x="156092" y="0"/>
                      <a:pt x="100012" y="0"/>
                    </a:cubicBezTo>
                    <a:close/>
                    <a:moveTo>
                      <a:pt x="183356" y="108347"/>
                    </a:moveTo>
                    <a:cubicBezTo>
                      <a:pt x="183356" y="118369"/>
                      <a:pt x="175147" y="128589"/>
                      <a:pt x="160843" y="136392"/>
                    </a:cubicBezTo>
                    <a:cubicBezTo>
                      <a:pt x="144737" y="145174"/>
                      <a:pt x="123130" y="150019"/>
                      <a:pt x="100012" y="150019"/>
                    </a:cubicBezTo>
                    <a:cubicBezTo>
                      <a:pt x="76895" y="150019"/>
                      <a:pt x="55288" y="145174"/>
                      <a:pt x="39182" y="136392"/>
                    </a:cubicBezTo>
                    <a:cubicBezTo>
                      <a:pt x="24878" y="128589"/>
                      <a:pt x="16669" y="118369"/>
                      <a:pt x="16669" y="108347"/>
                    </a:cubicBezTo>
                    <a:lnTo>
                      <a:pt x="16669" y="91011"/>
                    </a:lnTo>
                    <a:cubicBezTo>
                      <a:pt x="34442" y="106638"/>
                      <a:pt x="64831" y="116681"/>
                      <a:pt x="100012" y="116681"/>
                    </a:cubicBezTo>
                    <a:cubicBezTo>
                      <a:pt x="135194" y="116681"/>
                      <a:pt x="165583" y="106597"/>
                      <a:pt x="183356" y="91011"/>
                    </a:cubicBezTo>
                    <a:close/>
                    <a:moveTo>
                      <a:pt x="39182" y="30295"/>
                    </a:moveTo>
                    <a:cubicBezTo>
                      <a:pt x="55288" y="21513"/>
                      <a:pt x="76895" y="16669"/>
                      <a:pt x="100012" y="16669"/>
                    </a:cubicBezTo>
                    <a:cubicBezTo>
                      <a:pt x="123130" y="16669"/>
                      <a:pt x="144737" y="21513"/>
                      <a:pt x="160843" y="30295"/>
                    </a:cubicBezTo>
                    <a:cubicBezTo>
                      <a:pt x="175147" y="38099"/>
                      <a:pt x="183356" y="48319"/>
                      <a:pt x="183356" y="58341"/>
                    </a:cubicBezTo>
                    <a:cubicBezTo>
                      <a:pt x="183356" y="68363"/>
                      <a:pt x="175147" y="78583"/>
                      <a:pt x="160843" y="86386"/>
                    </a:cubicBezTo>
                    <a:cubicBezTo>
                      <a:pt x="144737" y="95168"/>
                      <a:pt x="123130" y="100012"/>
                      <a:pt x="100012" y="100012"/>
                    </a:cubicBezTo>
                    <a:cubicBezTo>
                      <a:pt x="76895" y="100012"/>
                      <a:pt x="55288" y="95168"/>
                      <a:pt x="39182" y="86386"/>
                    </a:cubicBezTo>
                    <a:cubicBezTo>
                      <a:pt x="24878" y="78583"/>
                      <a:pt x="16669" y="68363"/>
                      <a:pt x="16669" y="58341"/>
                    </a:cubicBezTo>
                    <a:cubicBezTo>
                      <a:pt x="16669" y="48319"/>
                      <a:pt x="24878" y="38099"/>
                      <a:pt x="39182" y="30295"/>
                    </a:cubicBezTo>
                    <a:close/>
                    <a:moveTo>
                      <a:pt x="160843" y="186398"/>
                    </a:moveTo>
                    <a:cubicBezTo>
                      <a:pt x="144737" y="195181"/>
                      <a:pt x="123130" y="200025"/>
                      <a:pt x="100012" y="200025"/>
                    </a:cubicBezTo>
                    <a:cubicBezTo>
                      <a:pt x="76895" y="200025"/>
                      <a:pt x="55288" y="195181"/>
                      <a:pt x="39182" y="186398"/>
                    </a:cubicBezTo>
                    <a:cubicBezTo>
                      <a:pt x="24878" y="178595"/>
                      <a:pt x="16669" y="168375"/>
                      <a:pt x="16669" y="158353"/>
                    </a:cubicBezTo>
                    <a:lnTo>
                      <a:pt x="16669" y="141018"/>
                    </a:lnTo>
                    <a:cubicBezTo>
                      <a:pt x="34442" y="156645"/>
                      <a:pt x="64831" y="166688"/>
                      <a:pt x="100012" y="166688"/>
                    </a:cubicBezTo>
                    <a:cubicBezTo>
                      <a:pt x="135194" y="166688"/>
                      <a:pt x="165583" y="156603"/>
                      <a:pt x="183356" y="141018"/>
                    </a:cubicBezTo>
                    <a:lnTo>
                      <a:pt x="183356" y="158353"/>
                    </a:lnTo>
                    <a:cubicBezTo>
                      <a:pt x="183356" y="168375"/>
                      <a:pt x="175147" y="178595"/>
                      <a:pt x="160843" y="18639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891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数据库召回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848678" y="32856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校园、上架、筛选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2971800" y="2038350"/>
            <a:ext cx="1390650" cy="1638300"/>
            <a:chOff x="2971800" y="2038350"/>
            <a:chExt cx="1390650" cy="1638300"/>
          </a:xfrm>
        </p:grpSpPr>
        <p:sp>
          <p:nvSpPr>
            <p:cNvPr id="22" name="Rectangle 22"/>
            <p:cNvSpPr/>
            <p:nvPr/>
          </p:nvSpPr>
          <p:spPr>
            <a:xfrm>
              <a:off x="2971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3" name="Rectangle 23"/>
            <p:cNvSpPr/>
            <p:nvPr/>
          </p:nvSpPr>
          <p:spPr>
            <a:xfrm>
              <a:off x="3267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26" name="Group 26"/>
            <p:cNvGrpSpPr/>
            <p:nvPr/>
          </p:nvGrpSpPr>
          <p:grpSpPr>
            <a:xfrm>
              <a:off x="3425428" y="2425160"/>
              <a:ext cx="216696" cy="209538"/>
              <a:chOff x="3425428" y="2425160"/>
              <a:chExt cx="216696" cy="209538"/>
            </a:xfrm>
          </p:grpSpPr>
          <p:sp>
            <p:nvSpPr>
              <p:cNvPr id="24" name="Freeform 24"/>
              <p:cNvSpPr/>
              <p:nvPr/>
            </p:nvSpPr>
            <p:spPr>
              <a:xfrm>
                <a:off x="3433762" y="2433638"/>
                <a:ext cx="200025" cy="66675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66675">
                    <a:moveTo>
                      <a:pt x="200025" y="33338"/>
                    </a:moveTo>
                    <a:lnTo>
                      <a:pt x="100012" y="66675"/>
                    </a:lnTo>
                    <a:lnTo>
                      <a:pt x="0" y="33338"/>
                    </a:lnTo>
                    <a:lnTo>
                      <a:pt x="100012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5" name="Freeform 25"/>
              <p:cNvSpPr/>
              <p:nvPr/>
            </p:nvSpPr>
            <p:spPr>
              <a:xfrm>
                <a:off x="3425428" y="2425160"/>
                <a:ext cx="216696" cy="209538"/>
              </a:xfrm>
              <a:custGeom>
                <a:avLst/>
                <a:gdLst/>
                <a:ahLst/>
                <a:cxnLst/>
                <a:rect l="l" t="t" r="r" b="b"/>
                <a:pathLst>
                  <a:path w="216696" h="209538">
                    <a:moveTo>
                      <a:pt x="210995" y="33908"/>
                    </a:moveTo>
                    <a:lnTo>
                      <a:pt x="110983" y="570"/>
                    </a:lnTo>
                    <a:cubicBezTo>
                      <a:pt x="109272" y="0"/>
                      <a:pt x="107422" y="0"/>
                      <a:pt x="105711" y="570"/>
                    </a:cubicBezTo>
                    <a:lnTo>
                      <a:pt x="5699" y="33908"/>
                    </a:lnTo>
                    <a:cubicBezTo>
                      <a:pt x="2610" y="34950"/>
                      <a:pt x="412" y="37697"/>
                      <a:pt x="73" y="40940"/>
                    </a:cubicBezTo>
                    <a:cubicBezTo>
                      <a:pt x="24" y="41229"/>
                      <a:pt x="0" y="41522"/>
                      <a:pt x="0" y="41815"/>
                    </a:cubicBezTo>
                    <a:lnTo>
                      <a:pt x="0" y="125159"/>
                    </a:lnTo>
                    <a:cubicBezTo>
                      <a:pt x="0" y="129762"/>
                      <a:pt x="3732" y="133493"/>
                      <a:pt x="8335" y="133493"/>
                    </a:cubicBezTo>
                    <a:cubicBezTo>
                      <a:pt x="12938" y="133493"/>
                      <a:pt x="16669" y="129762"/>
                      <a:pt x="16669" y="125159"/>
                    </a:cubicBezTo>
                    <a:lnTo>
                      <a:pt x="16669" y="53379"/>
                    </a:lnTo>
                    <a:lnTo>
                      <a:pt x="51663" y="65037"/>
                    </a:lnTo>
                    <a:cubicBezTo>
                      <a:pt x="32304" y="96313"/>
                      <a:pt x="41930" y="137359"/>
                      <a:pt x="73176" y="156767"/>
                    </a:cubicBezTo>
                    <a:cubicBezTo>
                      <a:pt x="54424" y="164122"/>
                      <a:pt x="38213" y="177426"/>
                      <a:pt x="26358" y="195616"/>
                    </a:cubicBezTo>
                    <a:cubicBezTo>
                      <a:pt x="24680" y="198110"/>
                      <a:pt x="24475" y="201314"/>
                      <a:pt x="25821" y="204002"/>
                    </a:cubicBezTo>
                    <a:cubicBezTo>
                      <a:pt x="27168" y="206689"/>
                      <a:pt x="29857" y="208443"/>
                      <a:pt x="32860" y="208592"/>
                    </a:cubicBezTo>
                    <a:cubicBezTo>
                      <a:pt x="35862" y="208741"/>
                      <a:pt x="38712" y="207262"/>
                      <a:pt x="40318" y="204721"/>
                    </a:cubicBezTo>
                    <a:cubicBezTo>
                      <a:pt x="56018" y="180635"/>
                      <a:pt x="80813" y="166831"/>
                      <a:pt x="108347" y="166831"/>
                    </a:cubicBezTo>
                    <a:cubicBezTo>
                      <a:pt x="135882" y="166831"/>
                      <a:pt x="160677" y="180635"/>
                      <a:pt x="176377" y="204721"/>
                    </a:cubicBezTo>
                    <a:cubicBezTo>
                      <a:pt x="178920" y="208501"/>
                      <a:pt x="184028" y="209538"/>
                      <a:pt x="187845" y="207049"/>
                    </a:cubicBezTo>
                    <a:cubicBezTo>
                      <a:pt x="191661" y="204560"/>
                      <a:pt x="192771" y="199467"/>
                      <a:pt x="190337" y="195616"/>
                    </a:cubicBezTo>
                    <a:cubicBezTo>
                      <a:pt x="178481" y="177426"/>
                      <a:pt x="162208" y="164122"/>
                      <a:pt x="143518" y="156767"/>
                    </a:cubicBezTo>
                    <a:cubicBezTo>
                      <a:pt x="174733" y="137361"/>
                      <a:pt x="184355" y="96354"/>
                      <a:pt x="165031" y="65089"/>
                    </a:cubicBezTo>
                    <a:lnTo>
                      <a:pt x="210995" y="49774"/>
                    </a:lnTo>
                    <a:cubicBezTo>
                      <a:pt x="214400" y="48640"/>
                      <a:pt x="216696" y="45455"/>
                      <a:pt x="216696" y="41867"/>
                    </a:cubicBezTo>
                    <a:cubicBezTo>
                      <a:pt x="216696" y="38279"/>
                      <a:pt x="214400" y="35094"/>
                      <a:pt x="210995" y="33960"/>
                    </a:cubicBezTo>
                    <a:close/>
                    <a:moveTo>
                      <a:pt x="158353" y="100156"/>
                    </a:moveTo>
                    <a:cubicBezTo>
                      <a:pt x="158360" y="121861"/>
                      <a:pt x="144363" y="141092"/>
                      <a:pt x="123707" y="147759"/>
                    </a:cubicBezTo>
                    <a:cubicBezTo>
                      <a:pt x="103051" y="154426"/>
                      <a:pt x="80452" y="147006"/>
                      <a:pt x="67768" y="129392"/>
                    </a:cubicBezTo>
                    <a:cubicBezTo>
                      <a:pt x="55084" y="111779"/>
                      <a:pt x="55211" y="87994"/>
                      <a:pt x="68082" y="70517"/>
                    </a:cubicBezTo>
                    <a:lnTo>
                      <a:pt x="105711" y="83018"/>
                    </a:lnTo>
                    <a:cubicBezTo>
                      <a:pt x="107422" y="83588"/>
                      <a:pt x="109272" y="83588"/>
                      <a:pt x="110983" y="83018"/>
                    </a:cubicBezTo>
                    <a:lnTo>
                      <a:pt x="148613" y="70517"/>
                    </a:lnTo>
                    <a:cubicBezTo>
                      <a:pt x="154945" y="79101"/>
                      <a:pt x="158359" y="89489"/>
                      <a:pt x="158353" y="100156"/>
                    </a:cubicBezTo>
                    <a:close/>
                    <a:moveTo>
                      <a:pt x="108347" y="66370"/>
                    </a:moveTo>
                    <a:lnTo>
                      <a:pt x="34692" y="41815"/>
                    </a:lnTo>
                    <a:lnTo>
                      <a:pt x="108347" y="17260"/>
                    </a:lnTo>
                    <a:lnTo>
                      <a:pt x="182002" y="41815"/>
                    </a:ln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7" name="TextBox 27"/>
            <p:cNvSpPr txBox="1"/>
            <p:nvPr/>
          </p:nvSpPr>
          <p:spPr>
            <a:xfrm>
              <a:off x="3177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去标识画像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134677" y="3285649"/>
              <a:ext cx="106489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偏好、预算、区域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5257800" y="2038350"/>
            <a:ext cx="1390650" cy="1638300"/>
            <a:chOff x="5257800" y="2038350"/>
            <a:chExt cx="1390650" cy="1638300"/>
          </a:xfrm>
        </p:grpSpPr>
        <p:sp>
          <p:nvSpPr>
            <p:cNvPr id="30" name="Rectangle 30"/>
            <p:cNvSpPr/>
            <p:nvPr/>
          </p:nvSpPr>
          <p:spPr>
            <a:xfrm>
              <a:off x="5257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1" name="Rectangle 31"/>
            <p:cNvSpPr/>
            <p:nvPr/>
          </p:nvSpPr>
          <p:spPr>
            <a:xfrm>
              <a:off x="5553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5718944" y="2441153"/>
              <a:ext cx="200844" cy="184182"/>
              <a:chOff x="5718944" y="2441153"/>
              <a:chExt cx="200844" cy="184182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5819775" y="2466975"/>
                <a:ext cx="91678" cy="133350"/>
              </a:xfrm>
              <a:custGeom>
                <a:avLst/>
                <a:gdLst/>
                <a:ahLst/>
                <a:cxnLst/>
                <a:rect l="l" t="t" r="r" b="b"/>
                <a:pathLst>
                  <a:path w="91678" h="133350">
                    <a:moveTo>
                      <a:pt x="91678" y="0"/>
                    </a:moveTo>
                    <a:lnTo>
                      <a:pt x="91678" y="133350"/>
                    </a:lnTo>
                    <a:lnTo>
                      <a:pt x="0" y="1333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5718944" y="2441153"/>
                <a:ext cx="200844" cy="184182"/>
              </a:xfrm>
              <a:custGeom>
                <a:avLst/>
                <a:gdLst/>
                <a:ahLst/>
                <a:cxnLst/>
                <a:rect l="l" t="t" r="r" b="b"/>
                <a:pathLst>
                  <a:path w="200844" h="184182">
                    <a:moveTo>
                      <a:pt x="200844" y="92497"/>
                    </a:moveTo>
                    <a:cubicBezTo>
                      <a:pt x="200844" y="97100"/>
                      <a:pt x="197112" y="100831"/>
                      <a:pt x="192509" y="100831"/>
                    </a:cubicBezTo>
                    <a:lnTo>
                      <a:pt x="100831" y="100831"/>
                    </a:lnTo>
                    <a:cubicBezTo>
                      <a:pt x="96228" y="100831"/>
                      <a:pt x="92497" y="97100"/>
                      <a:pt x="92497" y="92497"/>
                    </a:cubicBezTo>
                    <a:cubicBezTo>
                      <a:pt x="92497" y="87894"/>
                      <a:pt x="96228" y="84163"/>
                      <a:pt x="100831" y="84163"/>
                    </a:cubicBezTo>
                    <a:lnTo>
                      <a:pt x="192509" y="84163"/>
                    </a:lnTo>
                    <a:cubicBezTo>
                      <a:pt x="197112" y="84163"/>
                      <a:pt x="200844" y="87894"/>
                      <a:pt x="200844" y="92497"/>
                    </a:cubicBezTo>
                    <a:close/>
                    <a:moveTo>
                      <a:pt x="100831" y="34156"/>
                    </a:moveTo>
                    <a:lnTo>
                      <a:pt x="192509" y="34156"/>
                    </a:lnTo>
                    <a:cubicBezTo>
                      <a:pt x="197112" y="34156"/>
                      <a:pt x="200844" y="30425"/>
                      <a:pt x="200844" y="25822"/>
                    </a:cubicBezTo>
                    <a:cubicBezTo>
                      <a:pt x="200844" y="21219"/>
                      <a:pt x="197112" y="17488"/>
                      <a:pt x="192509" y="17488"/>
                    </a:cubicBezTo>
                    <a:lnTo>
                      <a:pt x="100831" y="17488"/>
                    </a:lnTo>
                    <a:cubicBezTo>
                      <a:pt x="96228" y="17488"/>
                      <a:pt x="92497" y="21219"/>
                      <a:pt x="92497" y="25822"/>
                    </a:cubicBezTo>
                    <a:cubicBezTo>
                      <a:pt x="92497" y="30425"/>
                      <a:pt x="96228" y="34156"/>
                      <a:pt x="100831" y="34156"/>
                    </a:cubicBezTo>
                    <a:close/>
                    <a:moveTo>
                      <a:pt x="192509" y="150838"/>
                    </a:moveTo>
                    <a:lnTo>
                      <a:pt x="100831" y="150838"/>
                    </a:lnTo>
                    <a:cubicBezTo>
                      <a:pt x="96228" y="150838"/>
                      <a:pt x="92497" y="154569"/>
                      <a:pt x="92497" y="159172"/>
                    </a:cubicBezTo>
                    <a:cubicBezTo>
                      <a:pt x="92497" y="163775"/>
                      <a:pt x="96228" y="167506"/>
                      <a:pt x="100831" y="167506"/>
                    </a:cubicBezTo>
                    <a:lnTo>
                      <a:pt x="192509" y="167506"/>
                    </a:lnTo>
                    <a:cubicBezTo>
                      <a:pt x="197112" y="167506"/>
                      <a:pt x="200844" y="163775"/>
                      <a:pt x="200844" y="159172"/>
                    </a:cubicBezTo>
                    <a:cubicBezTo>
                      <a:pt x="200844" y="154569"/>
                      <a:pt x="197112" y="150838"/>
                      <a:pt x="192509" y="150838"/>
                    </a:cubicBezTo>
                    <a:close/>
                    <a:moveTo>
                      <a:pt x="53263" y="3257"/>
                    </a:moveTo>
                    <a:lnTo>
                      <a:pt x="25822" y="30708"/>
                    </a:lnTo>
                    <a:lnTo>
                      <a:pt x="15050" y="19925"/>
                    </a:lnTo>
                    <a:cubicBezTo>
                      <a:pt x="11793" y="16669"/>
                      <a:pt x="6513" y="16669"/>
                      <a:pt x="3257" y="19925"/>
                    </a:cubicBezTo>
                    <a:cubicBezTo>
                      <a:pt x="0" y="23182"/>
                      <a:pt x="0" y="28462"/>
                      <a:pt x="3257" y="31718"/>
                    </a:cubicBezTo>
                    <a:lnTo>
                      <a:pt x="19925" y="48387"/>
                    </a:lnTo>
                    <a:cubicBezTo>
                      <a:pt x="21489" y="49952"/>
                      <a:pt x="23610" y="50832"/>
                      <a:pt x="25822" y="50832"/>
                    </a:cubicBezTo>
                    <a:cubicBezTo>
                      <a:pt x="28034" y="50832"/>
                      <a:pt x="30155" y="49952"/>
                      <a:pt x="31718" y="48387"/>
                    </a:cubicBezTo>
                    <a:lnTo>
                      <a:pt x="65056" y="15050"/>
                    </a:lnTo>
                    <a:cubicBezTo>
                      <a:pt x="68313" y="11793"/>
                      <a:pt x="68313" y="6513"/>
                      <a:pt x="65056" y="3257"/>
                    </a:cubicBezTo>
                    <a:cubicBezTo>
                      <a:pt x="61799" y="0"/>
                      <a:pt x="56519" y="0"/>
                      <a:pt x="53263" y="3257"/>
                    </a:cubicBezTo>
                    <a:close/>
                    <a:moveTo>
                      <a:pt x="53263" y="69932"/>
                    </a:moveTo>
                    <a:lnTo>
                      <a:pt x="25822" y="97383"/>
                    </a:lnTo>
                    <a:lnTo>
                      <a:pt x="15050" y="86600"/>
                    </a:lnTo>
                    <a:cubicBezTo>
                      <a:pt x="11793" y="83344"/>
                      <a:pt x="6513" y="83344"/>
                      <a:pt x="3257" y="86600"/>
                    </a:cubicBezTo>
                    <a:cubicBezTo>
                      <a:pt x="0" y="89857"/>
                      <a:pt x="0" y="95137"/>
                      <a:pt x="3257" y="98393"/>
                    </a:cubicBezTo>
                    <a:lnTo>
                      <a:pt x="19925" y="115062"/>
                    </a:lnTo>
                    <a:cubicBezTo>
                      <a:pt x="21489" y="116627"/>
                      <a:pt x="23610" y="117507"/>
                      <a:pt x="25822" y="117507"/>
                    </a:cubicBezTo>
                    <a:cubicBezTo>
                      <a:pt x="28034" y="117507"/>
                      <a:pt x="30155" y="116627"/>
                      <a:pt x="31718" y="115062"/>
                    </a:cubicBezTo>
                    <a:lnTo>
                      <a:pt x="65056" y="81725"/>
                    </a:lnTo>
                    <a:cubicBezTo>
                      <a:pt x="68313" y="78468"/>
                      <a:pt x="68313" y="73188"/>
                      <a:pt x="65056" y="69932"/>
                    </a:cubicBezTo>
                    <a:cubicBezTo>
                      <a:pt x="61799" y="66675"/>
                      <a:pt x="56519" y="66675"/>
                      <a:pt x="53263" y="69932"/>
                    </a:cubicBezTo>
                    <a:close/>
                    <a:moveTo>
                      <a:pt x="53263" y="136607"/>
                    </a:moveTo>
                    <a:lnTo>
                      <a:pt x="25822" y="164058"/>
                    </a:lnTo>
                    <a:lnTo>
                      <a:pt x="15050" y="153275"/>
                    </a:lnTo>
                    <a:cubicBezTo>
                      <a:pt x="11793" y="150019"/>
                      <a:pt x="6513" y="150019"/>
                      <a:pt x="3257" y="153275"/>
                    </a:cubicBezTo>
                    <a:cubicBezTo>
                      <a:pt x="0" y="156532"/>
                      <a:pt x="0" y="161812"/>
                      <a:pt x="3257" y="165068"/>
                    </a:cubicBezTo>
                    <a:lnTo>
                      <a:pt x="19925" y="181737"/>
                    </a:lnTo>
                    <a:cubicBezTo>
                      <a:pt x="21489" y="183302"/>
                      <a:pt x="23610" y="184182"/>
                      <a:pt x="25822" y="184182"/>
                    </a:cubicBezTo>
                    <a:cubicBezTo>
                      <a:pt x="28034" y="184182"/>
                      <a:pt x="30155" y="183302"/>
                      <a:pt x="31718" y="181737"/>
                    </a:cubicBezTo>
                    <a:lnTo>
                      <a:pt x="65056" y="148400"/>
                    </a:lnTo>
                    <a:cubicBezTo>
                      <a:pt x="68313" y="145143"/>
                      <a:pt x="68313" y="139863"/>
                      <a:pt x="65056" y="136607"/>
                    </a:cubicBezTo>
                    <a:cubicBezTo>
                      <a:pt x="61799" y="133350"/>
                      <a:pt x="56519" y="133350"/>
                      <a:pt x="53263" y="136607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5463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确定性排序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5550694" y="3285649"/>
              <a:ext cx="80486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基础可用路径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7543800" y="1885950"/>
            <a:ext cx="1390650" cy="1943100"/>
            <a:chOff x="7543800" y="1885950"/>
            <a:chExt cx="1390650" cy="1943100"/>
          </a:xfrm>
        </p:grpSpPr>
        <p:sp>
          <p:nvSpPr>
            <p:cNvPr id="38" name="Rectangle 38"/>
            <p:cNvSpPr/>
            <p:nvPr/>
          </p:nvSpPr>
          <p:spPr>
            <a:xfrm>
              <a:off x="7543800" y="1885950"/>
              <a:ext cx="1390650" cy="19431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23812">
              <a:solidFill>
                <a:srgbClr val="3A86FF"/>
              </a:solidFill>
            </a:ln>
          </p:spPr>
        </p:sp>
        <p:sp>
          <p:nvSpPr>
            <p:cNvPr id="39" name="Rectangle 39"/>
            <p:cNvSpPr/>
            <p:nvPr/>
          </p:nvSpPr>
          <p:spPr>
            <a:xfrm>
              <a:off x="7839075" y="21526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42" name="Group 42"/>
            <p:cNvGrpSpPr/>
            <p:nvPr/>
          </p:nvGrpSpPr>
          <p:grpSpPr>
            <a:xfrm>
              <a:off x="7980752" y="2306815"/>
              <a:ext cx="250039" cy="216736"/>
              <a:chOff x="7980752" y="2306815"/>
              <a:chExt cx="250039" cy="216736"/>
            </a:xfrm>
          </p:grpSpPr>
          <p:sp>
            <p:nvSpPr>
              <p:cNvPr id="40" name="Freeform 40"/>
              <p:cNvSpPr/>
              <p:nvPr/>
            </p:nvSpPr>
            <p:spPr>
              <a:xfrm>
                <a:off x="7989049" y="2319338"/>
                <a:ext cx="23341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33414" h="191691">
                    <a:moveTo>
                      <a:pt x="233407" y="95845"/>
                    </a:moveTo>
                    <a:cubicBezTo>
                      <a:pt x="233414" y="117043"/>
                      <a:pt x="220055" y="135942"/>
                      <a:pt x="200070" y="143007"/>
                    </a:cubicBezTo>
                    <a:lnTo>
                      <a:pt x="200070" y="143007"/>
                    </a:lnTo>
                    <a:lnTo>
                      <a:pt x="200070" y="150019"/>
                    </a:lnTo>
                    <a:cubicBezTo>
                      <a:pt x="200070" y="173033"/>
                      <a:pt x="181413" y="191691"/>
                      <a:pt x="158398" y="191691"/>
                    </a:cubicBezTo>
                    <a:cubicBezTo>
                      <a:pt x="135383" y="191691"/>
                      <a:pt x="116726" y="173033"/>
                      <a:pt x="116726" y="150019"/>
                    </a:cubicBezTo>
                    <a:cubicBezTo>
                      <a:pt x="116726" y="173033"/>
                      <a:pt x="98069" y="191691"/>
                      <a:pt x="75054" y="191691"/>
                    </a:cubicBezTo>
                    <a:cubicBezTo>
                      <a:pt x="52039" y="191691"/>
                      <a:pt x="33382" y="173033"/>
                      <a:pt x="33382" y="150019"/>
                    </a:cubicBezTo>
                    <a:lnTo>
                      <a:pt x="33382" y="143007"/>
                    </a:lnTo>
                    <a:lnTo>
                      <a:pt x="33382" y="143007"/>
                    </a:lnTo>
                    <a:cubicBezTo>
                      <a:pt x="13379" y="135957"/>
                      <a:pt x="0" y="117055"/>
                      <a:pt x="0" y="95845"/>
                    </a:cubicBezTo>
                    <a:cubicBezTo>
                      <a:pt x="0" y="74636"/>
                      <a:pt x="13379" y="55734"/>
                      <a:pt x="33382" y="48683"/>
                    </a:cubicBezTo>
                    <a:lnTo>
                      <a:pt x="33382" y="41672"/>
                    </a:lnTo>
                    <a:cubicBezTo>
                      <a:pt x="33382" y="18657"/>
                      <a:pt x="52039" y="0"/>
                      <a:pt x="75054" y="0"/>
                    </a:cubicBezTo>
                    <a:cubicBezTo>
                      <a:pt x="98069" y="0"/>
                      <a:pt x="116726" y="18657"/>
                      <a:pt x="116726" y="41672"/>
                    </a:cubicBezTo>
                    <a:cubicBezTo>
                      <a:pt x="116726" y="18657"/>
                      <a:pt x="135383" y="0"/>
                      <a:pt x="158398" y="0"/>
                    </a:cubicBezTo>
                    <a:cubicBezTo>
                      <a:pt x="181413" y="0"/>
                      <a:pt x="200070" y="18657"/>
                      <a:pt x="200070" y="41672"/>
                    </a:cubicBezTo>
                    <a:lnTo>
                      <a:pt x="200070" y="48683"/>
                    </a:lnTo>
                    <a:cubicBezTo>
                      <a:pt x="220055" y="55749"/>
                      <a:pt x="233414" y="74648"/>
                      <a:pt x="233407" y="95845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1" name="Freeform 41"/>
              <p:cNvSpPr/>
              <p:nvPr/>
            </p:nvSpPr>
            <p:spPr>
              <a:xfrm>
                <a:off x="7980752" y="2306815"/>
                <a:ext cx="250039" cy="216736"/>
              </a:xfrm>
              <a:custGeom>
                <a:avLst/>
                <a:gdLst/>
                <a:ahLst/>
                <a:cxnLst/>
                <a:rect l="l" t="t" r="r" b="b"/>
                <a:pathLst>
                  <a:path w="250039" h="216736">
                    <a:moveTo>
                      <a:pt x="250039" y="108368"/>
                    </a:moveTo>
                    <a:cubicBezTo>
                      <a:pt x="250017" y="85837"/>
                      <a:pt x="237047" y="65324"/>
                      <a:pt x="216702" y="55643"/>
                    </a:cubicBezTo>
                    <a:lnTo>
                      <a:pt x="216702" y="54195"/>
                    </a:lnTo>
                    <a:cubicBezTo>
                      <a:pt x="216682" y="32145"/>
                      <a:pt x="202223" y="12711"/>
                      <a:pt x="181109" y="6356"/>
                    </a:cubicBezTo>
                    <a:cubicBezTo>
                      <a:pt x="159996" y="0"/>
                      <a:pt x="137212" y="8223"/>
                      <a:pt x="125023" y="26597"/>
                    </a:cubicBezTo>
                    <a:cubicBezTo>
                      <a:pt x="112835" y="8223"/>
                      <a:pt x="90051" y="0"/>
                      <a:pt x="68937" y="6356"/>
                    </a:cubicBezTo>
                    <a:cubicBezTo>
                      <a:pt x="47824" y="12711"/>
                      <a:pt x="33365" y="32145"/>
                      <a:pt x="33345" y="54195"/>
                    </a:cubicBezTo>
                    <a:lnTo>
                      <a:pt x="33345" y="55643"/>
                    </a:lnTo>
                    <a:cubicBezTo>
                      <a:pt x="12981" y="65299"/>
                      <a:pt x="0" y="85820"/>
                      <a:pt x="0" y="108358"/>
                    </a:cubicBezTo>
                    <a:cubicBezTo>
                      <a:pt x="0" y="130895"/>
                      <a:pt x="12981" y="151417"/>
                      <a:pt x="33345" y="161073"/>
                    </a:cubicBezTo>
                    <a:lnTo>
                      <a:pt x="33345" y="162542"/>
                    </a:lnTo>
                    <a:cubicBezTo>
                      <a:pt x="33365" y="184591"/>
                      <a:pt x="47824" y="204025"/>
                      <a:pt x="68937" y="210381"/>
                    </a:cubicBezTo>
                    <a:cubicBezTo>
                      <a:pt x="90051" y="216736"/>
                      <a:pt x="112835" y="208513"/>
                      <a:pt x="125023" y="190139"/>
                    </a:cubicBezTo>
                    <a:cubicBezTo>
                      <a:pt x="137212" y="208513"/>
                      <a:pt x="159996" y="216736"/>
                      <a:pt x="181109" y="210381"/>
                    </a:cubicBezTo>
                    <a:cubicBezTo>
                      <a:pt x="202223" y="204025"/>
                      <a:pt x="216682" y="184591"/>
                      <a:pt x="216702" y="162542"/>
                    </a:cubicBezTo>
                    <a:lnTo>
                      <a:pt x="216702" y="161073"/>
                    </a:lnTo>
                    <a:cubicBezTo>
                      <a:pt x="237043" y="151398"/>
                      <a:pt x="250014" y="130893"/>
                      <a:pt x="250039" y="108368"/>
                    </a:cubicBezTo>
                    <a:close/>
                    <a:moveTo>
                      <a:pt x="83352" y="195879"/>
                    </a:moveTo>
                    <a:cubicBezTo>
                      <a:pt x="66329" y="195877"/>
                      <a:pt x="52042" y="183050"/>
                      <a:pt x="50212" y="166125"/>
                    </a:cubicBezTo>
                    <a:cubicBezTo>
                      <a:pt x="52907" y="166510"/>
                      <a:pt x="55626" y="166705"/>
                      <a:pt x="58348" y="166709"/>
                    </a:cubicBezTo>
                    <a:lnTo>
                      <a:pt x="66683" y="166709"/>
                    </a:lnTo>
                    <a:cubicBezTo>
                      <a:pt x="71286" y="166709"/>
                      <a:pt x="75017" y="162977"/>
                      <a:pt x="75017" y="158374"/>
                    </a:cubicBezTo>
                    <a:cubicBezTo>
                      <a:pt x="75017" y="153771"/>
                      <a:pt x="71286" y="150040"/>
                      <a:pt x="66683" y="150040"/>
                    </a:cubicBezTo>
                    <a:lnTo>
                      <a:pt x="58348" y="150040"/>
                    </a:lnTo>
                    <a:cubicBezTo>
                      <a:pt x="38033" y="150064"/>
                      <a:pt x="20661" y="135435"/>
                      <a:pt x="17227" y="115412"/>
                    </a:cubicBezTo>
                    <a:cubicBezTo>
                      <a:pt x="13794" y="95389"/>
                      <a:pt x="25299" y="75807"/>
                      <a:pt x="44461" y="69061"/>
                    </a:cubicBezTo>
                    <a:cubicBezTo>
                      <a:pt x="47789" y="67883"/>
                      <a:pt x="50013" y="64736"/>
                      <a:pt x="50014" y="61206"/>
                    </a:cubicBezTo>
                    <a:lnTo>
                      <a:pt x="50014" y="54195"/>
                    </a:lnTo>
                    <a:cubicBezTo>
                      <a:pt x="50014" y="35783"/>
                      <a:pt x="64940" y="20857"/>
                      <a:pt x="83352" y="20857"/>
                    </a:cubicBezTo>
                    <a:cubicBezTo>
                      <a:pt x="101763" y="20857"/>
                      <a:pt x="116689" y="35783"/>
                      <a:pt x="116689" y="54195"/>
                    </a:cubicBezTo>
                    <a:lnTo>
                      <a:pt x="116689" y="125308"/>
                    </a:lnTo>
                    <a:cubicBezTo>
                      <a:pt x="107537" y="117076"/>
                      <a:pt x="95661" y="112526"/>
                      <a:pt x="83352" y="112535"/>
                    </a:cubicBezTo>
                    <a:cubicBezTo>
                      <a:pt x="78749" y="112535"/>
                      <a:pt x="75017" y="116267"/>
                      <a:pt x="75017" y="120870"/>
                    </a:cubicBezTo>
                    <a:cubicBezTo>
                      <a:pt x="75017" y="125473"/>
                      <a:pt x="78749" y="129204"/>
                      <a:pt x="83352" y="129204"/>
                    </a:cubicBezTo>
                    <a:cubicBezTo>
                      <a:pt x="101763" y="129204"/>
                      <a:pt x="116689" y="144130"/>
                      <a:pt x="116689" y="162542"/>
                    </a:cubicBezTo>
                    <a:cubicBezTo>
                      <a:pt x="116689" y="180953"/>
                      <a:pt x="101763" y="195879"/>
                      <a:pt x="83352" y="195879"/>
                    </a:cubicBezTo>
                    <a:close/>
                    <a:moveTo>
                      <a:pt x="191698" y="150040"/>
                    </a:moveTo>
                    <a:lnTo>
                      <a:pt x="183364" y="150040"/>
                    </a:lnTo>
                    <a:cubicBezTo>
                      <a:pt x="178761" y="150040"/>
                      <a:pt x="175030" y="153771"/>
                      <a:pt x="175030" y="158374"/>
                    </a:cubicBezTo>
                    <a:cubicBezTo>
                      <a:pt x="175030" y="162977"/>
                      <a:pt x="178761" y="166709"/>
                      <a:pt x="183364" y="166709"/>
                    </a:cubicBezTo>
                    <a:lnTo>
                      <a:pt x="191698" y="166709"/>
                    </a:lnTo>
                    <a:cubicBezTo>
                      <a:pt x="194421" y="166705"/>
                      <a:pt x="197140" y="166510"/>
                      <a:pt x="199835" y="166125"/>
                    </a:cubicBezTo>
                    <a:cubicBezTo>
                      <a:pt x="197906" y="183968"/>
                      <a:pt x="182198" y="197081"/>
                      <a:pt x="164297" y="195793"/>
                    </a:cubicBezTo>
                    <a:cubicBezTo>
                      <a:pt x="146397" y="194505"/>
                      <a:pt x="132729" y="179277"/>
                      <a:pt x="133375" y="161342"/>
                    </a:cubicBezTo>
                    <a:cubicBezTo>
                      <a:pt x="134021" y="143407"/>
                      <a:pt x="148749" y="129201"/>
                      <a:pt x="166695" y="129204"/>
                    </a:cubicBezTo>
                    <a:cubicBezTo>
                      <a:pt x="171298" y="129204"/>
                      <a:pt x="175030" y="125473"/>
                      <a:pt x="175030" y="120870"/>
                    </a:cubicBezTo>
                    <a:cubicBezTo>
                      <a:pt x="175030" y="116267"/>
                      <a:pt x="171298" y="112535"/>
                      <a:pt x="166695" y="112535"/>
                    </a:cubicBezTo>
                    <a:cubicBezTo>
                      <a:pt x="154386" y="112526"/>
                      <a:pt x="142510" y="117076"/>
                      <a:pt x="133358" y="125308"/>
                    </a:cubicBezTo>
                    <a:lnTo>
                      <a:pt x="133358" y="54195"/>
                    </a:lnTo>
                    <a:cubicBezTo>
                      <a:pt x="133358" y="35783"/>
                      <a:pt x="148284" y="20857"/>
                      <a:pt x="166695" y="20857"/>
                    </a:cubicBezTo>
                    <a:cubicBezTo>
                      <a:pt x="185107" y="20857"/>
                      <a:pt x="200033" y="35783"/>
                      <a:pt x="200033" y="54195"/>
                    </a:cubicBezTo>
                    <a:lnTo>
                      <a:pt x="200033" y="61206"/>
                    </a:lnTo>
                    <a:cubicBezTo>
                      <a:pt x="200033" y="64736"/>
                      <a:pt x="202258" y="67883"/>
                      <a:pt x="205586" y="69061"/>
                    </a:cubicBezTo>
                    <a:cubicBezTo>
                      <a:pt x="224748" y="75807"/>
                      <a:pt x="236253" y="95389"/>
                      <a:pt x="232819" y="115412"/>
                    </a:cubicBezTo>
                    <a:cubicBezTo>
                      <a:pt x="229386" y="135435"/>
                      <a:pt x="212014" y="150064"/>
                      <a:pt x="191698" y="150040"/>
                    </a:cubicBezTo>
                    <a:close/>
                    <a:moveTo>
                      <a:pt x="208367" y="95867"/>
                    </a:moveTo>
                    <a:cubicBezTo>
                      <a:pt x="208367" y="100469"/>
                      <a:pt x="204636" y="104201"/>
                      <a:pt x="200033" y="104201"/>
                    </a:cubicBezTo>
                    <a:lnTo>
                      <a:pt x="195866" y="104201"/>
                    </a:lnTo>
                    <a:cubicBezTo>
                      <a:pt x="175152" y="104201"/>
                      <a:pt x="158361" y="87409"/>
                      <a:pt x="158361" y="66696"/>
                    </a:cubicBezTo>
                    <a:lnTo>
                      <a:pt x="158361" y="62529"/>
                    </a:lnTo>
                    <a:cubicBezTo>
                      <a:pt x="158361" y="57926"/>
                      <a:pt x="162092" y="54195"/>
                      <a:pt x="166695" y="54195"/>
                    </a:cubicBezTo>
                    <a:cubicBezTo>
                      <a:pt x="171298" y="54195"/>
                      <a:pt x="175030" y="57926"/>
                      <a:pt x="175030" y="62529"/>
                    </a:cubicBezTo>
                    <a:lnTo>
                      <a:pt x="175030" y="66696"/>
                    </a:lnTo>
                    <a:cubicBezTo>
                      <a:pt x="175030" y="78204"/>
                      <a:pt x="184358" y="87532"/>
                      <a:pt x="195866" y="87532"/>
                    </a:cubicBezTo>
                    <a:lnTo>
                      <a:pt x="200033" y="87532"/>
                    </a:lnTo>
                    <a:cubicBezTo>
                      <a:pt x="204636" y="87532"/>
                      <a:pt x="208367" y="91264"/>
                      <a:pt x="208367" y="95867"/>
                    </a:cubicBezTo>
                    <a:close/>
                    <a:moveTo>
                      <a:pt x="54181" y="104201"/>
                    </a:moveTo>
                    <a:lnTo>
                      <a:pt x="50014" y="104201"/>
                    </a:lnTo>
                    <a:cubicBezTo>
                      <a:pt x="45411" y="104201"/>
                      <a:pt x="41680" y="100469"/>
                      <a:pt x="41680" y="95867"/>
                    </a:cubicBezTo>
                    <a:cubicBezTo>
                      <a:pt x="41680" y="91264"/>
                      <a:pt x="45411" y="87532"/>
                      <a:pt x="50014" y="87532"/>
                    </a:cubicBezTo>
                    <a:lnTo>
                      <a:pt x="54181" y="87532"/>
                    </a:lnTo>
                    <a:cubicBezTo>
                      <a:pt x="65689" y="87532"/>
                      <a:pt x="75017" y="78204"/>
                      <a:pt x="75017" y="66696"/>
                    </a:cubicBezTo>
                    <a:lnTo>
                      <a:pt x="75017" y="62529"/>
                    </a:lnTo>
                    <a:cubicBezTo>
                      <a:pt x="75017" y="57926"/>
                      <a:pt x="78749" y="54195"/>
                      <a:pt x="83352" y="54195"/>
                    </a:cubicBezTo>
                    <a:cubicBezTo>
                      <a:pt x="87955" y="54195"/>
                      <a:pt x="91686" y="57926"/>
                      <a:pt x="91686" y="62529"/>
                    </a:cubicBezTo>
                    <a:lnTo>
                      <a:pt x="91686" y="66696"/>
                    </a:lnTo>
                    <a:cubicBezTo>
                      <a:pt x="91686" y="87409"/>
                      <a:pt x="74895" y="104201"/>
                      <a:pt x="54181" y="104201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43" name="TextBox 43"/>
            <p:cNvSpPr txBox="1"/>
            <p:nvPr/>
          </p:nvSpPr>
          <p:spPr>
            <a:xfrm>
              <a:off x="7588751" y="2864168"/>
              <a:ext cx="130074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DeepSeek 重排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826943" y="3190399"/>
              <a:ext cx="82436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只返回候选 ID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810500" y="3448050"/>
              <a:ext cx="857250" cy="2286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8055376" y="3520916"/>
              <a:ext cx="367498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825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增强层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829800" y="2038350"/>
            <a:ext cx="1390650" cy="1638300"/>
            <a:chOff x="9829800" y="2038350"/>
            <a:chExt cx="1390650" cy="1638300"/>
          </a:xfrm>
        </p:grpSpPr>
        <p:sp>
          <p:nvSpPr>
            <p:cNvPr id="48" name="Rectangle 48"/>
            <p:cNvSpPr/>
            <p:nvPr/>
          </p:nvSpPr>
          <p:spPr>
            <a:xfrm>
              <a:off x="9829800" y="2038350"/>
              <a:ext cx="1390650" cy="1638300"/>
            </a:xfrm>
            <a:prstGeom prst="roundRect">
              <a:avLst>
                <a:gd name="adj" fmla="val 1506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9" name="Rectangle 49"/>
            <p:cNvSpPr/>
            <p:nvPr/>
          </p:nvSpPr>
          <p:spPr>
            <a:xfrm>
              <a:off x="10125075" y="2266950"/>
              <a:ext cx="533400" cy="533400"/>
            </a:xfrm>
            <a:prstGeom prst="roundRect">
              <a:avLst>
                <a:gd name="adj" fmla="val 32143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52" name="Group 52"/>
            <p:cNvGrpSpPr/>
            <p:nvPr/>
          </p:nvGrpSpPr>
          <p:grpSpPr>
            <a:xfrm>
              <a:off x="10291762" y="2441972"/>
              <a:ext cx="200025" cy="208643"/>
              <a:chOff x="10291762" y="2441972"/>
              <a:chExt cx="200025" cy="208643"/>
            </a:xfrm>
          </p:grpSpPr>
          <p:sp>
            <p:nvSpPr>
              <p:cNvPr id="50" name="Freeform 50"/>
              <p:cNvSpPr/>
              <p:nvPr/>
            </p:nvSpPr>
            <p:spPr>
              <a:xfrm>
                <a:off x="10300097" y="2450306"/>
                <a:ext cx="183356" cy="191816"/>
              </a:xfrm>
              <a:custGeom>
                <a:avLst/>
                <a:gdLst/>
                <a:ahLst/>
                <a:cxnLst/>
                <a:rect l="l" t="t" r="r" b="b"/>
                <a:pathLst>
                  <a:path w="183356" h="191816">
                    <a:moveTo>
                      <a:pt x="183356" y="8334"/>
                    </a:moveTo>
                    <a:lnTo>
                      <a:pt x="183356" y="69561"/>
                    </a:lnTo>
                    <a:cubicBezTo>
                      <a:pt x="183356" y="157259"/>
                      <a:pt x="109066" y="186315"/>
                      <a:pt x="94241" y="191243"/>
                    </a:cubicBezTo>
                    <a:cubicBezTo>
                      <a:pt x="92580" y="191816"/>
                      <a:pt x="90776" y="191816"/>
                      <a:pt x="89115" y="191243"/>
                    </a:cubicBezTo>
                    <a:cubicBezTo>
                      <a:pt x="74291" y="186336"/>
                      <a:pt x="0" y="157311"/>
                      <a:pt x="0" y="69582"/>
                    </a:cubicBezTo>
                    <a:lnTo>
                      <a:pt x="0" y="8334"/>
                    </a:lnTo>
                    <a:cubicBezTo>
                      <a:pt x="0" y="3731"/>
                      <a:pt x="3731" y="0"/>
                      <a:pt x="8334" y="0"/>
                    </a:cubicBezTo>
                    <a:lnTo>
                      <a:pt x="175022" y="0"/>
                    </a:lnTo>
                    <a:cubicBezTo>
                      <a:pt x="179625" y="0"/>
                      <a:pt x="183356" y="3731"/>
                      <a:pt x="183356" y="8334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1" name="Freeform 51"/>
              <p:cNvSpPr/>
              <p:nvPr/>
            </p:nvSpPr>
            <p:spPr>
              <a:xfrm>
                <a:off x="10291762" y="2441972"/>
                <a:ext cx="200025" cy="208643"/>
              </a:xfrm>
              <a:custGeom>
                <a:avLst/>
                <a:gdLst/>
                <a:ahLst/>
                <a:cxnLst/>
                <a:rect l="l" t="t" r="r" b="b"/>
                <a:pathLst>
                  <a:path w="200025" h="208643">
                    <a:moveTo>
                      <a:pt x="183356" y="0"/>
                    </a:moveTo>
                    <a:lnTo>
                      <a:pt x="16669" y="0"/>
                    </a:lnTo>
                    <a:cubicBezTo>
                      <a:pt x="7463" y="0"/>
                      <a:pt x="0" y="7463"/>
                      <a:pt x="0" y="16669"/>
                    </a:cubicBezTo>
                    <a:lnTo>
                      <a:pt x="0" y="77906"/>
                    </a:lnTo>
                    <a:cubicBezTo>
                      <a:pt x="0" y="171261"/>
                      <a:pt x="78989" y="202234"/>
                      <a:pt x="94804" y="207495"/>
                    </a:cubicBezTo>
                    <a:cubicBezTo>
                      <a:pt x="98181" y="208643"/>
                      <a:pt x="101844" y="208643"/>
                      <a:pt x="105221" y="207495"/>
                    </a:cubicBezTo>
                    <a:cubicBezTo>
                      <a:pt x="121057" y="202234"/>
                      <a:pt x="200025" y="171261"/>
                      <a:pt x="200025" y="77906"/>
                    </a:cubicBezTo>
                    <a:lnTo>
                      <a:pt x="200025" y="16669"/>
                    </a:lnTo>
                    <a:cubicBezTo>
                      <a:pt x="200025" y="7463"/>
                      <a:pt x="192562" y="0"/>
                      <a:pt x="183356" y="0"/>
                    </a:cubicBezTo>
                    <a:close/>
                    <a:moveTo>
                      <a:pt x="183356" y="77916"/>
                    </a:moveTo>
                    <a:cubicBezTo>
                      <a:pt x="183356" y="159614"/>
                      <a:pt x="114233" y="186909"/>
                      <a:pt x="100012" y="191659"/>
                    </a:cubicBezTo>
                    <a:cubicBezTo>
                      <a:pt x="85917" y="186961"/>
                      <a:pt x="16669" y="159687"/>
                      <a:pt x="16669" y="77916"/>
                    </a:cubicBezTo>
                    <a:lnTo>
                      <a:pt x="16669" y="16669"/>
                    </a:lnTo>
                    <a:lnTo>
                      <a:pt x="183356" y="16669"/>
                    </a:lnTo>
                    <a:close/>
                    <a:moveTo>
                      <a:pt x="52444" y="105909"/>
                    </a:moveTo>
                    <a:cubicBezTo>
                      <a:pt x="49187" y="102652"/>
                      <a:pt x="49187" y="97373"/>
                      <a:pt x="52444" y="94116"/>
                    </a:cubicBezTo>
                    <a:cubicBezTo>
                      <a:pt x="55701" y="90859"/>
                      <a:pt x="60981" y="90859"/>
                      <a:pt x="64237" y="94116"/>
                    </a:cubicBezTo>
                    <a:lnTo>
                      <a:pt x="83344" y="113222"/>
                    </a:lnTo>
                    <a:lnTo>
                      <a:pt x="135788" y="60778"/>
                    </a:lnTo>
                    <a:cubicBezTo>
                      <a:pt x="139044" y="57522"/>
                      <a:pt x="144324" y="57522"/>
                      <a:pt x="147581" y="60778"/>
                    </a:cubicBezTo>
                    <a:cubicBezTo>
                      <a:pt x="150838" y="64035"/>
                      <a:pt x="150838" y="69315"/>
                      <a:pt x="147581" y="72572"/>
                    </a:cubicBezTo>
                    <a:lnTo>
                      <a:pt x="89240" y="130912"/>
                    </a:lnTo>
                    <a:cubicBezTo>
                      <a:pt x="87677" y="132477"/>
                      <a:pt x="85556" y="133357"/>
                      <a:pt x="83344" y="133357"/>
                    </a:cubicBezTo>
                    <a:cubicBezTo>
                      <a:pt x="81132" y="133357"/>
                      <a:pt x="79010" y="132477"/>
                      <a:pt x="77447" y="130912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53" name="TextBox 53"/>
            <p:cNvSpPr txBox="1"/>
            <p:nvPr/>
          </p:nvSpPr>
          <p:spPr>
            <a:xfrm>
              <a:off x="10035421" y="295941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合法性验证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10057686" y="3285649"/>
              <a:ext cx="934879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候选内、无重复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5953125" y="3714750"/>
            <a:ext cx="4622530" cy="1333500"/>
            <a:chOff x="5953125" y="3714750"/>
            <a:chExt cx="4622530" cy="1333500"/>
          </a:xfrm>
        </p:grpSpPr>
        <p:sp>
          <p:nvSpPr>
            <p:cNvPr id="56" name="Freeform 56"/>
            <p:cNvSpPr/>
            <p:nvPr/>
          </p:nvSpPr>
          <p:spPr>
            <a:xfrm>
              <a:off x="5953125" y="3714750"/>
              <a:ext cx="4572000" cy="971550"/>
            </a:xfrm>
            <a:custGeom>
              <a:avLst/>
              <a:gdLst/>
              <a:ahLst/>
              <a:cxnLst/>
              <a:rect l="l" t="t" r="r" b="b"/>
              <a:pathLst>
                <a:path w="4572000" h="971550">
                  <a:moveTo>
                    <a:pt x="4572000" y="95250"/>
                  </a:moveTo>
                  <a:lnTo>
                    <a:pt x="4572000" y="971550"/>
                  </a:lnTo>
                  <a:lnTo>
                    <a:pt x="0" y="971550"/>
                  </a:lnTo>
                  <a:lnTo>
                    <a:pt x="0" y="0"/>
                  </a:lnTo>
                </a:path>
              </a:pathLst>
            </a:custGeom>
            <a:noFill/>
            <a:ln w="28575">
              <a:solidFill>
                <a:srgbClr val="E45858"/>
              </a:solidFill>
              <a:prstDash val="lgDash"/>
              <a:tailEnd type="triangle" w="lg" len="lg"/>
            </a:ln>
          </p:spPr>
        </p:sp>
        <p:sp>
          <p:nvSpPr>
            <p:cNvPr id="57" name="Rectangle 57"/>
            <p:cNvSpPr/>
            <p:nvPr/>
          </p:nvSpPr>
          <p:spPr>
            <a:xfrm>
              <a:off x="6858000" y="4324350"/>
              <a:ext cx="2990850" cy="723900"/>
            </a:xfrm>
            <a:prstGeom prst="roundRect">
              <a:avLst>
                <a:gd name="adj" fmla="val 28947"/>
              </a:avLst>
            </a:prstGeom>
            <a:solidFill>
              <a:srgbClr val="FFFFFF"/>
            </a:solidFill>
            <a:ln w="19050">
              <a:solidFill>
                <a:srgbClr val="E45858"/>
              </a:solidFill>
            </a:ln>
          </p:spPr>
        </p:sp>
        <p:grpSp>
          <p:nvGrpSpPr>
            <p:cNvPr id="60" name="Group 60"/>
            <p:cNvGrpSpPr/>
            <p:nvPr/>
          </p:nvGrpSpPr>
          <p:grpSpPr>
            <a:xfrm>
              <a:off x="7143573" y="4545210"/>
              <a:ext cx="286095" cy="253123"/>
              <a:chOff x="7143573" y="4545210"/>
              <a:chExt cx="286095" cy="253123"/>
            </a:xfrm>
          </p:grpSpPr>
          <p:sp>
            <p:nvSpPr>
              <p:cNvPr id="58" name="Freeform 58"/>
              <p:cNvSpPr/>
              <p:nvPr/>
            </p:nvSpPr>
            <p:spPr>
              <a:xfrm>
                <a:off x="7150001" y="4551814"/>
                <a:ext cx="273247" cy="236283"/>
              </a:xfrm>
              <a:custGeom>
                <a:avLst/>
                <a:gdLst/>
                <a:ahLst/>
                <a:cxnLst/>
                <a:rect l="l" t="t" r="r" b="b"/>
                <a:pathLst>
                  <a:path w="273247" h="236283">
                    <a:moveTo>
                      <a:pt x="247264" y="236283"/>
                    </a:moveTo>
                    <a:lnTo>
                      <a:pt x="25984" y="236283"/>
                    </a:lnTo>
                    <a:cubicBezTo>
                      <a:pt x="10019" y="236283"/>
                      <a:pt x="0" y="219572"/>
                      <a:pt x="7755" y="206036"/>
                    </a:cubicBezTo>
                    <a:lnTo>
                      <a:pt x="118395" y="13915"/>
                    </a:lnTo>
                    <a:cubicBezTo>
                      <a:pt x="126364" y="0"/>
                      <a:pt x="146883" y="0"/>
                      <a:pt x="154853" y="13915"/>
                    </a:cubicBezTo>
                    <a:lnTo>
                      <a:pt x="265493" y="206036"/>
                    </a:lnTo>
                    <a:cubicBezTo>
                      <a:pt x="273247" y="219572"/>
                      <a:pt x="263228" y="236283"/>
                      <a:pt x="247264" y="236283"/>
                    </a:cubicBezTo>
                    <a:close/>
                  </a:path>
                </a:pathLst>
              </a:custGeom>
              <a:solidFill>
                <a:srgbClr val="E45858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9" name="Freeform 59"/>
              <p:cNvSpPr/>
              <p:nvPr/>
            </p:nvSpPr>
            <p:spPr>
              <a:xfrm>
                <a:off x="7143573" y="4545210"/>
                <a:ext cx="286095" cy="253123"/>
              </a:xfrm>
              <a:custGeom>
                <a:avLst/>
                <a:gdLst/>
                <a:ahLst/>
                <a:cxnLst/>
                <a:rect l="l" t="t" r="r" b="b"/>
                <a:pathLst>
                  <a:path w="286095" h="253123">
                    <a:moveTo>
                      <a:pt x="280687" y="207580"/>
                    </a:moveTo>
                    <a:lnTo>
                      <a:pt x="170060" y="15460"/>
                    </a:lnTo>
                    <a:lnTo>
                      <a:pt x="170060" y="15460"/>
                    </a:lnTo>
                    <a:cubicBezTo>
                      <a:pt x="164435" y="5882"/>
                      <a:pt x="154158" y="0"/>
                      <a:pt x="143051" y="0"/>
                    </a:cubicBezTo>
                    <a:cubicBezTo>
                      <a:pt x="131944" y="0"/>
                      <a:pt x="121668" y="5882"/>
                      <a:pt x="116043" y="15460"/>
                    </a:cubicBezTo>
                    <a:lnTo>
                      <a:pt x="5416" y="207580"/>
                    </a:lnTo>
                    <a:cubicBezTo>
                      <a:pt x="0" y="216849"/>
                      <a:pt x="0" y="228318"/>
                      <a:pt x="5416" y="237587"/>
                    </a:cubicBezTo>
                    <a:cubicBezTo>
                      <a:pt x="10972" y="247228"/>
                      <a:pt x="21297" y="253123"/>
                      <a:pt x="32424" y="253008"/>
                    </a:cubicBezTo>
                    <a:lnTo>
                      <a:pt x="253679" y="253008"/>
                    </a:lnTo>
                    <a:cubicBezTo>
                      <a:pt x="264797" y="253114"/>
                      <a:pt x="275110" y="247220"/>
                      <a:pt x="280662" y="237587"/>
                    </a:cubicBezTo>
                    <a:cubicBezTo>
                      <a:pt x="286085" y="228322"/>
                      <a:pt x="286095" y="216854"/>
                      <a:pt x="280687" y="207580"/>
                    </a:cubicBezTo>
                    <a:close/>
                    <a:moveTo>
                      <a:pt x="263141" y="227454"/>
                    </a:moveTo>
                    <a:cubicBezTo>
                      <a:pt x="261177" y="230804"/>
                      <a:pt x="257561" y="232834"/>
                      <a:pt x="253679" y="232767"/>
                    </a:cubicBezTo>
                    <a:lnTo>
                      <a:pt x="32424" y="232767"/>
                    </a:lnTo>
                    <a:cubicBezTo>
                      <a:pt x="28542" y="232834"/>
                      <a:pt x="24925" y="230804"/>
                      <a:pt x="22962" y="227454"/>
                    </a:cubicBezTo>
                    <a:cubicBezTo>
                      <a:pt x="21182" y="224442"/>
                      <a:pt x="21182" y="220700"/>
                      <a:pt x="22962" y="217688"/>
                    </a:cubicBezTo>
                    <a:lnTo>
                      <a:pt x="133589" y="25567"/>
                    </a:lnTo>
                    <a:cubicBezTo>
                      <a:pt x="135590" y="22237"/>
                      <a:pt x="139191" y="20200"/>
                      <a:pt x="143077" y="20200"/>
                    </a:cubicBezTo>
                    <a:cubicBezTo>
                      <a:pt x="146962" y="20200"/>
                      <a:pt x="150563" y="22237"/>
                      <a:pt x="152564" y="25567"/>
                    </a:cubicBezTo>
                    <a:lnTo>
                      <a:pt x="263192" y="217688"/>
                    </a:lnTo>
                    <a:cubicBezTo>
                      <a:pt x="264955" y="220709"/>
                      <a:pt x="264936" y="224451"/>
                      <a:pt x="263141" y="227454"/>
                    </a:cubicBezTo>
                    <a:close/>
                    <a:moveTo>
                      <a:pt x="132931" y="151805"/>
                    </a:moveTo>
                    <a:lnTo>
                      <a:pt x="132931" y="101204"/>
                    </a:lnTo>
                    <a:cubicBezTo>
                      <a:pt x="132931" y="95614"/>
                      <a:pt x="137462" y="91083"/>
                      <a:pt x="143051" y="91083"/>
                    </a:cubicBezTo>
                    <a:cubicBezTo>
                      <a:pt x="148641" y="91083"/>
                      <a:pt x="153172" y="95614"/>
                      <a:pt x="153172" y="101204"/>
                    </a:cubicBezTo>
                    <a:lnTo>
                      <a:pt x="153172" y="151805"/>
                    </a:lnTo>
                    <a:cubicBezTo>
                      <a:pt x="153172" y="157394"/>
                      <a:pt x="148641" y="161925"/>
                      <a:pt x="143051" y="161925"/>
                    </a:cubicBezTo>
                    <a:cubicBezTo>
                      <a:pt x="137462" y="161925"/>
                      <a:pt x="132931" y="157394"/>
                      <a:pt x="132931" y="151805"/>
                    </a:cubicBezTo>
                    <a:close/>
                    <a:moveTo>
                      <a:pt x="158232" y="197346"/>
                    </a:moveTo>
                    <a:cubicBezTo>
                      <a:pt x="158232" y="205730"/>
                      <a:pt x="151435" y="212527"/>
                      <a:pt x="143051" y="212527"/>
                    </a:cubicBezTo>
                    <a:cubicBezTo>
                      <a:pt x="134667" y="212527"/>
                      <a:pt x="127871" y="205730"/>
                      <a:pt x="127871" y="197346"/>
                    </a:cubicBezTo>
                    <a:cubicBezTo>
                      <a:pt x="127871" y="188962"/>
                      <a:pt x="134667" y="182166"/>
                      <a:pt x="143051" y="182166"/>
                    </a:cubicBezTo>
                    <a:cubicBezTo>
                      <a:pt x="151435" y="182166"/>
                      <a:pt x="158232" y="188962"/>
                      <a:pt x="158232" y="197346"/>
                    </a:cubicBezTo>
                    <a:close/>
                  </a:path>
                </a:pathLst>
              </a:custGeom>
              <a:solidFill>
                <a:srgbClr val="E45858"/>
              </a:solidFill>
              <a:ln>
                <a:noFill/>
              </a:ln>
            </p:spPr>
          </p:sp>
        </p:grpSp>
        <p:sp>
          <p:nvSpPr>
            <p:cNvPr id="61" name="TextBox 61"/>
            <p:cNvSpPr txBox="1"/>
            <p:nvPr/>
          </p:nvSpPr>
          <p:spPr>
            <a:xfrm>
              <a:off x="7583805" y="4464368"/>
              <a:ext cx="790384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异常回退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7587615" y="4763452"/>
              <a:ext cx="298804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超时、限流、坏 JSON、虚构 ID 都丢弃模型结果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2590800" y="5638800"/>
            <a:ext cx="7010400" cy="552450"/>
            <a:chOff x="2590800" y="5638800"/>
            <a:chExt cx="7010400" cy="552450"/>
          </a:xfrm>
        </p:grpSpPr>
        <p:sp>
          <p:nvSpPr>
            <p:cNvPr id="64" name="Rectangle 64"/>
            <p:cNvSpPr/>
            <p:nvPr/>
          </p:nvSpPr>
          <p:spPr>
            <a:xfrm>
              <a:off x="2590800" y="5638800"/>
              <a:ext cx="7010400" cy="552450"/>
            </a:xfrm>
            <a:prstGeom prst="roundRect">
              <a:avLst>
                <a:gd name="adj" fmla="val 50000"/>
              </a:avLst>
            </a:prstGeom>
            <a:solidFill>
              <a:srgbClr val="1F8A70"/>
            </a:solidFill>
            <a:ln>
              <a:noFill/>
            </a:ln>
          </p:spPr>
        </p:sp>
        <p:grpSp>
          <p:nvGrpSpPr>
            <p:cNvPr id="67" name="Group 67"/>
            <p:cNvGrpSpPr/>
            <p:nvPr/>
          </p:nvGrpSpPr>
          <p:grpSpPr>
            <a:xfrm>
              <a:off x="2979539" y="5799007"/>
              <a:ext cx="232173" cy="223175"/>
              <a:chOff x="2979539" y="5799007"/>
              <a:chExt cx="232173" cy="223175"/>
            </a:xfrm>
          </p:grpSpPr>
          <p:sp>
            <p:nvSpPr>
              <p:cNvPr id="65" name="Freeform 65"/>
              <p:cNvSpPr/>
              <p:nvPr/>
            </p:nvSpPr>
            <p:spPr>
              <a:xfrm>
                <a:off x="2988456" y="5897166"/>
                <a:ext cx="214340" cy="116086"/>
              </a:xfrm>
              <a:custGeom>
                <a:avLst/>
                <a:gdLst/>
                <a:ahLst/>
                <a:cxnLst/>
                <a:rect l="l" t="t" r="r" b="b"/>
                <a:pathLst>
                  <a:path w="214340" h="116086">
                    <a:moveTo>
                      <a:pt x="214327" y="0"/>
                    </a:moveTo>
                    <a:cubicBezTo>
                      <a:pt x="214340" y="41911"/>
                      <a:pt x="189918" y="79983"/>
                      <a:pt x="151819" y="97446"/>
                    </a:cubicBezTo>
                    <a:lnTo>
                      <a:pt x="151819" y="107157"/>
                    </a:lnTo>
                    <a:cubicBezTo>
                      <a:pt x="151819" y="112088"/>
                      <a:pt x="147821" y="116086"/>
                      <a:pt x="142889" y="116086"/>
                    </a:cubicBezTo>
                    <a:lnTo>
                      <a:pt x="71451" y="116086"/>
                    </a:lnTo>
                    <a:cubicBezTo>
                      <a:pt x="66519" y="116086"/>
                      <a:pt x="62521" y="112088"/>
                      <a:pt x="62521" y="107157"/>
                    </a:cubicBezTo>
                    <a:lnTo>
                      <a:pt x="62521" y="97446"/>
                    </a:lnTo>
                    <a:cubicBezTo>
                      <a:pt x="24422" y="79983"/>
                      <a:pt x="0" y="41911"/>
                      <a:pt x="13" y="0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6" name="Freeform 66"/>
              <p:cNvSpPr/>
              <p:nvPr/>
            </p:nvSpPr>
            <p:spPr>
              <a:xfrm>
                <a:off x="2979539" y="5799007"/>
                <a:ext cx="232173" cy="223175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23175">
                    <a:moveTo>
                      <a:pt x="223243" y="89229"/>
                    </a:moveTo>
                    <a:lnTo>
                      <a:pt x="213900" y="89229"/>
                    </a:lnTo>
                    <a:cubicBezTo>
                      <a:pt x="209250" y="38679"/>
                      <a:pt x="166849" y="0"/>
                      <a:pt x="116086" y="0"/>
                    </a:cubicBezTo>
                    <a:cubicBezTo>
                      <a:pt x="65324" y="0"/>
                      <a:pt x="22923" y="38679"/>
                      <a:pt x="18272" y="89229"/>
                    </a:cubicBezTo>
                    <a:lnTo>
                      <a:pt x="8930" y="89229"/>
                    </a:lnTo>
                    <a:cubicBezTo>
                      <a:pt x="3998" y="89229"/>
                      <a:pt x="0" y="93227"/>
                      <a:pt x="0" y="98159"/>
                    </a:cubicBezTo>
                    <a:cubicBezTo>
                      <a:pt x="80" y="141440"/>
                      <a:pt x="24153" y="181109"/>
                      <a:pt x="62508" y="201163"/>
                    </a:cubicBezTo>
                    <a:lnTo>
                      <a:pt x="62508" y="205315"/>
                    </a:lnTo>
                    <a:cubicBezTo>
                      <a:pt x="62508" y="215179"/>
                      <a:pt x="70504" y="223175"/>
                      <a:pt x="80368" y="223175"/>
                    </a:cubicBezTo>
                    <a:lnTo>
                      <a:pt x="151805" y="223175"/>
                    </a:lnTo>
                    <a:cubicBezTo>
                      <a:pt x="161669" y="223175"/>
                      <a:pt x="169665" y="215179"/>
                      <a:pt x="169665" y="205315"/>
                    </a:cubicBezTo>
                    <a:lnTo>
                      <a:pt x="169665" y="201163"/>
                    </a:lnTo>
                    <a:cubicBezTo>
                      <a:pt x="208020" y="181109"/>
                      <a:pt x="232093" y="141440"/>
                      <a:pt x="232173" y="98159"/>
                    </a:cubicBezTo>
                    <a:cubicBezTo>
                      <a:pt x="232173" y="93227"/>
                      <a:pt x="228175" y="89229"/>
                      <a:pt x="223243" y="89229"/>
                    </a:cubicBezTo>
                    <a:close/>
                    <a:moveTo>
                      <a:pt x="166852" y="35907"/>
                    </a:moveTo>
                    <a:cubicBezTo>
                      <a:pt x="168898" y="37582"/>
                      <a:pt x="170859" y="39349"/>
                      <a:pt x="172734" y="41209"/>
                    </a:cubicBezTo>
                    <a:cubicBezTo>
                      <a:pt x="148963" y="49571"/>
                      <a:pt x="129319" y="66757"/>
                      <a:pt x="117872" y="89207"/>
                    </a:cubicBezTo>
                    <a:lnTo>
                      <a:pt x="84944" y="89207"/>
                    </a:lnTo>
                    <a:cubicBezTo>
                      <a:pt x="96379" y="57153"/>
                      <a:pt x="126703" y="35725"/>
                      <a:pt x="160735" y="35651"/>
                    </a:cubicBezTo>
                    <a:cubicBezTo>
                      <a:pt x="162778" y="35651"/>
                      <a:pt x="164820" y="35751"/>
                      <a:pt x="166852" y="35907"/>
                    </a:cubicBezTo>
                    <a:close/>
                    <a:moveTo>
                      <a:pt x="184611" y="56222"/>
                    </a:moveTo>
                    <a:cubicBezTo>
                      <a:pt x="190778" y="66253"/>
                      <a:pt x="194647" y="77525"/>
                      <a:pt x="195941" y="89229"/>
                    </a:cubicBezTo>
                    <a:lnTo>
                      <a:pt x="138545" y="89229"/>
                    </a:lnTo>
                    <a:cubicBezTo>
                      <a:pt x="149371" y="72987"/>
                      <a:pt x="165750" y="61251"/>
                      <a:pt x="184611" y="56222"/>
                    </a:cubicBezTo>
                    <a:close/>
                    <a:moveTo>
                      <a:pt x="116086" y="17791"/>
                    </a:moveTo>
                    <a:cubicBezTo>
                      <a:pt x="123252" y="17796"/>
                      <a:pt x="130385" y="18761"/>
                      <a:pt x="137295" y="20660"/>
                    </a:cubicBezTo>
                    <a:cubicBezTo>
                      <a:pt x="103044" y="29156"/>
                      <a:pt x="75942" y="55304"/>
                      <a:pt x="66225" y="89229"/>
                    </a:cubicBezTo>
                    <a:lnTo>
                      <a:pt x="36232" y="89229"/>
                    </a:lnTo>
                    <a:cubicBezTo>
                      <a:pt x="40818" y="48578"/>
                      <a:pt x="75178" y="17840"/>
                      <a:pt x="116086" y="17791"/>
                    </a:cubicBezTo>
                    <a:close/>
                    <a:moveTo>
                      <a:pt x="157007" y="187456"/>
                    </a:moveTo>
                    <a:cubicBezTo>
                      <a:pt x="153826" y="188918"/>
                      <a:pt x="151792" y="192103"/>
                      <a:pt x="151805" y="195604"/>
                    </a:cubicBezTo>
                    <a:lnTo>
                      <a:pt x="151805" y="205315"/>
                    </a:lnTo>
                    <a:lnTo>
                      <a:pt x="80368" y="205315"/>
                    </a:lnTo>
                    <a:lnTo>
                      <a:pt x="80368" y="195604"/>
                    </a:lnTo>
                    <a:cubicBezTo>
                      <a:pt x="80381" y="192103"/>
                      <a:pt x="78347" y="188918"/>
                      <a:pt x="75166" y="187456"/>
                    </a:cubicBezTo>
                    <a:cubicBezTo>
                      <a:pt x="43205" y="172749"/>
                      <a:pt x="21509" y="142118"/>
                      <a:pt x="18239" y="107088"/>
                    </a:cubicBezTo>
                    <a:lnTo>
                      <a:pt x="213900" y="107088"/>
                    </a:lnTo>
                    <a:cubicBezTo>
                      <a:pt x="210637" y="142111"/>
                      <a:pt x="188955" y="172739"/>
                      <a:pt x="157007" y="187456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68" name="TextBox 68"/>
            <p:cNvSpPr txBox="1"/>
            <p:nvPr/>
          </p:nvSpPr>
          <p:spPr>
            <a:xfrm>
              <a:off x="3430905" y="5835968"/>
              <a:ext cx="497725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最终返回：真实存在的菜品 / 套餐推荐卡片与简短推荐理由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1885950" y="1181100"/>
              <a:ext cx="5143500" cy="51435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210550" y="571500"/>
              <a:ext cx="2857500" cy="2857500"/>
            </a:xfrm>
            <a:prstGeom prst="ellipse">
              <a:avLst/>
            </a:prstGeom>
            <a:solidFill>
              <a:srgbClr val="3A86FF">
                <a:alpha val="10000"/>
              </a:srgbClr>
            </a:solidFill>
            <a:ln>
              <a:noFill/>
            </a:ln>
          </p:spPr>
        </p:sp>
      </p:grpSp>
      <p:grpSp>
        <p:nvGrpSpPr>
          <p:cNvPr id="9" name="Group 9"/>
          <p:cNvGrpSpPr/>
          <p:nvPr/>
        </p:nvGrpSpPr>
        <p:grpSpPr>
          <a:xfrm>
            <a:off x="501015" y="429578"/>
            <a:ext cx="11168062" cy="713422"/>
            <a:chOff x="501015" y="429578"/>
            <a:chExt cx="11168062" cy="713422"/>
          </a:xfrm>
        </p:grpSpPr>
        <p:sp>
          <p:nvSpPr>
            <p:cNvPr id="6" name="TextBox 6"/>
            <p:cNvSpPr txBox="1"/>
            <p:nvPr/>
          </p:nvSpPr>
          <p:spPr>
            <a:xfrm>
              <a:off x="501015" y="429578"/>
              <a:ext cx="4349306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评价不是结束，是闭环开始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518160" y="899160"/>
              <a:ext cx="492829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用户评价经过规则、AI 和人工审核后，回到公开评分和影响统计。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11 / 16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1447800" y="1657350"/>
            <a:ext cx="5238750" cy="4343400"/>
            <a:chOff x="1447800" y="1657350"/>
            <a:chExt cx="5238750" cy="4343400"/>
          </a:xfrm>
        </p:grpSpPr>
        <p:sp>
          <p:nvSpPr>
            <p:cNvPr id="10" name="Freeform 10"/>
            <p:cNvSpPr/>
            <p:nvPr/>
          </p:nvSpPr>
          <p:spPr>
            <a:xfrm>
              <a:off x="4572000" y="1790700"/>
              <a:ext cx="2114550" cy="2647950"/>
            </a:xfrm>
            <a:custGeom>
              <a:avLst/>
              <a:gdLst/>
              <a:ahLst/>
              <a:cxnLst/>
              <a:rect l="l" t="t" r="r" b="b"/>
              <a:pathLst>
                <a:path w="2114550" h="2647950">
                  <a:moveTo>
                    <a:pt x="0" y="0"/>
                  </a:moveTo>
                  <a:cubicBezTo>
                    <a:pt x="1314450" y="228600"/>
                    <a:pt x="2114550" y="1314450"/>
                    <a:pt x="1790700" y="2647950"/>
                  </a:cubicBezTo>
                </a:path>
              </a:pathLst>
            </a:custGeom>
            <a:noFill/>
            <a:ln w="38100" cap="rnd">
              <a:solidFill>
                <a:srgbClr val="1F8A70">
                  <a:alpha val="45000"/>
                </a:srgbClr>
              </a:solidFill>
            </a:ln>
          </p:spPr>
        </p:sp>
        <p:sp>
          <p:nvSpPr>
            <p:cNvPr id="11" name="Polygon 11"/>
            <p:cNvSpPr/>
            <p:nvPr/>
          </p:nvSpPr>
          <p:spPr>
            <a:xfrm>
              <a:off x="6267450" y="4381500"/>
              <a:ext cx="171450" cy="171450"/>
            </a:xfrm>
            <a:custGeom>
              <a:avLst/>
              <a:gdLst/>
              <a:ahLst/>
              <a:cxnLst/>
              <a:rect l="l" t="t" r="r" b="b"/>
              <a:pathLst>
                <a:path w="171450" h="171450">
                  <a:moveTo>
                    <a:pt x="66675" y="171450"/>
                  </a:moveTo>
                  <a:lnTo>
                    <a:pt x="0" y="0"/>
                  </a:lnTo>
                  <a:lnTo>
                    <a:pt x="171450" y="57150"/>
                  </a:lnTo>
                  <a:close/>
                </a:path>
              </a:pathLst>
            </a:custGeom>
            <a:solidFill>
              <a:srgbClr val="1F8A70">
                <a:alpha val="55000"/>
              </a:srgbClr>
            </a:solidFill>
            <a:ln>
              <a:noFill/>
            </a:ln>
          </p:spPr>
        </p:sp>
        <p:sp>
          <p:nvSpPr>
            <p:cNvPr id="12" name="Freeform 12"/>
            <p:cNvSpPr/>
            <p:nvPr/>
          </p:nvSpPr>
          <p:spPr>
            <a:xfrm>
              <a:off x="2400300" y="4895850"/>
              <a:ext cx="3619500" cy="1104900"/>
            </a:xfrm>
            <a:custGeom>
              <a:avLst/>
              <a:gdLst/>
              <a:ahLst/>
              <a:cxnLst/>
              <a:rect l="l" t="t" r="r" b="b"/>
              <a:pathLst>
                <a:path w="3619500" h="1104900">
                  <a:moveTo>
                    <a:pt x="3619500" y="114300"/>
                  </a:moveTo>
                  <a:cubicBezTo>
                    <a:pt x="2571750" y="1104900"/>
                    <a:pt x="895350" y="1066800"/>
                    <a:pt x="0" y="0"/>
                  </a:cubicBezTo>
                </a:path>
              </a:pathLst>
            </a:custGeom>
            <a:noFill/>
            <a:ln w="38100" cap="rnd">
              <a:solidFill>
                <a:srgbClr val="3A86FF">
                  <a:alpha val="45000"/>
                </a:srgbClr>
              </a:solidFill>
            </a:ln>
          </p:spPr>
        </p:sp>
        <p:sp>
          <p:nvSpPr>
            <p:cNvPr id="13" name="Polygon 13"/>
            <p:cNvSpPr/>
            <p:nvPr/>
          </p:nvSpPr>
          <p:spPr>
            <a:xfrm>
              <a:off x="2324100" y="4800600"/>
              <a:ext cx="171450" cy="180975"/>
            </a:xfrm>
            <a:custGeom>
              <a:avLst/>
              <a:gdLst/>
              <a:ahLst/>
              <a:cxnLst/>
              <a:rect l="l" t="t" r="r" b="b"/>
              <a:pathLst>
                <a:path w="171450" h="180975">
                  <a:moveTo>
                    <a:pt x="0" y="0"/>
                  </a:moveTo>
                  <a:lnTo>
                    <a:pt x="171450" y="76200"/>
                  </a:lnTo>
                  <a:lnTo>
                    <a:pt x="38100" y="180975"/>
                  </a:lnTo>
                  <a:close/>
                </a:path>
              </a:pathLst>
            </a:custGeom>
            <a:solidFill>
              <a:srgbClr val="3A86FF">
                <a:alpha val="55000"/>
              </a:srgbClr>
            </a:solidFill>
            <a:ln>
              <a:noFill/>
            </a:ln>
          </p:spPr>
        </p:sp>
        <p:sp>
          <p:nvSpPr>
            <p:cNvPr id="14" name="Freeform 14"/>
            <p:cNvSpPr/>
            <p:nvPr/>
          </p:nvSpPr>
          <p:spPr>
            <a:xfrm>
              <a:off x="1447800" y="1752600"/>
              <a:ext cx="2381250" cy="2514600"/>
            </a:xfrm>
            <a:custGeom>
              <a:avLst/>
              <a:gdLst/>
              <a:ahLst/>
              <a:cxnLst/>
              <a:rect l="l" t="t" r="r" b="b"/>
              <a:pathLst>
                <a:path w="2381250" h="2514600">
                  <a:moveTo>
                    <a:pt x="590550" y="2514600"/>
                  </a:moveTo>
                  <a:cubicBezTo>
                    <a:pt x="0" y="1143000"/>
                    <a:pt x="990600" y="57150"/>
                    <a:pt x="2381250" y="0"/>
                  </a:cubicBezTo>
                </a:path>
              </a:pathLst>
            </a:custGeom>
            <a:noFill/>
            <a:ln w="38100" cap="rnd">
              <a:solidFill>
                <a:srgbClr val="FFB703">
                  <a:alpha val="55000"/>
                </a:srgbClr>
              </a:solidFill>
            </a:ln>
          </p:spPr>
        </p:sp>
        <p:sp>
          <p:nvSpPr>
            <p:cNvPr id="15" name="Polygon 15"/>
            <p:cNvSpPr/>
            <p:nvPr/>
          </p:nvSpPr>
          <p:spPr>
            <a:xfrm>
              <a:off x="3781425" y="1657350"/>
              <a:ext cx="161925" cy="190500"/>
            </a:xfrm>
            <a:custGeom>
              <a:avLst/>
              <a:gdLst/>
              <a:ahLst/>
              <a:cxnLst/>
              <a:rect l="l" t="t" r="r" b="b"/>
              <a:pathLst>
                <a:path w="161925" h="190500">
                  <a:moveTo>
                    <a:pt x="161925" y="95250"/>
                  </a:moveTo>
                  <a:lnTo>
                    <a:pt x="0" y="1905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B703">
                <a:alpha val="65000"/>
              </a:srgbClr>
            </a:solidFill>
            <a:ln>
              <a:noFill/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3543300" y="2838450"/>
            <a:ext cx="1828800" cy="1828800"/>
            <a:chOff x="3543300" y="2838450"/>
            <a:chExt cx="1828800" cy="1828800"/>
          </a:xfrm>
        </p:grpSpPr>
        <p:sp>
          <p:nvSpPr>
            <p:cNvPr id="17" name="Ellipse 17"/>
            <p:cNvSpPr/>
            <p:nvPr/>
          </p:nvSpPr>
          <p:spPr>
            <a:xfrm>
              <a:off x="3543300" y="2838450"/>
              <a:ext cx="1828800" cy="18288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20" name="Group 20"/>
            <p:cNvGrpSpPr/>
            <p:nvPr/>
          </p:nvGrpSpPr>
          <p:grpSpPr>
            <a:xfrm>
              <a:off x="4157662" y="3306366"/>
              <a:ext cx="600075" cy="625930"/>
              <a:chOff x="4157662" y="3306366"/>
              <a:chExt cx="600075" cy="62593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4182666" y="3331369"/>
                <a:ext cx="550069" cy="575447"/>
              </a:xfrm>
              <a:custGeom>
                <a:avLst/>
                <a:gdLst/>
                <a:ahLst/>
                <a:cxnLst/>
                <a:rect l="l" t="t" r="r" b="b"/>
                <a:pathLst>
                  <a:path w="550069" h="575447">
                    <a:moveTo>
                      <a:pt x="550069" y="25003"/>
                    </a:moveTo>
                    <a:lnTo>
                      <a:pt x="550069" y="208682"/>
                    </a:lnTo>
                    <a:cubicBezTo>
                      <a:pt x="550069" y="471778"/>
                      <a:pt x="327197" y="558945"/>
                      <a:pt x="282723" y="573728"/>
                    </a:cubicBezTo>
                    <a:cubicBezTo>
                      <a:pt x="277741" y="575447"/>
                      <a:pt x="272327" y="575447"/>
                      <a:pt x="267346" y="573728"/>
                    </a:cubicBezTo>
                    <a:cubicBezTo>
                      <a:pt x="222872" y="559007"/>
                      <a:pt x="0" y="471934"/>
                      <a:pt x="0" y="208745"/>
                    </a:cubicBezTo>
                    <a:lnTo>
                      <a:pt x="0" y="25003"/>
                    </a:lnTo>
                    <a:cubicBezTo>
                      <a:pt x="0" y="11194"/>
                      <a:pt x="11194" y="0"/>
                      <a:pt x="25003" y="0"/>
                    </a:cubicBezTo>
                    <a:lnTo>
                      <a:pt x="525066" y="0"/>
                    </a:lnTo>
                    <a:cubicBezTo>
                      <a:pt x="538874" y="0"/>
                      <a:pt x="550069" y="11194"/>
                      <a:pt x="550069" y="25003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9" name="Freeform 19"/>
              <p:cNvSpPr/>
              <p:nvPr/>
            </p:nvSpPr>
            <p:spPr>
              <a:xfrm>
                <a:off x="4157662" y="3306366"/>
                <a:ext cx="600075" cy="625930"/>
              </a:xfrm>
              <a:custGeom>
                <a:avLst/>
                <a:gdLst/>
                <a:ahLst/>
                <a:cxnLst/>
                <a:rect l="l" t="t" r="r" b="b"/>
                <a:pathLst>
                  <a:path w="600075" h="625930">
                    <a:moveTo>
                      <a:pt x="550069" y="0"/>
                    </a:moveTo>
                    <a:lnTo>
                      <a:pt x="50006" y="0"/>
                    </a:lnTo>
                    <a:cubicBezTo>
                      <a:pt x="22389" y="0"/>
                      <a:pt x="0" y="22389"/>
                      <a:pt x="0" y="50006"/>
                    </a:cubicBezTo>
                    <a:lnTo>
                      <a:pt x="0" y="233717"/>
                    </a:lnTo>
                    <a:cubicBezTo>
                      <a:pt x="0" y="513783"/>
                      <a:pt x="236967" y="606701"/>
                      <a:pt x="284411" y="622484"/>
                    </a:cubicBezTo>
                    <a:cubicBezTo>
                      <a:pt x="294544" y="625930"/>
                      <a:pt x="305531" y="625930"/>
                      <a:pt x="315664" y="622484"/>
                    </a:cubicBezTo>
                    <a:cubicBezTo>
                      <a:pt x="363170" y="606701"/>
                      <a:pt x="600075" y="513783"/>
                      <a:pt x="600075" y="233717"/>
                    </a:cubicBezTo>
                    <a:lnTo>
                      <a:pt x="600075" y="50006"/>
                    </a:lnTo>
                    <a:cubicBezTo>
                      <a:pt x="600075" y="22389"/>
                      <a:pt x="577686" y="0"/>
                      <a:pt x="550069" y="0"/>
                    </a:cubicBezTo>
                    <a:close/>
                    <a:moveTo>
                      <a:pt x="550069" y="233748"/>
                    </a:moveTo>
                    <a:cubicBezTo>
                      <a:pt x="550069" y="478841"/>
                      <a:pt x="342699" y="560726"/>
                      <a:pt x="300038" y="574978"/>
                    </a:cubicBezTo>
                    <a:cubicBezTo>
                      <a:pt x="257751" y="560883"/>
                      <a:pt x="50006" y="479060"/>
                      <a:pt x="50006" y="233748"/>
                    </a:cubicBezTo>
                    <a:lnTo>
                      <a:pt x="50006" y="50006"/>
                    </a:lnTo>
                    <a:lnTo>
                      <a:pt x="550069" y="50006"/>
                    </a:lnTo>
                    <a:close/>
                    <a:moveTo>
                      <a:pt x="157332" y="317727"/>
                    </a:moveTo>
                    <a:cubicBezTo>
                      <a:pt x="147562" y="307957"/>
                      <a:pt x="147562" y="292118"/>
                      <a:pt x="157332" y="282348"/>
                    </a:cubicBezTo>
                    <a:cubicBezTo>
                      <a:pt x="167102" y="272578"/>
                      <a:pt x="182942" y="272578"/>
                      <a:pt x="192712" y="282348"/>
                    </a:cubicBezTo>
                    <a:lnTo>
                      <a:pt x="250031" y="339667"/>
                    </a:lnTo>
                    <a:lnTo>
                      <a:pt x="407363" y="182335"/>
                    </a:lnTo>
                    <a:cubicBezTo>
                      <a:pt x="417133" y="172566"/>
                      <a:pt x="432973" y="172566"/>
                      <a:pt x="442743" y="182335"/>
                    </a:cubicBezTo>
                    <a:cubicBezTo>
                      <a:pt x="452513" y="192105"/>
                      <a:pt x="452513" y="207945"/>
                      <a:pt x="442743" y="217715"/>
                    </a:cubicBezTo>
                    <a:lnTo>
                      <a:pt x="267721" y="392737"/>
                    </a:lnTo>
                    <a:cubicBezTo>
                      <a:pt x="263031" y="397432"/>
                      <a:pt x="256667" y="400070"/>
                      <a:pt x="250031" y="400070"/>
                    </a:cubicBezTo>
                    <a:cubicBezTo>
                      <a:pt x="243395" y="400070"/>
                      <a:pt x="237031" y="397432"/>
                      <a:pt x="232342" y="392737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21" name="TextBox 21"/>
            <p:cNvSpPr txBox="1"/>
            <p:nvPr/>
          </p:nvSpPr>
          <p:spPr>
            <a:xfrm>
              <a:off x="3886867" y="4037648"/>
              <a:ext cx="1141667" cy="3962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9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内容治理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693319" y="4431506"/>
              <a:ext cx="1528762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可审、可回退、可追踪</a:t>
              </a:r>
            </a:p>
          </p:txBody>
        </p:sp>
      </p:grpSp>
      <p:grpSp>
        <p:nvGrpSpPr>
          <p:cNvPr id="29" name="Group 29"/>
          <p:cNvGrpSpPr/>
          <p:nvPr/>
        </p:nvGrpSpPr>
        <p:grpSpPr>
          <a:xfrm>
            <a:off x="3943350" y="1123950"/>
            <a:ext cx="1028700" cy="1371600"/>
            <a:chOff x="3943350" y="1123950"/>
            <a:chExt cx="1028700" cy="1371600"/>
          </a:xfrm>
        </p:grpSpPr>
        <p:sp>
          <p:nvSpPr>
            <p:cNvPr id="24" name="Ellipse 24"/>
            <p:cNvSpPr/>
            <p:nvPr/>
          </p:nvSpPr>
          <p:spPr>
            <a:xfrm>
              <a:off x="3943350" y="11239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4256484" y="1437084"/>
              <a:ext cx="402431" cy="402431"/>
              <a:chOff x="4256484" y="1437084"/>
              <a:chExt cx="402431" cy="402431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4271962" y="1452562"/>
                <a:ext cx="371475" cy="371475"/>
              </a:xfrm>
              <a:custGeom>
                <a:avLst/>
                <a:gdLst/>
                <a:ahLst/>
                <a:cxnLst/>
                <a:rect l="l" t="t" r="r" b="b"/>
                <a:pathLst>
                  <a:path w="371475" h="371475">
                    <a:moveTo>
                      <a:pt x="371475" y="185738"/>
                    </a:moveTo>
                    <a:cubicBezTo>
                      <a:pt x="371475" y="288317"/>
                      <a:pt x="288317" y="371475"/>
                      <a:pt x="185738" y="371475"/>
                    </a:cubicBezTo>
                    <a:cubicBezTo>
                      <a:pt x="83158" y="371475"/>
                      <a:pt x="0" y="288317"/>
                      <a:pt x="0" y="185738"/>
                    </a:cubicBezTo>
                    <a:cubicBezTo>
                      <a:pt x="0" y="83158"/>
                      <a:pt x="83158" y="0"/>
                      <a:pt x="185738" y="0"/>
                    </a:cubicBezTo>
                    <a:cubicBezTo>
                      <a:pt x="288317" y="0"/>
                      <a:pt x="371475" y="83158"/>
                      <a:pt x="371475" y="185738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4256484" y="1437084"/>
                <a:ext cx="402431" cy="402431"/>
              </a:xfrm>
              <a:custGeom>
                <a:avLst/>
                <a:gdLst/>
                <a:ahLst/>
                <a:cxnLst/>
                <a:rect l="l" t="t" r="r" b="b"/>
                <a:pathLst>
                  <a:path w="402431" h="402431">
                    <a:moveTo>
                      <a:pt x="289557" y="143830"/>
                    </a:moveTo>
                    <a:cubicBezTo>
                      <a:pt x="292463" y="146734"/>
                      <a:pt x="294097" y="150673"/>
                      <a:pt x="294097" y="154781"/>
                    </a:cubicBezTo>
                    <a:cubicBezTo>
                      <a:pt x="294097" y="158889"/>
                      <a:pt x="292463" y="162829"/>
                      <a:pt x="289557" y="165732"/>
                    </a:cubicBezTo>
                    <a:lnTo>
                      <a:pt x="181210" y="274079"/>
                    </a:lnTo>
                    <a:cubicBezTo>
                      <a:pt x="178307" y="276985"/>
                      <a:pt x="174367" y="278618"/>
                      <a:pt x="170259" y="278618"/>
                    </a:cubicBezTo>
                    <a:cubicBezTo>
                      <a:pt x="166151" y="278618"/>
                      <a:pt x="162212" y="276985"/>
                      <a:pt x="159309" y="274079"/>
                    </a:cubicBezTo>
                    <a:lnTo>
                      <a:pt x="112874" y="227645"/>
                    </a:lnTo>
                    <a:cubicBezTo>
                      <a:pt x="106826" y="221597"/>
                      <a:pt x="106826" y="211791"/>
                      <a:pt x="112874" y="205743"/>
                    </a:cubicBezTo>
                    <a:cubicBezTo>
                      <a:pt x="118922" y="199695"/>
                      <a:pt x="128728" y="199695"/>
                      <a:pt x="134776" y="205743"/>
                    </a:cubicBezTo>
                    <a:lnTo>
                      <a:pt x="170259" y="241246"/>
                    </a:lnTo>
                    <a:lnTo>
                      <a:pt x="267655" y="143830"/>
                    </a:lnTo>
                    <a:cubicBezTo>
                      <a:pt x="270559" y="140924"/>
                      <a:pt x="274498" y="139291"/>
                      <a:pt x="278606" y="139291"/>
                    </a:cubicBezTo>
                    <a:cubicBezTo>
                      <a:pt x="282714" y="139291"/>
                      <a:pt x="286654" y="140924"/>
                      <a:pt x="289557" y="143830"/>
                    </a:cubicBezTo>
                    <a:close/>
                    <a:moveTo>
                      <a:pt x="402431" y="201216"/>
                    </a:moveTo>
                    <a:cubicBezTo>
                      <a:pt x="402431" y="312344"/>
                      <a:pt x="312344" y="402431"/>
                      <a:pt x="201216" y="402431"/>
                    </a:cubicBezTo>
                    <a:cubicBezTo>
                      <a:pt x="90087" y="402431"/>
                      <a:pt x="0" y="312344"/>
                      <a:pt x="0" y="201216"/>
                    </a:cubicBezTo>
                    <a:cubicBezTo>
                      <a:pt x="0" y="90087"/>
                      <a:pt x="90087" y="0"/>
                      <a:pt x="201216" y="0"/>
                    </a:cubicBezTo>
                    <a:cubicBezTo>
                      <a:pt x="312295" y="117"/>
                      <a:pt x="402314" y="90136"/>
                      <a:pt x="402431" y="201216"/>
                    </a:cubicBezTo>
                    <a:close/>
                    <a:moveTo>
                      <a:pt x="371475" y="201216"/>
                    </a:moveTo>
                    <a:cubicBezTo>
                      <a:pt x="371475" y="107184"/>
                      <a:pt x="295247" y="30956"/>
                      <a:pt x="201216" y="30956"/>
                    </a:cubicBezTo>
                    <a:cubicBezTo>
                      <a:pt x="107184" y="30956"/>
                      <a:pt x="30956" y="107184"/>
                      <a:pt x="30956" y="201216"/>
                    </a:cubicBezTo>
                    <a:cubicBezTo>
                      <a:pt x="30956" y="295247"/>
                      <a:pt x="107184" y="371475"/>
                      <a:pt x="201216" y="371475"/>
                    </a:cubicBezTo>
                    <a:cubicBezTo>
                      <a:pt x="295203" y="371368"/>
                      <a:pt x="371368" y="295203"/>
                      <a:pt x="371475" y="201216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4106418" y="22517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图片校验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5962650" y="2533650"/>
            <a:ext cx="1906524" cy="1028700"/>
            <a:chOff x="5962650" y="2533650"/>
            <a:chExt cx="1906524" cy="1028700"/>
          </a:xfrm>
        </p:grpSpPr>
        <p:sp>
          <p:nvSpPr>
            <p:cNvPr id="30" name="Ellipse 30"/>
            <p:cNvSpPr/>
            <p:nvPr/>
          </p:nvSpPr>
          <p:spPr>
            <a:xfrm>
              <a:off x="5962650" y="25336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33" name="Group 33"/>
            <p:cNvGrpSpPr/>
            <p:nvPr/>
          </p:nvGrpSpPr>
          <p:grpSpPr>
            <a:xfrm>
              <a:off x="6289742" y="2876220"/>
              <a:ext cx="372996" cy="342052"/>
              <a:chOff x="6289742" y="2876220"/>
              <a:chExt cx="372996" cy="342052"/>
            </a:xfrm>
          </p:grpSpPr>
          <p:sp>
            <p:nvSpPr>
              <p:cNvPr id="31" name="Freeform 31"/>
              <p:cNvSpPr/>
              <p:nvPr/>
            </p:nvSpPr>
            <p:spPr>
              <a:xfrm>
                <a:off x="6477000" y="2924175"/>
                <a:ext cx="170259" cy="247650"/>
              </a:xfrm>
              <a:custGeom>
                <a:avLst/>
                <a:gdLst/>
                <a:ahLst/>
                <a:cxnLst/>
                <a:rect l="l" t="t" r="r" b="b"/>
                <a:pathLst>
                  <a:path w="170259" h="247650">
                    <a:moveTo>
                      <a:pt x="170259" y="0"/>
                    </a:moveTo>
                    <a:lnTo>
                      <a:pt x="170259" y="247650"/>
                    </a:lnTo>
                    <a:lnTo>
                      <a:pt x="0" y="24765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2" name="Freeform 32"/>
              <p:cNvSpPr/>
              <p:nvPr/>
            </p:nvSpPr>
            <p:spPr>
              <a:xfrm>
                <a:off x="6289742" y="2876220"/>
                <a:ext cx="372996" cy="342052"/>
              </a:xfrm>
              <a:custGeom>
                <a:avLst/>
                <a:gdLst/>
                <a:ahLst/>
                <a:cxnLst/>
                <a:rect l="l" t="t" r="r" b="b"/>
                <a:pathLst>
                  <a:path w="372996" h="342052">
                    <a:moveTo>
                      <a:pt x="372996" y="171780"/>
                    </a:moveTo>
                    <a:cubicBezTo>
                      <a:pt x="372996" y="180328"/>
                      <a:pt x="366066" y="187258"/>
                      <a:pt x="357517" y="187258"/>
                    </a:cubicBezTo>
                    <a:lnTo>
                      <a:pt x="187258" y="187258"/>
                    </a:lnTo>
                    <a:cubicBezTo>
                      <a:pt x="178710" y="187258"/>
                      <a:pt x="171780" y="180328"/>
                      <a:pt x="171780" y="171780"/>
                    </a:cubicBezTo>
                    <a:cubicBezTo>
                      <a:pt x="171780" y="163232"/>
                      <a:pt x="178710" y="156302"/>
                      <a:pt x="187258" y="156302"/>
                    </a:cubicBezTo>
                    <a:lnTo>
                      <a:pt x="357517" y="156302"/>
                    </a:lnTo>
                    <a:cubicBezTo>
                      <a:pt x="366066" y="156302"/>
                      <a:pt x="372996" y="163232"/>
                      <a:pt x="372996" y="171780"/>
                    </a:cubicBezTo>
                    <a:close/>
                    <a:moveTo>
                      <a:pt x="187258" y="63433"/>
                    </a:moveTo>
                    <a:lnTo>
                      <a:pt x="357517" y="63433"/>
                    </a:lnTo>
                    <a:cubicBezTo>
                      <a:pt x="366066" y="63433"/>
                      <a:pt x="372996" y="56503"/>
                      <a:pt x="372996" y="47955"/>
                    </a:cubicBezTo>
                    <a:cubicBezTo>
                      <a:pt x="372996" y="39407"/>
                      <a:pt x="366066" y="32477"/>
                      <a:pt x="357517" y="32477"/>
                    </a:cubicBezTo>
                    <a:lnTo>
                      <a:pt x="187258" y="32477"/>
                    </a:lnTo>
                    <a:cubicBezTo>
                      <a:pt x="178710" y="32477"/>
                      <a:pt x="171780" y="39407"/>
                      <a:pt x="171780" y="47955"/>
                    </a:cubicBezTo>
                    <a:cubicBezTo>
                      <a:pt x="171780" y="56503"/>
                      <a:pt x="178710" y="63433"/>
                      <a:pt x="187258" y="63433"/>
                    </a:cubicBezTo>
                    <a:close/>
                    <a:moveTo>
                      <a:pt x="357517" y="280127"/>
                    </a:moveTo>
                    <a:lnTo>
                      <a:pt x="187258" y="280127"/>
                    </a:lnTo>
                    <a:cubicBezTo>
                      <a:pt x="178710" y="280127"/>
                      <a:pt x="171780" y="287057"/>
                      <a:pt x="171780" y="295605"/>
                    </a:cubicBezTo>
                    <a:cubicBezTo>
                      <a:pt x="171780" y="304153"/>
                      <a:pt x="178710" y="311083"/>
                      <a:pt x="187258" y="311083"/>
                    </a:cubicBezTo>
                    <a:lnTo>
                      <a:pt x="357517" y="311083"/>
                    </a:lnTo>
                    <a:cubicBezTo>
                      <a:pt x="366066" y="311083"/>
                      <a:pt x="372996" y="304153"/>
                      <a:pt x="372996" y="295605"/>
                    </a:cubicBezTo>
                    <a:cubicBezTo>
                      <a:pt x="372996" y="287057"/>
                      <a:pt x="366066" y="280127"/>
                      <a:pt x="357517" y="280127"/>
                    </a:cubicBezTo>
                    <a:close/>
                    <a:moveTo>
                      <a:pt x="98917" y="6048"/>
                    </a:moveTo>
                    <a:lnTo>
                      <a:pt x="47955" y="57029"/>
                    </a:lnTo>
                    <a:lnTo>
                      <a:pt x="27949" y="37004"/>
                    </a:lnTo>
                    <a:cubicBezTo>
                      <a:pt x="21902" y="30956"/>
                      <a:pt x="12096" y="30956"/>
                      <a:pt x="6048" y="37004"/>
                    </a:cubicBezTo>
                    <a:cubicBezTo>
                      <a:pt x="0" y="43052"/>
                      <a:pt x="0" y="52858"/>
                      <a:pt x="6048" y="58906"/>
                    </a:cubicBezTo>
                    <a:lnTo>
                      <a:pt x="37004" y="89862"/>
                    </a:lnTo>
                    <a:cubicBezTo>
                      <a:pt x="39907" y="92768"/>
                      <a:pt x="43847" y="94402"/>
                      <a:pt x="47955" y="94402"/>
                    </a:cubicBezTo>
                    <a:cubicBezTo>
                      <a:pt x="52063" y="94402"/>
                      <a:pt x="56003" y="92768"/>
                      <a:pt x="58906" y="89862"/>
                    </a:cubicBezTo>
                    <a:lnTo>
                      <a:pt x="120818" y="27949"/>
                    </a:lnTo>
                    <a:cubicBezTo>
                      <a:pt x="126866" y="21902"/>
                      <a:pt x="126866" y="12096"/>
                      <a:pt x="120818" y="6048"/>
                    </a:cubicBezTo>
                    <a:cubicBezTo>
                      <a:pt x="114770" y="0"/>
                      <a:pt x="104965" y="0"/>
                      <a:pt x="98917" y="6048"/>
                    </a:cubicBezTo>
                    <a:close/>
                    <a:moveTo>
                      <a:pt x="98917" y="129873"/>
                    </a:moveTo>
                    <a:lnTo>
                      <a:pt x="47955" y="180854"/>
                    </a:lnTo>
                    <a:lnTo>
                      <a:pt x="27949" y="160829"/>
                    </a:lnTo>
                    <a:cubicBezTo>
                      <a:pt x="21902" y="154781"/>
                      <a:pt x="12096" y="154781"/>
                      <a:pt x="6048" y="160829"/>
                    </a:cubicBezTo>
                    <a:cubicBezTo>
                      <a:pt x="0" y="166877"/>
                      <a:pt x="0" y="176683"/>
                      <a:pt x="6048" y="182731"/>
                    </a:cubicBezTo>
                    <a:lnTo>
                      <a:pt x="37004" y="213687"/>
                    </a:lnTo>
                    <a:cubicBezTo>
                      <a:pt x="39907" y="216593"/>
                      <a:pt x="43847" y="218227"/>
                      <a:pt x="47955" y="218227"/>
                    </a:cubicBezTo>
                    <a:cubicBezTo>
                      <a:pt x="52063" y="218227"/>
                      <a:pt x="56003" y="216593"/>
                      <a:pt x="58906" y="213687"/>
                    </a:cubicBezTo>
                    <a:lnTo>
                      <a:pt x="120818" y="151774"/>
                    </a:lnTo>
                    <a:cubicBezTo>
                      <a:pt x="126866" y="145727"/>
                      <a:pt x="126866" y="135921"/>
                      <a:pt x="120818" y="129873"/>
                    </a:cubicBezTo>
                    <a:cubicBezTo>
                      <a:pt x="114770" y="123825"/>
                      <a:pt x="104965" y="123825"/>
                      <a:pt x="98917" y="129873"/>
                    </a:cubicBezTo>
                    <a:close/>
                    <a:moveTo>
                      <a:pt x="98917" y="253698"/>
                    </a:moveTo>
                    <a:lnTo>
                      <a:pt x="47955" y="304679"/>
                    </a:lnTo>
                    <a:lnTo>
                      <a:pt x="27949" y="284654"/>
                    </a:lnTo>
                    <a:cubicBezTo>
                      <a:pt x="21902" y="278606"/>
                      <a:pt x="12096" y="278606"/>
                      <a:pt x="6048" y="284654"/>
                    </a:cubicBezTo>
                    <a:cubicBezTo>
                      <a:pt x="0" y="290702"/>
                      <a:pt x="0" y="300508"/>
                      <a:pt x="6048" y="306556"/>
                    </a:cubicBezTo>
                    <a:lnTo>
                      <a:pt x="37004" y="337512"/>
                    </a:lnTo>
                    <a:cubicBezTo>
                      <a:pt x="39907" y="340418"/>
                      <a:pt x="43847" y="342052"/>
                      <a:pt x="47955" y="342052"/>
                    </a:cubicBezTo>
                    <a:cubicBezTo>
                      <a:pt x="52063" y="342052"/>
                      <a:pt x="56003" y="340418"/>
                      <a:pt x="58906" y="337512"/>
                    </a:cubicBezTo>
                    <a:lnTo>
                      <a:pt x="120818" y="275599"/>
                    </a:lnTo>
                    <a:cubicBezTo>
                      <a:pt x="126866" y="269552"/>
                      <a:pt x="126866" y="259746"/>
                      <a:pt x="120818" y="253698"/>
                    </a:cubicBezTo>
                    <a:cubicBezTo>
                      <a:pt x="114770" y="247650"/>
                      <a:pt x="104965" y="247650"/>
                      <a:pt x="98917" y="25369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4" name="TextBox 34"/>
            <p:cNvSpPr txBox="1"/>
            <p:nvPr/>
          </p:nvSpPr>
          <p:spPr>
            <a:xfrm>
              <a:off x="7166610" y="2975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本地规则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5200650" y="4895850"/>
            <a:ext cx="1028700" cy="1371600"/>
            <a:chOff x="5200650" y="4895850"/>
            <a:chExt cx="1028700" cy="1371600"/>
          </a:xfrm>
        </p:grpSpPr>
        <p:sp>
          <p:nvSpPr>
            <p:cNvPr id="36" name="Ellipse 36"/>
            <p:cNvSpPr/>
            <p:nvPr/>
          </p:nvSpPr>
          <p:spPr>
            <a:xfrm>
              <a:off x="5200650" y="48958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39" name="Group 39"/>
            <p:cNvGrpSpPr/>
            <p:nvPr/>
          </p:nvGrpSpPr>
          <p:grpSpPr>
            <a:xfrm>
              <a:off x="5482814" y="5201206"/>
              <a:ext cx="464358" cy="402510"/>
              <a:chOff x="5482814" y="5201206"/>
              <a:chExt cx="464358" cy="402510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498223" y="5224462"/>
                <a:ext cx="433483" cy="355997"/>
              </a:xfrm>
              <a:custGeom>
                <a:avLst/>
                <a:gdLst/>
                <a:ahLst/>
                <a:cxnLst/>
                <a:rect l="l" t="t" r="r" b="b"/>
                <a:pathLst>
                  <a:path w="433483" h="355997">
                    <a:moveTo>
                      <a:pt x="433471" y="177998"/>
                    </a:moveTo>
                    <a:cubicBezTo>
                      <a:pt x="433483" y="217365"/>
                      <a:pt x="408674" y="252463"/>
                      <a:pt x="371558" y="265585"/>
                    </a:cubicBezTo>
                    <a:lnTo>
                      <a:pt x="371558" y="265585"/>
                    </a:lnTo>
                    <a:lnTo>
                      <a:pt x="371558" y="278606"/>
                    </a:lnTo>
                    <a:cubicBezTo>
                      <a:pt x="371558" y="321348"/>
                      <a:pt x="336909" y="355997"/>
                      <a:pt x="294167" y="355997"/>
                    </a:cubicBezTo>
                    <a:cubicBezTo>
                      <a:pt x="251426" y="355997"/>
                      <a:pt x="216777" y="321348"/>
                      <a:pt x="216777" y="278606"/>
                    </a:cubicBezTo>
                    <a:cubicBezTo>
                      <a:pt x="216777" y="321348"/>
                      <a:pt x="182128" y="355997"/>
                      <a:pt x="139386" y="355997"/>
                    </a:cubicBezTo>
                    <a:cubicBezTo>
                      <a:pt x="96645" y="355997"/>
                      <a:pt x="61996" y="321348"/>
                      <a:pt x="61996" y="278606"/>
                    </a:cubicBezTo>
                    <a:lnTo>
                      <a:pt x="61996" y="265585"/>
                    </a:lnTo>
                    <a:lnTo>
                      <a:pt x="61996" y="265585"/>
                    </a:lnTo>
                    <a:cubicBezTo>
                      <a:pt x="24847" y="252491"/>
                      <a:pt x="0" y="217387"/>
                      <a:pt x="0" y="177998"/>
                    </a:cubicBezTo>
                    <a:cubicBezTo>
                      <a:pt x="0" y="138610"/>
                      <a:pt x="24847" y="103506"/>
                      <a:pt x="61996" y="90412"/>
                    </a:cubicBezTo>
                    <a:lnTo>
                      <a:pt x="61996" y="77391"/>
                    </a:lnTo>
                    <a:cubicBezTo>
                      <a:pt x="61996" y="34649"/>
                      <a:pt x="96645" y="0"/>
                      <a:pt x="139386" y="0"/>
                    </a:cubicBezTo>
                    <a:cubicBezTo>
                      <a:pt x="182128" y="0"/>
                      <a:pt x="216777" y="34649"/>
                      <a:pt x="216777" y="77391"/>
                    </a:cubicBezTo>
                    <a:cubicBezTo>
                      <a:pt x="216777" y="34649"/>
                      <a:pt x="251426" y="0"/>
                      <a:pt x="294167" y="0"/>
                    </a:cubicBezTo>
                    <a:cubicBezTo>
                      <a:pt x="336909" y="0"/>
                      <a:pt x="371558" y="34649"/>
                      <a:pt x="371558" y="77391"/>
                    </a:cubicBezTo>
                    <a:lnTo>
                      <a:pt x="371558" y="90412"/>
                    </a:lnTo>
                    <a:cubicBezTo>
                      <a:pt x="408674" y="103534"/>
                      <a:pt x="433483" y="138631"/>
                      <a:pt x="433471" y="177998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482814" y="5201206"/>
                <a:ext cx="464358" cy="402510"/>
              </a:xfrm>
              <a:custGeom>
                <a:avLst/>
                <a:gdLst/>
                <a:ahLst/>
                <a:cxnLst/>
                <a:rect l="l" t="t" r="r" b="b"/>
                <a:pathLst>
                  <a:path w="464358" h="402510">
                    <a:moveTo>
                      <a:pt x="464358" y="201255"/>
                    </a:moveTo>
                    <a:cubicBezTo>
                      <a:pt x="464317" y="159411"/>
                      <a:pt x="440230" y="121316"/>
                      <a:pt x="402446" y="103337"/>
                    </a:cubicBezTo>
                    <a:lnTo>
                      <a:pt x="402446" y="100647"/>
                    </a:lnTo>
                    <a:cubicBezTo>
                      <a:pt x="402409" y="59699"/>
                      <a:pt x="375557" y="23607"/>
                      <a:pt x="336346" y="11803"/>
                    </a:cubicBezTo>
                    <a:cubicBezTo>
                      <a:pt x="297135" y="0"/>
                      <a:pt x="254822" y="15271"/>
                      <a:pt x="232186" y="49395"/>
                    </a:cubicBezTo>
                    <a:cubicBezTo>
                      <a:pt x="209551" y="15271"/>
                      <a:pt x="167237" y="0"/>
                      <a:pt x="128027" y="11803"/>
                    </a:cubicBezTo>
                    <a:cubicBezTo>
                      <a:pt x="88816" y="23607"/>
                      <a:pt x="61964" y="59699"/>
                      <a:pt x="61927" y="100647"/>
                    </a:cubicBezTo>
                    <a:lnTo>
                      <a:pt x="61927" y="103337"/>
                    </a:lnTo>
                    <a:cubicBezTo>
                      <a:pt x="24108" y="121269"/>
                      <a:pt x="0" y="159381"/>
                      <a:pt x="0" y="201236"/>
                    </a:cubicBezTo>
                    <a:cubicBezTo>
                      <a:pt x="0" y="243091"/>
                      <a:pt x="24108" y="281203"/>
                      <a:pt x="61927" y="299135"/>
                    </a:cubicBezTo>
                    <a:lnTo>
                      <a:pt x="61927" y="301863"/>
                    </a:lnTo>
                    <a:cubicBezTo>
                      <a:pt x="61964" y="342811"/>
                      <a:pt x="88816" y="378903"/>
                      <a:pt x="128027" y="390707"/>
                    </a:cubicBezTo>
                    <a:cubicBezTo>
                      <a:pt x="167237" y="402510"/>
                      <a:pt x="209551" y="387239"/>
                      <a:pt x="232186" y="353115"/>
                    </a:cubicBezTo>
                    <a:cubicBezTo>
                      <a:pt x="254822" y="387239"/>
                      <a:pt x="297135" y="402510"/>
                      <a:pt x="336346" y="390707"/>
                    </a:cubicBezTo>
                    <a:cubicBezTo>
                      <a:pt x="375557" y="378903"/>
                      <a:pt x="402409" y="342811"/>
                      <a:pt x="402446" y="301863"/>
                    </a:cubicBezTo>
                    <a:lnTo>
                      <a:pt x="402446" y="299135"/>
                    </a:lnTo>
                    <a:cubicBezTo>
                      <a:pt x="440224" y="281168"/>
                      <a:pt x="464311" y="243088"/>
                      <a:pt x="464358" y="201255"/>
                    </a:cubicBezTo>
                    <a:close/>
                    <a:moveTo>
                      <a:pt x="154796" y="363775"/>
                    </a:moveTo>
                    <a:cubicBezTo>
                      <a:pt x="123182" y="363771"/>
                      <a:pt x="96649" y="339949"/>
                      <a:pt x="93251" y="308518"/>
                    </a:cubicBezTo>
                    <a:cubicBezTo>
                      <a:pt x="98256" y="309233"/>
                      <a:pt x="103305" y="309595"/>
                      <a:pt x="108361" y="309602"/>
                    </a:cubicBezTo>
                    <a:lnTo>
                      <a:pt x="123840" y="309602"/>
                    </a:lnTo>
                    <a:cubicBezTo>
                      <a:pt x="132388" y="309602"/>
                      <a:pt x="139318" y="302672"/>
                      <a:pt x="139318" y="294124"/>
                    </a:cubicBezTo>
                    <a:cubicBezTo>
                      <a:pt x="139318" y="285575"/>
                      <a:pt x="132388" y="278646"/>
                      <a:pt x="123840" y="278646"/>
                    </a:cubicBezTo>
                    <a:lnTo>
                      <a:pt x="108361" y="278646"/>
                    </a:lnTo>
                    <a:cubicBezTo>
                      <a:pt x="70633" y="278690"/>
                      <a:pt x="38371" y="251522"/>
                      <a:pt x="31994" y="214336"/>
                    </a:cubicBezTo>
                    <a:cubicBezTo>
                      <a:pt x="25617" y="177150"/>
                      <a:pt x="46983" y="140785"/>
                      <a:pt x="82571" y="128256"/>
                    </a:cubicBezTo>
                    <a:cubicBezTo>
                      <a:pt x="88751" y="126068"/>
                      <a:pt x="92882" y="120224"/>
                      <a:pt x="92883" y="113668"/>
                    </a:cubicBezTo>
                    <a:lnTo>
                      <a:pt x="92883" y="100647"/>
                    </a:lnTo>
                    <a:cubicBezTo>
                      <a:pt x="92883" y="66454"/>
                      <a:pt x="120602" y="38735"/>
                      <a:pt x="154796" y="38735"/>
                    </a:cubicBezTo>
                    <a:cubicBezTo>
                      <a:pt x="188989" y="38735"/>
                      <a:pt x="216708" y="66454"/>
                      <a:pt x="216708" y="100647"/>
                    </a:cubicBezTo>
                    <a:lnTo>
                      <a:pt x="216708" y="232714"/>
                    </a:lnTo>
                    <a:cubicBezTo>
                      <a:pt x="199712" y="217427"/>
                      <a:pt x="177656" y="208977"/>
                      <a:pt x="154796" y="208994"/>
                    </a:cubicBezTo>
                    <a:cubicBezTo>
                      <a:pt x="146247" y="208994"/>
                      <a:pt x="139318" y="215924"/>
                      <a:pt x="139318" y="224472"/>
                    </a:cubicBezTo>
                    <a:cubicBezTo>
                      <a:pt x="139318" y="233021"/>
                      <a:pt x="146247" y="239950"/>
                      <a:pt x="154796" y="239950"/>
                    </a:cubicBezTo>
                    <a:cubicBezTo>
                      <a:pt x="188989" y="239950"/>
                      <a:pt x="216708" y="267670"/>
                      <a:pt x="216708" y="301863"/>
                    </a:cubicBezTo>
                    <a:cubicBezTo>
                      <a:pt x="216708" y="336056"/>
                      <a:pt x="188989" y="363775"/>
                      <a:pt x="154796" y="363775"/>
                    </a:cubicBezTo>
                    <a:close/>
                    <a:moveTo>
                      <a:pt x="356011" y="278646"/>
                    </a:moveTo>
                    <a:lnTo>
                      <a:pt x="340533" y="278646"/>
                    </a:lnTo>
                    <a:cubicBezTo>
                      <a:pt x="331985" y="278646"/>
                      <a:pt x="325055" y="285575"/>
                      <a:pt x="325055" y="294124"/>
                    </a:cubicBezTo>
                    <a:cubicBezTo>
                      <a:pt x="325055" y="302672"/>
                      <a:pt x="331985" y="309602"/>
                      <a:pt x="340533" y="309602"/>
                    </a:cubicBezTo>
                    <a:lnTo>
                      <a:pt x="356011" y="309602"/>
                    </a:lnTo>
                    <a:cubicBezTo>
                      <a:pt x="361067" y="309595"/>
                      <a:pt x="366117" y="309233"/>
                      <a:pt x="371122" y="308518"/>
                    </a:cubicBezTo>
                    <a:cubicBezTo>
                      <a:pt x="367539" y="341655"/>
                      <a:pt x="338367" y="366008"/>
                      <a:pt x="305123" y="363616"/>
                    </a:cubicBezTo>
                    <a:cubicBezTo>
                      <a:pt x="271880" y="361223"/>
                      <a:pt x="246496" y="332943"/>
                      <a:pt x="247696" y="299635"/>
                    </a:cubicBezTo>
                    <a:cubicBezTo>
                      <a:pt x="248895" y="266327"/>
                      <a:pt x="276247" y="239946"/>
                      <a:pt x="309577" y="239950"/>
                    </a:cubicBezTo>
                    <a:cubicBezTo>
                      <a:pt x="318125" y="239950"/>
                      <a:pt x="325055" y="233021"/>
                      <a:pt x="325055" y="224472"/>
                    </a:cubicBezTo>
                    <a:cubicBezTo>
                      <a:pt x="325055" y="215924"/>
                      <a:pt x="318125" y="208994"/>
                      <a:pt x="309577" y="208994"/>
                    </a:cubicBezTo>
                    <a:cubicBezTo>
                      <a:pt x="286717" y="208977"/>
                      <a:pt x="264661" y="217427"/>
                      <a:pt x="247665" y="232714"/>
                    </a:cubicBezTo>
                    <a:lnTo>
                      <a:pt x="247665" y="100647"/>
                    </a:lnTo>
                    <a:cubicBezTo>
                      <a:pt x="247665" y="66454"/>
                      <a:pt x="275384" y="38735"/>
                      <a:pt x="309577" y="38735"/>
                    </a:cubicBezTo>
                    <a:cubicBezTo>
                      <a:pt x="343770" y="38735"/>
                      <a:pt x="371490" y="66454"/>
                      <a:pt x="371490" y="100647"/>
                    </a:cubicBezTo>
                    <a:lnTo>
                      <a:pt x="371490" y="113668"/>
                    </a:lnTo>
                    <a:cubicBezTo>
                      <a:pt x="371491" y="120224"/>
                      <a:pt x="375622" y="126068"/>
                      <a:pt x="381802" y="128256"/>
                    </a:cubicBezTo>
                    <a:cubicBezTo>
                      <a:pt x="417389" y="140785"/>
                      <a:pt x="438756" y="177150"/>
                      <a:pt x="432379" y="214336"/>
                    </a:cubicBezTo>
                    <a:cubicBezTo>
                      <a:pt x="426002" y="251522"/>
                      <a:pt x="393740" y="278690"/>
                      <a:pt x="356011" y="278646"/>
                    </a:cubicBezTo>
                    <a:close/>
                    <a:moveTo>
                      <a:pt x="386968" y="178038"/>
                    </a:moveTo>
                    <a:cubicBezTo>
                      <a:pt x="386968" y="186586"/>
                      <a:pt x="380038" y="193516"/>
                      <a:pt x="371490" y="193516"/>
                    </a:cubicBezTo>
                    <a:lnTo>
                      <a:pt x="363750" y="193516"/>
                    </a:lnTo>
                    <a:cubicBezTo>
                      <a:pt x="325283" y="193516"/>
                      <a:pt x="294099" y="162332"/>
                      <a:pt x="294099" y="123864"/>
                    </a:cubicBezTo>
                    <a:lnTo>
                      <a:pt x="294099" y="116125"/>
                    </a:lnTo>
                    <a:cubicBezTo>
                      <a:pt x="294099" y="107577"/>
                      <a:pt x="301029" y="100647"/>
                      <a:pt x="309577" y="100647"/>
                    </a:cubicBezTo>
                    <a:cubicBezTo>
                      <a:pt x="318125" y="100647"/>
                      <a:pt x="325055" y="107577"/>
                      <a:pt x="325055" y="116125"/>
                    </a:cubicBezTo>
                    <a:lnTo>
                      <a:pt x="325055" y="123864"/>
                    </a:lnTo>
                    <a:cubicBezTo>
                      <a:pt x="325055" y="145235"/>
                      <a:pt x="342380" y="162560"/>
                      <a:pt x="363750" y="162560"/>
                    </a:cubicBezTo>
                    <a:lnTo>
                      <a:pt x="371490" y="162560"/>
                    </a:lnTo>
                    <a:cubicBezTo>
                      <a:pt x="380038" y="162560"/>
                      <a:pt x="386968" y="169490"/>
                      <a:pt x="386968" y="178038"/>
                    </a:cubicBezTo>
                    <a:close/>
                    <a:moveTo>
                      <a:pt x="100622" y="193516"/>
                    </a:moveTo>
                    <a:lnTo>
                      <a:pt x="92883" y="193516"/>
                    </a:lnTo>
                    <a:cubicBezTo>
                      <a:pt x="84335" y="193516"/>
                      <a:pt x="77405" y="186586"/>
                      <a:pt x="77405" y="178038"/>
                    </a:cubicBezTo>
                    <a:cubicBezTo>
                      <a:pt x="77405" y="169490"/>
                      <a:pt x="84335" y="162560"/>
                      <a:pt x="92883" y="162560"/>
                    </a:cubicBezTo>
                    <a:lnTo>
                      <a:pt x="100622" y="162560"/>
                    </a:lnTo>
                    <a:cubicBezTo>
                      <a:pt x="121993" y="162560"/>
                      <a:pt x="139318" y="145235"/>
                      <a:pt x="139318" y="123864"/>
                    </a:cubicBezTo>
                    <a:lnTo>
                      <a:pt x="139318" y="116125"/>
                    </a:lnTo>
                    <a:cubicBezTo>
                      <a:pt x="139318" y="107577"/>
                      <a:pt x="146247" y="100647"/>
                      <a:pt x="154796" y="100647"/>
                    </a:cubicBezTo>
                    <a:cubicBezTo>
                      <a:pt x="163344" y="100647"/>
                      <a:pt x="170274" y="107577"/>
                      <a:pt x="170274" y="116125"/>
                    </a:cubicBezTo>
                    <a:lnTo>
                      <a:pt x="170274" y="123864"/>
                    </a:lnTo>
                    <a:cubicBezTo>
                      <a:pt x="170274" y="162332"/>
                      <a:pt x="139090" y="193516"/>
                      <a:pt x="100622" y="193516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5435127" y="6023610"/>
              <a:ext cx="55974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AI 辅助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2209800" y="4895850"/>
            <a:ext cx="1028700" cy="1371600"/>
            <a:chOff x="2209800" y="4895850"/>
            <a:chExt cx="1028700" cy="1371600"/>
          </a:xfrm>
        </p:grpSpPr>
        <p:sp>
          <p:nvSpPr>
            <p:cNvPr id="42" name="Ellipse 42"/>
            <p:cNvSpPr/>
            <p:nvPr/>
          </p:nvSpPr>
          <p:spPr>
            <a:xfrm>
              <a:off x="2209800" y="48958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45" name="Group 45"/>
            <p:cNvGrpSpPr/>
            <p:nvPr/>
          </p:nvGrpSpPr>
          <p:grpSpPr>
            <a:xfrm>
              <a:off x="2553891" y="5193509"/>
              <a:ext cx="340519" cy="417907"/>
              <a:chOff x="2553891" y="5193509"/>
              <a:chExt cx="340519" cy="417907"/>
            </a:xfrm>
          </p:grpSpPr>
          <p:sp>
            <p:nvSpPr>
              <p:cNvPr id="43" name="Freeform 43"/>
              <p:cNvSpPr/>
              <p:nvPr/>
            </p:nvSpPr>
            <p:spPr>
              <a:xfrm>
                <a:off x="2569369" y="5239941"/>
                <a:ext cx="309562" cy="355997"/>
              </a:xfrm>
              <a:custGeom>
                <a:avLst/>
                <a:gdLst/>
                <a:ahLst/>
                <a:cxnLst/>
                <a:rect l="l" t="t" r="r" b="b"/>
                <a:pathLst>
                  <a:path w="309562" h="355997">
                    <a:moveTo>
                      <a:pt x="309562" y="15478"/>
                    </a:moveTo>
                    <a:lnTo>
                      <a:pt x="309562" y="340519"/>
                    </a:lnTo>
                    <a:cubicBezTo>
                      <a:pt x="309562" y="349067"/>
                      <a:pt x="302633" y="355997"/>
                      <a:pt x="294084" y="355997"/>
                    </a:cubicBezTo>
                    <a:lnTo>
                      <a:pt x="15478" y="355997"/>
                    </a:lnTo>
                    <a:cubicBezTo>
                      <a:pt x="6930" y="355997"/>
                      <a:pt x="0" y="349067"/>
                      <a:pt x="0" y="340519"/>
                    </a:cubicBezTo>
                    <a:lnTo>
                      <a:pt x="0" y="15478"/>
                    </a:lnTo>
                    <a:cubicBezTo>
                      <a:pt x="0" y="6930"/>
                      <a:pt x="6930" y="0"/>
                      <a:pt x="15478" y="0"/>
                    </a:cubicBezTo>
                    <a:lnTo>
                      <a:pt x="92869" y="0"/>
                    </a:lnTo>
                    <a:cubicBezTo>
                      <a:pt x="82800" y="13385"/>
                      <a:pt x="77367" y="29685"/>
                      <a:pt x="77391" y="46434"/>
                    </a:cubicBezTo>
                    <a:lnTo>
                      <a:pt x="77391" y="61912"/>
                    </a:lnTo>
                    <a:lnTo>
                      <a:pt x="232172" y="61912"/>
                    </a:lnTo>
                    <a:lnTo>
                      <a:pt x="232172" y="46434"/>
                    </a:lnTo>
                    <a:cubicBezTo>
                      <a:pt x="232196" y="29685"/>
                      <a:pt x="226762" y="13385"/>
                      <a:pt x="216694" y="0"/>
                    </a:cubicBezTo>
                    <a:lnTo>
                      <a:pt x="294084" y="0"/>
                    </a:lnTo>
                    <a:cubicBezTo>
                      <a:pt x="302633" y="0"/>
                      <a:pt x="309562" y="6930"/>
                      <a:pt x="309562" y="15478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4" name="Freeform 44"/>
              <p:cNvSpPr/>
              <p:nvPr/>
            </p:nvSpPr>
            <p:spPr>
              <a:xfrm>
                <a:off x="2553891" y="5193509"/>
                <a:ext cx="340519" cy="417907"/>
              </a:xfrm>
              <a:custGeom>
                <a:avLst/>
                <a:gdLst/>
                <a:ahLst/>
                <a:cxnLst/>
                <a:rect l="l" t="t" r="r" b="b"/>
                <a:pathLst>
                  <a:path w="340519" h="417907">
                    <a:moveTo>
                      <a:pt x="247650" y="263125"/>
                    </a:moveTo>
                    <a:cubicBezTo>
                      <a:pt x="247650" y="271674"/>
                      <a:pt x="240720" y="278603"/>
                      <a:pt x="232172" y="278603"/>
                    </a:cubicBezTo>
                    <a:lnTo>
                      <a:pt x="108347" y="278603"/>
                    </a:lnTo>
                    <a:cubicBezTo>
                      <a:pt x="99799" y="278603"/>
                      <a:pt x="92869" y="271674"/>
                      <a:pt x="92869" y="263125"/>
                    </a:cubicBezTo>
                    <a:cubicBezTo>
                      <a:pt x="92869" y="254577"/>
                      <a:pt x="99799" y="247647"/>
                      <a:pt x="108347" y="247647"/>
                    </a:cubicBezTo>
                    <a:lnTo>
                      <a:pt x="232172" y="247647"/>
                    </a:lnTo>
                    <a:cubicBezTo>
                      <a:pt x="240720" y="247647"/>
                      <a:pt x="247650" y="254577"/>
                      <a:pt x="247650" y="263125"/>
                    </a:cubicBezTo>
                    <a:close/>
                    <a:moveTo>
                      <a:pt x="232172" y="185735"/>
                    </a:moveTo>
                    <a:lnTo>
                      <a:pt x="108347" y="185735"/>
                    </a:lnTo>
                    <a:cubicBezTo>
                      <a:pt x="99799" y="185735"/>
                      <a:pt x="92869" y="192664"/>
                      <a:pt x="92869" y="201213"/>
                    </a:cubicBezTo>
                    <a:cubicBezTo>
                      <a:pt x="92869" y="209761"/>
                      <a:pt x="99799" y="216691"/>
                      <a:pt x="108347" y="216691"/>
                    </a:cubicBezTo>
                    <a:lnTo>
                      <a:pt x="232172" y="216691"/>
                    </a:lnTo>
                    <a:cubicBezTo>
                      <a:pt x="240720" y="216691"/>
                      <a:pt x="247650" y="209761"/>
                      <a:pt x="247650" y="201213"/>
                    </a:cubicBezTo>
                    <a:cubicBezTo>
                      <a:pt x="247650" y="192664"/>
                      <a:pt x="240720" y="185735"/>
                      <a:pt x="232172" y="185735"/>
                    </a:cubicBezTo>
                    <a:close/>
                    <a:moveTo>
                      <a:pt x="340519" y="61910"/>
                    </a:moveTo>
                    <a:lnTo>
                      <a:pt x="340519" y="386950"/>
                    </a:lnTo>
                    <a:cubicBezTo>
                      <a:pt x="340519" y="404047"/>
                      <a:pt x="326659" y="417907"/>
                      <a:pt x="309562" y="417907"/>
                    </a:cubicBezTo>
                    <a:lnTo>
                      <a:pt x="30956" y="417907"/>
                    </a:lnTo>
                    <a:cubicBezTo>
                      <a:pt x="13860" y="417907"/>
                      <a:pt x="0" y="404047"/>
                      <a:pt x="0" y="386950"/>
                    </a:cubicBezTo>
                    <a:lnTo>
                      <a:pt x="0" y="61910"/>
                    </a:lnTo>
                    <a:cubicBezTo>
                      <a:pt x="0" y="44813"/>
                      <a:pt x="13860" y="30953"/>
                      <a:pt x="30956" y="30953"/>
                    </a:cubicBezTo>
                    <a:lnTo>
                      <a:pt x="101111" y="30953"/>
                    </a:lnTo>
                    <a:cubicBezTo>
                      <a:pt x="118701" y="11259"/>
                      <a:pt x="143854" y="0"/>
                      <a:pt x="170259" y="0"/>
                    </a:cubicBezTo>
                    <a:cubicBezTo>
                      <a:pt x="196665" y="0"/>
                      <a:pt x="221818" y="11259"/>
                      <a:pt x="239408" y="30953"/>
                    </a:cubicBezTo>
                    <a:lnTo>
                      <a:pt x="309562" y="30953"/>
                    </a:lnTo>
                    <a:cubicBezTo>
                      <a:pt x="326659" y="30953"/>
                      <a:pt x="340519" y="44813"/>
                      <a:pt x="340519" y="61910"/>
                    </a:cubicBezTo>
                    <a:close/>
                    <a:moveTo>
                      <a:pt x="108347" y="92866"/>
                    </a:moveTo>
                    <a:lnTo>
                      <a:pt x="232172" y="92866"/>
                    </a:lnTo>
                    <a:cubicBezTo>
                      <a:pt x="232172" y="58673"/>
                      <a:pt x="204453" y="30953"/>
                      <a:pt x="170259" y="30953"/>
                    </a:cubicBezTo>
                    <a:cubicBezTo>
                      <a:pt x="136066" y="30953"/>
                      <a:pt x="108347" y="58673"/>
                      <a:pt x="108347" y="92866"/>
                    </a:cubicBezTo>
                    <a:close/>
                    <a:moveTo>
                      <a:pt x="309562" y="61910"/>
                    </a:moveTo>
                    <a:lnTo>
                      <a:pt x="257808" y="61910"/>
                    </a:lnTo>
                    <a:cubicBezTo>
                      <a:pt x="261328" y="71851"/>
                      <a:pt x="263128" y="82320"/>
                      <a:pt x="263128" y="92866"/>
                    </a:cubicBezTo>
                    <a:lnTo>
                      <a:pt x="263128" y="108344"/>
                    </a:lnTo>
                    <a:cubicBezTo>
                      <a:pt x="263128" y="116892"/>
                      <a:pt x="256198" y="123822"/>
                      <a:pt x="247650" y="123822"/>
                    </a:cubicBezTo>
                    <a:lnTo>
                      <a:pt x="92869" y="123822"/>
                    </a:lnTo>
                    <a:cubicBezTo>
                      <a:pt x="84320" y="123822"/>
                      <a:pt x="77391" y="116892"/>
                      <a:pt x="77391" y="108344"/>
                    </a:cubicBezTo>
                    <a:lnTo>
                      <a:pt x="77391" y="92866"/>
                    </a:lnTo>
                    <a:cubicBezTo>
                      <a:pt x="77391" y="82320"/>
                      <a:pt x="79190" y="71851"/>
                      <a:pt x="82711" y="61910"/>
                    </a:cubicBezTo>
                    <a:lnTo>
                      <a:pt x="30956" y="61910"/>
                    </a:lnTo>
                    <a:lnTo>
                      <a:pt x="30956" y="386950"/>
                    </a:lnTo>
                    <a:lnTo>
                      <a:pt x="309562" y="386950"/>
                    </a:ln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46" name="TextBox 46"/>
            <p:cNvSpPr txBox="1"/>
            <p:nvPr/>
          </p:nvSpPr>
          <p:spPr>
            <a:xfrm>
              <a:off x="2372868" y="6023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人工审核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1184910" y="2533650"/>
            <a:ext cx="1672590" cy="1028700"/>
            <a:chOff x="1184910" y="2533650"/>
            <a:chExt cx="1672590" cy="1028700"/>
          </a:xfrm>
        </p:grpSpPr>
        <p:sp>
          <p:nvSpPr>
            <p:cNvPr id="48" name="Ellipse 48"/>
            <p:cNvSpPr/>
            <p:nvPr/>
          </p:nvSpPr>
          <p:spPr>
            <a:xfrm>
              <a:off x="1828800" y="2533650"/>
              <a:ext cx="1028700" cy="1028700"/>
            </a:xfrm>
            <a:prstGeom prst="ellipse">
              <a:avLst/>
            </a:prstGeom>
            <a:solidFill>
              <a:srgbClr val="FFFFFF"/>
            </a:solidFill>
            <a:ln w="19050">
              <a:solidFill>
                <a:srgbClr val="BFD9CC"/>
              </a:solidFill>
            </a:ln>
          </p:spPr>
        </p:sp>
        <p:grpSp>
          <p:nvGrpSpPr>
            <p:cNvPr id="51" name="Group 51"/>
            <p:cNvGrpSpPr/>
            <p:nvPr/>
          </p:nvGrpSpPr>
          <p:grpSpPr>
            <a:xfrm>
              <a:off x="2132288" y="2846769"/>
              <a:ext cx="428594" cy="418198"/>
              <a:chOff x="2132288" y="2846769"/>
              <a:chExt cx="428594" cy="418198"/>
            </a:xfrm>
          </p:grpSpPr>
          <p:sp>
            <p:nvSpPr>
              <p:cNvPr id="49" name="Freeform 49"/>
              <p:cNvSpPr/>
              <p:nvPr/>
            </p:nvSpPr>
            <p:spPr>
              <a:xfrm>
                <a:off x="2143265" y="2846798"/>
                <a:ext cx="385630" cy="395286"/>
              </a:xfrm>
              <a:custGeom>
                <a:avLst/>
                <a:gdLst/>
                <a:ahLst/>
                <a:cxnLst/>
                <a:rect l="l" t="t" r="r" b="b"/>
                <a:pathLst>
                  <a:path w="385630" h="395286">
                    <a:moveTo>
                      <a:pt x="385622" y="201202"/>
                    </a:moveTo>
                    <a:cubicBezTo>
                      <a:pt x="385630" y="267591"/>
                      <a:pt x="350203" y="328937"/>
                      <a:pt x="292696" y="362112"/>
                    </a:cubicBezTo>
                    <a:cubicBezTo>
                      <a:pt x="235189" y="395286"/>
                      <a:pt x="164348" y="395243"/>
                      <a:pt x="106880" y="362000"/>
                    </a:cubicBezTo>
                    <a:lnTo>
                      <a:pt x="106880" y="362000"/>
                    </a:lnTo>
                    <a:lnTo>
                      <a:pt x="34539" y="386127"/>
                    </a:lnTo>
                    <a:cubicBezTo>
                      <a:pt x="28977" y="387982"/>
                      <a:pt x="22844" y="386534"/>
                      <a:pt x="18698" y="382388"/>
                    </a:cubicBezTo>
                    <a:cubicBezTo>
                      <a:pt x="14552" y="378242"/>
                      <a:pt x="13105" y="372109"/>
                      <a:pt x="14960" y="366547"/>
                    </a:cubicBezTo>
                    <a:lnTo>
                      <a:pt x="39086" y="294206"/>
                    </a:lnTo>
                    <a:lnTo>
                      <a:pt x="39086" y="294206"/>
                    </a:lnTo>
                    <a:cubicBezTo>
                      <a:pt x="0" y="226599"/>
                      <a:pt x="7377" y="141764"/>
                      <a:pt x="57546" y="81919"/>
                    </a:cubicBezTo>
                    <a:cubicBezTo>
                      <a:pt x="107714" y="22073"/>
                      <a:pt x="189959" y="0"/>
                      <a:pt x="263351" y="26684"/>
                    </a:cubicBezTo>
                    <a:cubicBezTo>
                      <a:pt x="336743" y="53368"/>
                      <a:pt x="385605" y="123109"/>
                      <a:pt x="385622" y="201202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0" name="Freeform 50"/>
              <p:cNvSpPr/>
              <p:nvPr/>
            </p:nvSpPr>
            <p:spPr>
              <a:xfrm>
                <a:off x="2132288" y="2846769"/>
                <a:ext cx="428594" cy="418198"/>
              </a:xfrm>
              <a:custGeom>
                <a:avLst/>
                <a:gdLst/>
                <a:ahLst/>
                <a:cxnLst/>
                <a:rect l="l" t="t" r="r" b="b"/>
                <a:pathLst>
                  <a:path w="428594" h="418198">
                    <a:moveTo>
                      <a:pt x="210862" y="15"/>
                    </a:moveTo>
                    <a:cubicBezTo>
                      <a:pt x="140199" y="0"/>
                      <a:pt x="74706" y="37053"/>
                      <a:pt x="38323" y="97630"/>
                    </a:cubicBezTo>
                    <a:cubicBezTo>
                      <a:pt x="1940" y="158207"/>
                      <a:pt x="0" y="233430"/>
                      <a:pt x="33212" y="295802"/>
                    </a:cubicBezTo>
                    <a:lnTo>
                      <a:pt x="11252" y="361681"/>
                    </a:lnTo>
                    <a:cubicBezTo>
                      <a:pt x="7542" y="372806"/>
                      <a:pt x="10437" y="385072"/>
                      <a:pt x="18729" y="393364"/>
                    </a:cubicBezTo>
                    <a:cubicBezTo>
                      <a:pt x="27021" y="401656"/>
                      <a:pt x="39287" y="404551"/>
                      <a:pt x="50412" y="400841"/>
                    </a:cubicBezTo>
                    <a:lnTo>
                      <a:pt x="116291" y="378881"/>
                    </a:lnTo>
                    <a:cubicBezTo>
                      <a:pt x="190212" y="418198"/>
                      <a:pt x="280755" y="407632"/>
                      <a:pt x="343636" y="352350"/>
                    </a:cubicBezTo>
                    <a:cubicBezTo>
                      <a:pt x="406517" y="297068"/>
                      <a:pt x="428594" y="208624"/>
                      <a:pt x="399069" y="130276"/>
                    </a:cubicBezTo>
                    <a:cubicBezTo>
                      <a:pt x="369545" y="51928"/>
                      <a:pt x="294589" y="50"/>
                      <a:pt x="210862" y="15"/>
                    </a:cubicBezTo>
                    <a:close/>
                    <a:moveTo>
                      <a:pt x="210862" y="371490"/>
                    </a:moveTo>
                    <a:cubicBezTo>
                      <a:pt x="180931" y="371511"/>
                      <a:pt x="151525" y="363629"/>
                      <a:pt x="125616" y="348641"/>
                    </a:cubicBezTo>
                    <a:cubicBezTo>
                      <a:pt x="121779" y="346416"/>
                      <a:pt x="117172" y="345944"/>
                      <a:pt x="112963" y="347345"/>
                    </a:cubicBezTo>
                    <a:lnTo>
                      <a:pt x="40603" y="371490"/>
                    </a:lnTo>
                    <a:lnTo>
                      <a:pt x="64729" y="299130"/>
                    </a:lnTo>
                    <a:cubicBezTo>
                      <a:pt x="66136" y="294924"/>
                      <a:pt x="65671" y="290317"/>
                      <a:pt x="63452" y="286477"/>
                    </a:cubicBezTo>
                    <a:cubicBezTo>
                      <a:pt x="24865" y="219762"/>
                      <a:pt x="35904" y="135447"/>
                      <a:pt x="90367" y="80916"/>
                    </a:cubicBezTo>
                    <a:cubicBezTo>
                      <a:pt x="144829" y="26384"/>
                      <a:pt x="229131" y="15238"/>
                      <a:pt x="295894" y="53742"/>
                    </a:cubicBezTo>
                    <a:cubicBezTo>
                      <a:pt x="362657" y="92245"/>
                      <a:pt x="395230" y="170794"/>
                      <a:pt x="375306" y="245245"/>
                    </a:cubicBezTo>
                    <a:cubicBezTo>
                      <a:pt x="355383" y="319695"/>
                      <a:pt x="287932" y="371478"/>
                      <a:pt x="210862" y="371490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2" name="TextBox 52"/>
            <p:cNvSpPr txBox="1"/>
            <p:nvPr/>
          </p:nvSpPr>
          <p:spPr>
            <a:xfrm>
              <a:off x="1184910" y="2975610"/>
              <a:ext cx="70256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发布聚合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810500" y="2324100"/>
            <a:ext cx="3371850" cy="2209800"/>
            <a:chOff x="7810500" y="2324100"/>
            <a:chExt cx="3371850" cy="2209800"/>
          </a:xfrm>
        </p:grpSpPr>
        <p:sp>
          <p:nvSpPr>
            <p:cNvPr id="54" name="Rectangle 54"/>
            <p:cNvSpPr/>
            <p:nvPr/>
          </p:nvSpPr>
          <p:spPr>
            <a:xfrm>
              <a:off x="7810500" y="2324100"/>
              <a:ext cx="3371850" cy="2209800"/>
            </a:xfrm>
            <a:prstGeom prst="roundRect">
              <a:avLst>
                <a:gd name="adj" fmla="val 12931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8130540" y="2520315"/>
              <a:ext cx="2625138" cy="6705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300" b="1" dirty="0">
                  <a:solidFill>
                    <a:srgbClr val="1F8A70"/>
                  </a:solidFill>
                  <a:latin typeface="Trebuchet MS"/>
                  <a:ea typeface="Microsoft YaHei"/>
                  <a:cs typeface="Trebuchet MS"/>
                </a:rPr>
                <a:t>Review loop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151495" y="3212782"/>
              <a:ext cx="2583228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6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真实评价进入公共信息池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8155305" y="3683318"/>
              <a:ext cx="2434590" cy="57912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400"/>
                </a:lnSpc>
              </a:pP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不确定时不误发布，转交人工；</a:t>
              </a:r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发布后参与评分和阅读影响力。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FFF7"/>
          </a:solidFill>
          <a:ln>
            <a:noFill/>
          </a:ln>
        </p:spPr>
      </p:sp>
      <p:grpSp>
        <p:nvGrpSpPr>
          <p:cNvPr id="6" name="Group 6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3" name="TextBox 3"/>
            <p:cNvSpPr txBox="1"/>
            <p:nvPr/>
          </p:nvSpPr>
          <p:spPr>
            <a:xfrm>
              <a:off x="501015" y="334328"/>
              <a:ext cx="2921127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工程细节保护体验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518160" y="784860"/>
              <a:ext cx="5743194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校园隔离、游标分页、幂等写入和统一错误格式，让系统在真实网络里更稳。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12 / 16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666750" y="1352550"/>
            <a:ext cx="2808046" cy="4648200"/>
            <a:chOff x="666750" y="1352550"/>
            <a:chExt cx="2808046" cy="4648200"/>
          </a:xfrm>
        </p:grpSpPr>
        <p:sp>
          <p:nvSpPr>
            <p:cNvPr id="7" name="Rectangle 7"/>
            <p:cNvSpPr/>
            <p:nvPr/>
          </p:nvSpPr>
          <p:spPr>
            <a:xfrm>
              <a:off x="666750" y="1352550"/>
              <a:ext cx="2552700" cy="4648200"/>
            </a:xfrm>
            <a:prstGeom prst="roundRect">
              <a:avLst>
                <a:gd name="adj" fmla="val 82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8" name="Freeform 8"/>
            <p:cNvSpPr/>
            <p:nvPr/>
          </p:nvSpPr>
          <p:spPr>
            <a:xfrm>
              <a:off x="666750" y="1352550"/>
              <a:ext cx="2552700" cy="1104900"/>
            </a:xfrm>
            <a:custGeom>
              <a:avLst/>
              <a:gdLst/>
              <a:ahLst/>
              <a:cxnLst/>
              <a:rect l="l" t="t" r="r" b="b"/>
              <a:pathLst>
                <a:path w="2552700" h="1104900">
                  <a:moveTo>
                    <a:pt x="209550" y="0"/>
                  </a:moveTo>
                  <a:lnTo>
                    <a:pt x="2343150" y="0"/>
                  </a:lnTo>
                  <a:cubicBezTo>
                    <a:pt x="2458881" y="0"/>
                    <a:pt x="2552700" y="93819"/>
                    <a:pt x="2552700" y="209550"/>
                  </a:cubicBezTo>
                  <a:lnTo>
                    <a:pt x="25527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6201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F8A70"/>
                  </a:solidFill>
                  <a:latin typeface="Trebuchet MS"/>
                  <a:ea typeface="Microsoft YaHei"/>
                  <a:cs typeface="Trebuchet MS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5039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校园隔离</a:t>
              </a:r>
            </a:p>
          </p:txBody>
        </p:sp>
        <p:grpSp>
          <p:nvGrpSpPr>
            <p:cNvPr id="13" name="Group 13"/>
            <p:cNvGrpSpPr/>
            <p:nvPr/>
          </p:nvGrpSpPr>
          <p:grpSpPr>
            <a:xfrm>
              <a:off x="1019173" y="2843212"/>
              <a:ext cx="171454" cy="278615"/>
              <a:chOff x="1019173" y="2843212"/>
              <a:chExt cx="171454" cy="278615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62038" y="3068241"/>
                <a:ext cx="85725" cy="42862"/>
              </a:xfrm>
              <a:custGeom>
                <a:avLst/>
                <a:gdLst/>
                <a:ahLst/>
                <a:cxnLst/>
                <a:rect l="l" t="t" r="r" b="b"/>
                <a:pathLst>
                  <a:path w="85725" h="42862">
                    <a:moveTo>
                      <a:pt x="85725" y="0"/>
                    </a:moveTo>
                    <a:lnTo>
                      <a:pt x="42862" y="4286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19173" y="2843212"/>
                <a:ext cx="171454" cy="278615"/>
              </a:xfrm>
              <a:custGeom>
                <a:avLst/>
                <a:gdLst/>
                <a:ahLst/>
                <a:cxnLst/>
                <a:rect l="l" t="t" r="r" b="b"/>
                <a:pathLst>
                  <a:path w="171454" h="278615">
                    <a:moveTo>
                      <a:pt x="160737" y="0"/>
                    </a:moveTo>
                    <a:cubicBezTo>
                      <a:pt x="154819" y="0"/>
                      <a:pt x="150021" y="4798"/>
                      <a:pt x="150021" y="10716"/>
                    </a:cubicBezTo>
                    <a:lnTo>
                      <a:pt x="150021" y="92007"/>
                    </a:lnTo>
                    <a:lnTo>
                      <a:pt x="85727" y="156301"/>
                    </a:lnTo>
                    <a:lnTo>
                      <a:pt x="21433" y="92007"/>
                    </a:lnTo>
                    <a:lnTo>
                      <a:pt x="21433" y="10716"/>
                    </a:lnTo>
                    <a:cubicBezTo>
                      <a:pt x="21433" y="4798"/>
                      <a:pt x="16636" y="0"/>
                      <a:pt x="10718" y="0"/>
                    </a:cubicBezTo>
                    <a:cubicBezTo>
                      <a:pt x="4800" y="0"/>
                      <a:pt x="2" y="4798"/>
                      <a:pt x="2" y="10716"/>
                    </a:cubicBezTo>
                    <a:lnTo>
                      <a:pt x="2" y="96441"/>
                    </a:lnTo>
                    <a:cubicBezTo>
                      <a:pt x="0" y="99283"/>
                      <a:pt x="1127" y="102011"/>
                      <a:pt x="3137" y="104022"/>
                    </a:cubicBezTo>
                    <a:lnTo>
                      <a:pt x="75012" y="175884"/>
                    </a:lnTo>
                    <a:lnTo>
                      <a:pt x="75012" y="214312"/>
                    </a:lnTo>
                    <a:lnTo>
                      <a:pt x="42865" y="214312"/>
                    </a:lnTo>
                    <a:cubicBezTo>
                      <a:pt x="38528" y="214309"/>
                      <a:pt x="34617" y="216920"/>
                      <a:pt x="32957" y="220926"/>
                    </a:cubicBezTo>
                    <a:cubicBezTo>
                      <a:pt x="31297" y="224933"/>
                      <a:pt x="32215" y="229545"/>
                      <a:pt x="35283" y="232609"/>
                    </a:cubicBezTo>
                    <a:lnTo>
                      <a:pt x="78146" y="275472"/>
                    </a:lnTo>
                    <a:cubicBezTo>
                      <a:pt x="80156" y="277484"/>
                      <a:pt x="82883" y="278615"/>
                      <a:pt x="85727" y="278615"/>
                    </a:cubicBezTo>
                    <a:cubicBezTo>
                      <a:pt x="88571" y="278615"/>
                      <a:pt x="91299" y="277484"/>
                      <a:pt x="93309" y="275472"/>
                    </a:cubicBezTo>
                    <a:lnTo>
                      <a:pt x="136171" y="232609"/>
                    </a:lnTo>
                    <a:cubicBezTo>
                      <a:pt x="139239" y="229545"/>
                      <a:pt x="140158" y="224933"/>
                      <a:pt x="138498" y="220926"/>
                    </a:cubicBezTo>
                    <a:cubicBezTo>
                      <a:pt x="136838" y="216920"/>
                      <a:pt x="132926" y="214309"/>
                      <a:pt x="128590" y="214312"/>
                    </a:cubicBezTo>
                    <a:lnTo>
                      <a:pt x="96443" y="214312"/>
                    </a:lnTo>
                    <a:lnTo>
                      <a:pt x="96443" y="175884"/>
                    </a:lnTo>
                    <a:lnTo>
                      <a:pt x="168318" y="104022"/>
                    </a:lnTo>
                    <a:cubicBezTo>
                      <a:pt x="170327" y="102011"/>
                      <a:pt x="171454" y="99283"/>
                      <a:pt x="171452" y="96441"/>
                    </a:cubicBezTo>
                    <a:lnTo>
                      <a:pt x="171452" y="10716"/>
                    </a:lnTo>
                    <a:cubicBezTo>
                      <a:pt x="171452" y="4798"/>
                      <a:pt x="166655" y="0"/>
                      <a:pt x="160737" y="0"/>
                    </a:cubicBezTo>
                    <a:close/>
                    <a:moveTo>
                      <a:pt x="85727" y="252741"/>
                    </a:moveTo>
                    <a:lnTo>
                      <a:pt x="68730" y="235744"/>
                    </a:lnTo>
                    <a:lnTo>
                      <a:pt x="102725" y="235744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394460" y="2861310"/>
              <a:ext cx="20803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所有业务资源带 campus_id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38212" y="3345656"/>
              <a:ext cx="1600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服务端校验引用资源是否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属于同一校园，避免只靠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前端筛选造成数据越界。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952500" y="4972050"/>
              <a:ext cx="19812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516209" y="5109210"/>
              <a:ext cx="85378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1F8A70"/>
                  </a:solidFill>
                  <a:latin typeface="Consolas"/>
                  <a:ea typeface="Microsoft YaHei"/>
                  <a:cs typeface="Consolas"/>
                </a:rPr>
                <a:t>campus_id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3486150" y="1352550"/>
            <a:ext cx="2552700" cy="4648200"/>
            <a:chOff x="3486150" y="1352550"/>
            <a:chExt cx="2552700" cy="4648200"/>
          </a:xfrm>
        </p:grpSpPr>
        <p:sp>
          <p:nvSpPr>
            <p:cNvPr id="19" name="Rectangle 19"/>
            <p:cNvSpPr/>
            <p:nvPr/>
          </p:nvSpPr>
          <p:spPr>
            <a:xfrm>
              <a:off x="3486150" y="1352550"/>
              <a:ext cx="2552700" cy="4648200"/>
            </a:xfrm>
            <a:prstGeom prst="roundRect">
              <a:avLst>
                <a:gd name="adj" fmla="val 82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0" name="Freeform 20"/>
            <p:cNvSpPr/>
            <p:nvPr/>
          </p:nvSpPr>
          <p:spPr>
            <a:xfrm>
              <a:off x="3486150" y="1352550"/>
              <a:ext cx="2552700" cy="1104900"/>
            </a:xfrm>
            <a:custGeom>
              <a:avLst/>
              <a:gdLst/>
              <a:ahLst/>
              <a:cxnLst/>
              <a:rect l="l" t="t" r="r" b="b"/>
              <a:pathLst>
                <a:path w="2552700" h="1104900">
                  <a:moveTo>
                    <a:pt x="209550" y="0"/>
                  </a:moveTo>
                  <a:lnTo>
                    <a:pt x="2343150" y="0"/>
                  </a:lnTo>
                  <a:cubicBezTo>
                    <a:pt x="2458881" y="0"/>
                    <a:pt x="2552700" y="93819"/>
                    <a:pt x="2552700" y="209550"/>
                  </a:cubicBezTo>
                  <a:lnTo>
                    <a:pt x="25527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4395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3A86FF"/>
                  </a:solidFill>
                  <a:latin typeface="Trebuchet MS"/>
                  <a:ea typeface="Microsoft YaHei"/>
                  <a:cs typeface="Trebuchet MS"/>
                </a:rPr>
                <a:t>02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3233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游标分页</a:t>
              </a:r>
            </a:p>
          </p:txBody>
        </p:sp>
        <p:grpSp>
          <p:nvGrpSpPr>
            <p:cNvPr id="25" name="Group 25"/>
            <p:cNvGrpSpPr/>
            <p:nvPr/>
          </p:nvGrpSpPr>
          <p:grpSpPr>
            <a:xfrm>
              <a:off x="3784997" y="2864644"/>
              <a:ext cx="280300" cy="249584"/>
              <a:chOff x="3784997" y="2864644"/>
              <a:chExt cx="280300" cy="249584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3988594" y="3036094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64294" y="32147"/>
                    </a:moveTo>
                    <a:cubicBezTo>
                      <a:pt x="64294" y="49901"/>
                      <a:pt x="49901" y="64294"/>
                      <a:pt x="32147" y="64294"/>
                    </a:cubicBezTo>
                    <a:cubicBezTo>
                      <a:pt x="14393" y="64294"/>
                      <a:pt x="0" y="49901"/>
                      <a:pt x="0" y="32147"/>
                    </a:cubicBezTo>
                    <a:cubicBezTo>
                      <a:pt x="0" y="14393"/>
                      <a:pt x="14393" y="0"/>
                      <a:pt x="32147" y="0"/>
                    </a:cubicBezTo>
                    <a:cubicBezTo>
                      <a:pt x="49901" y="0"/>
                      <a:pt x="64294" y="14393"/>
                      <a:pt x="64294" y="32147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4" name="Freeform 24"/>
              <p:cNvSpPr/>
              <p:nvPr/>
            </p:nvSpPr>
            <p:spPr>
              <a:xfrm>
                <a:off x="3784997" y="2864644"/>
                <a:ext cx="280300" cy="249584"/>
              </a:xfrm>
              <a:custGeom>
                <a:avLst/>
                <a:gdLst/>
                <a:ahLst/>
                <a:cxnLst/>
                <a:rect l="l" t="t" r="r" b="b"/>
                <a:pathLst>
                  <a:path w="280300" h="249584">
                    <a:moveTo>
                      <a:pt x="235744" y="160734"/>
                    </a:moveTo>
                    <a:cubicBezTo>
                      <a:pt x="216200" y="160753"/>
                      <a:pt x="199134" y="173965"/>
                      <a:pt x="194221" y="192881"/>
                    </a:cubicBezTo>
                    <a:lnTo>
                      <a:pt x="64294" y="192881"/>
                    </a:lnTo>
                    <a:cubicBezTo>
                      <a:pt x="40621" y="192881"/>
                      <a:pt x="21431" y="173691"/>
                      <a:pt x="21431" y="150019"/>
                    </a:cubicBezTo>
                    <a:cubicBezTo>
                      <a:pt x="21431" y="126346"/>
                      <a:pt x="40621" y="107156"/>
                      <a:pt x="64294" y="107156"/>
                    </a:cubicBezTo>
                    <a:lnTo>
                      <a:pt x="192881" y="107156"/>
                    </a:lnTo>
                    <a:cubicBezTo>
                      <a:pt x="222472" y="107156"/>
                      <a:pt x="246459" y="83169"/>
                      <a:pt x="246459" y="53578"/>
                    </a:cubicBezTo>
                    <a:cubicBezTo>
                      <a:pt x="246459" y="23988"/>
                      <a:pt x="222472" y="0"/>
                      <a:pt x="192881" y="0"/>
                    </a:cubicBezTo>
                    <a:lnTo>
                      <a:pt x="64294" y="0"/>
                    </a:lnTo>
                    <a:cubicBezTo>
                      <a:pt x="58376" y="0"/>
                      <a:pt x="53578" y="4798"/>
                      <a:pt x="53578" y="10716"/>
                    </a:cubicBezTo>
                    <a:cubicBezTo>
                      <a:pt x="53578" y="16634"/>
                      <a:pt x="58376" y="21431"/>
                      <a:pt x="64294" y="21431"/>
                    </a:cubicBezTo>
                    <a:lnTo>
                      <a:pt x="192881" y="21431"/>
                    </a:lnTo>
                    <a:cubicBezTo>
                      <a:pt x="210635" y="21431"/>
                      <a:pt x="225028" y="35824"/>
                      <a:pt x="225028" y="53578"/>
                    </a:cubicBezTo>
                    <a:cubicBezTo>
                      <a:pt x="225028" y="71332"/>
                      <a:pt x="210635" y="85725"/>
                      <a:pt x="192881" y="85725"/>
                    </a:cubicBezTo>
                    <a:lnTo>
                      <a:pt x="64294" y="85725"/>
                    </a:lnTo>
                    <a:cubicBezTo>
                      <a:pt x="28785" y="85725"/>
                      <a:pt x="0" y="114510"/>
                      <a:pt x="0" y="150019"/>
                    </a:cubicBezTo>
                    <a:cubicBezTo>
                      <a:pt x="0" y="185527"/>
                      <a:pt x="28785" y="214312"/>
                      <a:pt x="64294" y="214312"/>
                    </a:cubicBezTo>
                    <a:lnTo>
                      <a:pt x="194221" y="214312"/>
                    </a:lnTo>
                    <a:cubicBezTo>
                      <a:pt x="199789" y="235877"/>
                      <a:pt x="220944" y="249584"/>
                      <a:pt x="242901" y="245854"/>
                    </a:cubicBezTo>
                    <a:cubicBezTo>
                      <a:pt x="264858" y="242124"/>
                      <a:pt x="280300" y="222199"/>
                      <a:pt x="278434" y="200005"/>
                    </a:cubicBezTo>
                    <a:cubicBezTo>
                      <a:pt x="276568" y="177812"/>
                      <a:pt x="258015" y="160746"/>
                      <a:pt x="235744" y="160734"/>
                    </a:cubicBezTo>
                    <a:close/>
                    <a:moveTo>
                      <a:pt x="235744" y="225028"/>
                    </a:moveTo>
                    <a:cubicBezTo>
                      <a:pt x="223908" y="225028"/>
                      <a:pt x="214312" y="215433"/>
                      <a:pt x="214312" y="203597"/>
                    </a:cubicBezTo>
                    <a:cubicBezTo>
                      <a:pt x="214312" y="191761"/>
                      <a:pt x="223908" y="182166"/>
                      <a:pt x="235744" y="182166"/>
                    </a:cubicBezTo>
                    <a:cubicBezTo>
                      <a:pt x="247580" y="182166"/>
                      <a:pt x="257175" y="191761"/>
                      <a:pt x="257175" y="203597"/>
                    </a:cubicBezTo>
                    <a:cubicBezTo>
                      <a:pt x="257175" y="215433"/>
                      <a:pt x="247580" y="225028"/>
                      <a:pt x="235744" y="225028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6" name="TextBox 26"/>
            <p:cNvSpPr txBox="1"/>
            <p:nvPr/>
          </p:nvSpPr>
          <p:spPr>
            <a:xfrm>
              <a:off x="4213860" y="2861310"/>
              <a:ext cx="1811503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持续加载不依赖 offset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757612" y="3345656"/>
              <a:ext cx="1743075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推荐流、评价和后台列表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使用不透明游标，减少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新增数据带来的重复遗漏。</a:t>
              </a:r>
            </a:p>
          </p:txBody>
        </p:sp>
        <p:sp>
          <p:nvSpPr>
            <p:cNvPr id="28" name="Rectangle 28"/>
            <p:cNvSpPr/>
            <p:nvPr/>
          </p:nvSpPr>
          <p:spPr>
            <a:xfrm>
              <a:off x="3771900" y="4972050"/>
              <a:ext cx="19812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4238996" y="5109210"/>
              <a:ext cx="104700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3A86FF"/>
                  </a:solidFill>
                  <a:latin typeface="Consolas"/>
                  <a:ea typeface="Microsoft YaHei"/>
                  <a:cs typeface="Consolas"/>
                </a:rPr>
                <a:t>next_cursor</a:t>
              </a:r>
            </a:p>
          </p:txBody>
        </p:sp>
      </p:grpSp>
      <p:grpSp>
        <p:nvGrpSpPr>
          <p:cNvPr id="42" name="Group 42"/>
          <p:cNvGrpSpPr/>
          <p:nvPr/>
        </p:nvGrpSpPr>
        <p:grpSpPr>
          <a:xfrm>
            <a:off x="6305550" y="1352550"/>
            <a:ext cx="2552700" cy="4648200"/>
            <a:chOff x="6305550" y="1352550"/>
            <a:chExt cx="2552700" cy="4648200"/>
          </a:xfrm>
        </p:grpSpPr>
        <p:sp>
          <p:nvSpPr>
            <p:cNvPr id="31" name="Rectangle 31"/>
            <p:cNvSpPr/>
            <p:nvPr/>
          </p:nvSpPr>
          <p:spPr>
            <a:xfrm>
              <a:off x="6305550" y="1352550"/>
              <a:ext cx="2552700" cy="4648200"/>
            </a:xfrm>
            <a:prstGeom prst="roundRect">
              <a:avLst>
                <a:gd name="adj" fmla="val 820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2" name="Freeform 32"/>
            <p:cNvSpPr/>
            <p:nvPr/>
          </p:nvSpPr>
          <p:spPr>
            <a:xfrm>
              <a:off x="6305550" y="1352550"/>
              <a:ext cx="2552700" cy="1104900"/>
            </a:xfrm>
            <a:custGeom>
              <a:avLst/>
              <a:gdLst/>
              <a:ahLst/>
              <a:cxnLst/>
              <a:rect l="l" t="t" r="r" b="b"/>
              <a:pathLst>
                <a:path w="2552700" h="1104900">
                  <a:moveTo>
                    <a:pt x="209550" y="0"/>
                  </a:moveTo>
                  <a:lnTo>
                    <a:pt x="2343150" y="0"/>
                  </a:lnTo>
                  <a:cubicBezTo>
                    <a:pt x="2458881" y="0"/>
                    <a:pt x="2552700" y="93819"/>
                    <a:pt x="2552700" y="209550"/>
                  </a:cubicBezTo>
                  <a:lnTo>
                    <a:pt x="25527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72589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FFB703"/>
                  </a:solidFill>
                  <a:latin typeface="Trebuchet MS"/>
                  <a:ea typeface="Microsoft YaHei"/>
                  <a:cs typeface="Trebuchet MS"/>
                </a:rPr>
                <a:t>03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1427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幂等写入</a:t>
              </a:r>
            </a:p>
          </p:txBody>
        </p:sp>
        <p:grpSp>
          <p:nvGrpSpPr>
            <p:cNvPr id="37" name="Group 37"/>
            <p:cNvGrpSpPr/>
            <p:nvPr/>
          </p:nvGrpSpPr>
          <p:grpSpPr>
            <a:xfrm>
              <a:off x="6604397" y="2832497"/>
              <a:ext cx="278606" cy="278606"/>
              <a:chOff x="6604397" y="2832497"/>
              <a:chExt cx="278606" cy="278606"/>
            </a:xfrm>
          </p:grpSpPr>
          <p:sp>
            <p:nvSpPr>
              <p:cNvPr id="35" name="Freeform 35"/>
              <p:cNvSpPr/>
              <p:nvPr/>
            </p:nvSpPr>
            <p:spPr>
              <a:xfrm>
                <a:off x="6615112" y="2843212"/>
                <a:ext cx="257175" cy="257175"/>
              </a:xfrm>
              <a:custGeom>
                <a:avLst/>
                <a:gdLst/>
                <a:ahLst/>
                <a:cxnLst/>
                <a:rect l="l" t="t" r="r" b="b"/>
                <a:pathLst>
                  <a:path w="257175" h="257175">
                    <a:moveTo>
                      <a:pt x="257175" y="128588"/>
                    </a:moveTo>
                    <a:cubicBezTo>
                      <a:pt x="257175" y="199604"/>
                      <a:pt x="199604" y="257175"/>
                      <a:pt x="128588" y="257175"/>
                    </a:cubicBezTo>
                    <a:cubicBezTo>
                      <a:pt x="57571" y="257175"/>
                      <a:pt x="0" y="199604"/>
                      <a:pt x="0" y="128588"/>
                    </a:cubicBezTo>
                    <a:cubicBezTo>
                      <a:pt x="0" y="57571"/>
                      <a:pt x="57571" y="0"/>
                      <a:pt x="128588" y="0"/>
                    </a:cubicBezTo>
                    <a:cubicBezTo>
                      <a:pt x="199604" y="0"/>
                      <a:pt x="257175" y="57571"/>
                      <a:pt x="257175" y="128588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6" name="Freeform 36"/>
              <p:cNvSpPr/>
              <p:nvPr/>
            </p:nvSpPr>
            <p:spPr>
              <a:xfrm>
                <a:off x="6604397" y="2832497"/>
                <a:ext cx="278606" cy="278606"/>
              </a:xfrm>
              <a:custGeom>
                <a:avLst/>
                <a:gdLst/>
                <a:ahLst/>
                <a:cxnLst/>
                <a:rect l="l" t="t" r="r" b="b"/>
                <a:pathLst>
                  <a:path w="278606" h="278606">
                    <a:moveTo>
                      <a:pt x="200463" y="99575"/>
                    </a:moveTo>
                    <a:cubicBezTo>
                      <a:pt x="202475" y="101585"/>
                      <a:pt x="203605" y="104312"/>
                      <a:pt x="203605" y="107156"/>
                    </a:cubicBezTo>
                    <a:cubicBezTo>
                      <a:pt x="203605" y="110000"/>
                      <a:pt x="202475" y="112728"/>
                      <a:pt x="200463" y="114738"/>
                    </a:cubicBezTo>
                    <a:lnTo>
                      <a:pt x="125453" y="189747"/>
                    </a:lnTo>
                    <a:cubicBezTo>
                      <a:pt x="123443" y="191759"/>
                      <a:pt x="120716" y="192890"/>
                      <a:pt x="117872" y="192890"/>
                    </a:cubicBezTo>
                    <a:cubicBezTo>
                      <a:pt x="115028" y="192890"/>
                      <a:pt x="112300" y="191759"/>
                      <a:pt x="110291" y="189747"/>
                    </a:cubicBezTo>
                    <a:lnTo>
                      <a:pt x="78144" y="157600"/>
                    </a:lnTo>
                    <a:cubicBezTo>
                      <a:pt x="73957" y="153413"/>
                      <a:pt x="73957" y="146624"/>
                      <a:pt x="78144" y="142437"/>
                    </a:cubicBezTo>
                    <a:cubicBezTo>
                      <a:pt x="82331" y="138250"/>
                      <a:pt x="89119" y="138250"/>
                      <a:pt x="93306" y="142437"/>
                    </a:cubicBezTo>
                    <a:lnTo>
                      <a:pt x="117872" y="167016"/>
                    </a:lnTo>
                    <a:lnTo>
                      <a:pt x="185300" y="99575"/>
                    </a:lnTo>
                    <a:cubicBezTo>
                      <a:pt x="187310" y="97563"/>
                      <a:pt x="190037" y="96432"/>
                      <a:pt x="192881" y="96432"/>
                    </a:cubicBezTo>
                    <a:cubicBezTo>
                      <a:pt x="195725" y="96432"/>
                      <a:pt x="198453" y="97563"/>
                      <a:pt x="200463" y="99575"/>
                    </a:cubicBezTo>
                    <a:close/>
                    <a:moveTo>
                      <a:pt x="278606" y="139303"/>
                    </a:moveTo>
                    <a:cubicBezTo>
                      <a:pt x="278606" y="216238"/>
                      <a:pt x="216238" y="278606"/>
                      <a:pt x="139303" y="278606"/>
                    </a:cubicBezTo>
                    <a:cubicBezTo>
                      <a:pt x="62368" y="278606"/>
                      <a:pt x="0" y="216238"/>
                      <a:pt x="0" y="139303"/>
                    </a:cubicBezTo>
                    <a:cubicBezTo>
                      <a:pt x="0" y="62368"/>
                      <a:pt x="62368" y="0"/>
                      <a:pt x="139303" y="0"/>
                    </a:cubicBezTo>
                    <a:cubicBezTo>
                      <a:pt x="216204" y="81"/>
                      <a:pt x="278525" y="62402"/>
                      <a:pt x="278606" y="139303"/>
                    </a:cubicBezTo>
                    <a:close/>
                    <a:moveTo>
                      <a:pt x="257175" y="139303"/>
                    </a:moveTo>
                    <a:cubicBezTo>
                      <a:pt x="257175" y="74204"/>
                      <a:pt x="204402" y="21431"/>
                      <a:pt x="139303" y="21431"/>
                    </a:cubicBezTo>
                    <a:cubicBezTo>
                      <a:pt x="74204" y="21431"/>
                      <a:pt x="21431" y="74204"/>
                      <a:pt x="21431" y="139303"/>
                    </a:cubicBezTo>
                    <a:cubicBezTo>
                      <a:pt x="21431" y="204402"/>
                      <a:pt x="74204" y="257175"/>
                      <a:pt x="139303" y="257175"/>
                    </a:cubicBezTo>
                    <a:cubicBezTo>
                      <a:pt x="204371" y="257101"/>
                      <a:pt x="257101" y="204371"/>
                      <a:pt x="257175" y="139303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38" name="TextBox 38"/>
            <p:cNvSpPr txBox="1"/>
            <p:nvPr/>
          </p:nvSpPr>
          <p:spPr>
            <a:xfrm>
              <a:off x="7033260" y="2861310"/>
              <a:ext cx="154266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移动网络重试也安全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577012" y="3345656"/>
              <a:ext cx="1600200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相同键和相同请求重放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原响应；相同键不同内容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返回 409。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6591300" y="4972050"/>
              <a:ext cx="19812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921782" y="5117306"/>
              <a:ext cx="1320236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Consolas"/>
                  <a:ea typeface="Microsoft YaHei"/>
                  <a:cs typeface="Consolas"/>
                </a:rPr>
                <a:t>Idempotency-Key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9124950" y="1352550"/>
            <a:ext cx="2400300" cy="4648200"/>
            <a:chOff x="9124950" y="1352550"/>
            <a:chExt cx="2400300" cy="4648200"/>
          </a:xfrm>
        </p:grpSpPr>
        <p:sp>
          <p:nvSpPr>
            <p:cNvPr id="43" name="Rectangle 43"/>
            <p:cNvSpPr/>
            <p:nvPr/>
          </p:nvSpPr>
          <p:spPr>
            <a:xfrm>
              <a:off x="9124950" y="1352550"/>
              <a:ext cx="2400300" cy="4648200"/>
            </a:xfrm>
            <a:prstGeom prst="roundRect">
              <a:avLst>
                <a:gd name="adj" fmla="val 873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4" name="Freeform 44"/>
            <p:cNvSpPr/>
            <p:nvPr/>
          </p:nvSpPr>
          <p:spPr>
            <a:xfrm>
              <a:off x="9124950" y="1352550"/>
              <a:ext cx="2400300" cy="1104900"/>
            </a:xfrm>
            <a:custGeom>
              <a:avLst/>
              <a:gdLst/>
              <a:ahLst/>
              <a:cxnLst/>
              <a:rect l="l" t="t" r="r" b="b"/>
              <a:pathLst>
                <a:path w="2400300" h="1104900">
                  <a:moveTo>
                    <a:pt x="209550" y="0"/>
                  </a:moveTo>
                  <a:lnTo>
                    <a:pt x="2190750" y="0"/>
                  </a:lnTo>
                  <a:cubicBezTo>
                    <a:pt x="2306481" y="0"/>
                    <a:pt x="2400300" y="93819"/>
                    <a:pt x="2400300" y="209550"/>
                  </a:cubicBezTo>
                  <a:lnTo>
                    <a:pt x="2400300" y="1104900"/>
                  </a:lnTo>
                  <a:lnTo>
                    <a:pt x="0" y="1104900"/>
                  </a:lnTo>
                  <a:lnTo>
                    <a:pt x="0" y="209550"/>
                  </a:lnTo>
                  <a:cubicBezTo>
                    <a:pt x="0" y="93819"/>
                    <a:pt x="93819" y="0"/>
                    <a:pt x="209550" y="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10002145" y="15354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3600" b="1" dirty="0">
                  <a:solidFill>
                    <a:srgbClr val="1F8A70"/>
                  </a:solidFill>
                  <a:latin typeface="Trebuchet MS"/>
                  <a:ea typeface="Microsoft YaHei"/>
                  <a:cs typeface="Trebuchet MS"/>
                </a:rPr>
                <a:t>04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9885998" y="2105025"/>
              <a:ext cx="878205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统一错误</a:t>
              </a:r>
            </a:p>
          </p:txBody>
        </p:sp>
        <p:grpSp>
          <p:nvGrpSpPr>
            <p:cNvPr id="49" name="Group 49"/>
            <p:cNvGrpSpPr/>
            <p:nvPr/>
          </p:nvGrpSpPr>
          <p:grpSpPr>
            <a:xfrm>
              <a:off x="9404738" y="2831444"/>
              <a:ext cx="257183" cy="258228"/>
              <a:chOff x="9404738" y="2831444"/>
              <a:chExt cx="257183" cy="258228"/>
            </a:xfrm>
          </p:grpSpPr>
          <p:sp>
            <p:nvSpPr>
              <p:cNvPr id="47" name="Freeform 47"/>
              <p:cNvSpPr/>
              <p:nvPr/>
            </p:nvSpPr>
            <p:spPr>
              <a:xfrm>
                <a:off x="9436894" y="286464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10716"/>
                    </a:moveTo>
                    <a:lnTo>
                      <a:pt x="214312" y="203597"/>
                    </a:lnTo>
                    <a:cubicBezTo>
                      <a:pt x="214312" y="209515"/>
                      <a:pt x="209515" y="214312"/>
                      <a:pt x="203597" y="214312"/>
                    </a:cubicBezTo>
                    <a:lnTo>
                      <a:pt x="10716" y="214312"/>
                    </a:lnTo>
                    <a:cubicBezTo>
                      <a:pt x="4798" y="214312"/>
                      <a:pt x="0" y="209515"/>
                      <a:pt x="0" y="203597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03597" y="0"/>
                    </a:lnTo>
                    <a:cubicBezTo>
                      <a:pt x="209515" y="0"/>
                      <a:pt x="214312" y="4798"/>
                      <a:pt x="214312" y="10716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8" name="Freeform 48"/>
              <p:cNvSpPr/>
              <p:nvPr/>
            </p:nvSpPr>
            <p:spPr>
              <a:xfrm>
                <a:off x="9404738" y="2831444"/>
                <a:ext cx="257183" cy="258228"/>
              </a:xfrm>
              <a:custGeom>
                <a:avLst/>
                <a:gdLst/>
                <a:ahLst/>
                <a:cxnLst/>
                <a:rect l="l" t="t" r="r" b="b"/>
                <a:pathLst>
                  <a:path w="257183" h="258228">
                    <a:moveTo>
                      <a:pt x="46005" y="105075"/>
                    </a:moveTo>
                    <a:lnTo>
                      <a:pt x="3143" y="62212"/>
                    </a:lnTo>
                    <a:cubicBezTo>
                      <a:pt x="1131" y="60202"/>
                      <a:pt x="0" y="57475"/>
                      <a:pt x="0" y="54631"/>
                    </a:cubicBezTo>
                    <a:cubicBezTo>
                      <a:pt x="0" y="51787"/>
                      <a:pt x="1131" y="49059"/>
                      <a:pt x="3143" y="47050"/>
                    </a:cubicBezTo>
                    <a:lnTo>
                      <a:pt x="46005" y="4187"/>
                    </a:lnTo>
                    <a:cubicBezTo>
                      <a:pt x="50192" y="0"/>
                      <a:pt x="56981" y="0"/>
                      <a:pt x="61168" y="4187"/>
                    </a:cubicBezTo>
                    <a:cubicBezTo>
                      <a:pt x="65355" y="8374"/>
                      <a:pt x="65355" y="15163"/>
                      <a:pt x="61168" y="19350"/>
                    </a:cubicBezTo>
                    <a:lnTo>
                      <a:pt x="25873" y="54631"/>
                    </a:lnTo>
                    <a:lnTo>
                      <a:pt x="61168" y="89912"/>
                    </a:lnTo>
                    <a:cubicBezTo>
                      <a:pt x="65355" y="94099"/>
                      <a:pt x="65355" y="100888"/>
                      <a:pt x="61168" y="105075"/>
                    </a:cubicBezTo>
                    <a:cubicBezTo>
                      <a:pt x="56981" y="109262"/>
                      <a:pt x="50192" y="109262"/>
                      <a:pt x="46005" y="105075"/>
                    </a:cubicBezTo>
                    <a:close/>
                    <a:moveTo>
                      <a:pt x="99583" y="105075"/>
                    </a:moveTo>
                    <a:cubicBezTo>
                      <a:pt x="101593" y="107087"/>
                      <a:pt x="104321" y="108217"/>
                      <a:pt x="107165" y="108217"/>
                    </a:cubicBezTo>
                    <a:cubicBezTo>
                      <a:pt x="110009" y="108217"/>
                      <a:pt x="112736" y="107087"/>
                      <a:pt x="114746" y="105075"/>
                    </a:cubicBezTo>
                    <a:lnTo>
                      <a:pt x="157608" y="62212"/>
                    </a:lnTo>
                    <a:cubicBezTo>
                      <a:pt x="159621" y="60202"/>
                      <a:pt x="160751" y="57475"/>
                      <a:pt x="160751" y="54631"/>
                    </a:cubicBezTo>
                    <a:cubicBezTo>
                      <a:pt x="160751" y="51787"/>
                      <a:pt x="159621" y="49059"/>
                      <a:pt x="157608" y="47050"/>
                    </a:cubicBezTo>
                    <a:lnTo>
                      <a:pt x="114746" y="4187"/>
                    </a:lnTo>
                    <a:cubicBezTo>
                      <a:pt x="110559" y="0"/>
                      <a:pt x="103770" y="0"/>
                      <a:pt x="99583" y="4187"/>
                    </a:cubicBezTo>
                    <a:cubicBezTo>
                      <a:pt x="95396" y="8374"/>
                      <a:pt x="95396" y="15163"/>
                      <a:pt x="99583" y="19350"/>
                    </a:cubicBezTo>
                    <a:lnTo>
                      <a:pt x="134878" y="54631"/>
                    </a:lnTo>
                    <a:lnTo>
                      <a:pt x="99583" y="89912"/>
                    </a:lnTo>
                    <a:cubicBezTo>
                      <a:pt x="97571" y="91922"/>
                      <a:pt x="96441" y="94649"/>
                      <a:pt x="96441" y="97493"/>
                    </a:cubicBezTo>
                    <a:cubicBezTo>
                      <a:pt x="96441" y="100337"/>
                      <a:pt x="97571" y="103065"/>
                      <a:pt x="99583" y="105075"/>
                    </a:cubicBezTo>
                    <a:close/>
                    <a:moveTo>
                      <a:pt x="235752" y="22484"/>
                    </a:moveTo>
                    <a:lnTo>
                      <a:pt x="203605" y="22484"/>
                    </a:lnTo>
                    <a:cubicBezTo>
                      <a:pt x="197687" y="22484"/>
                      <a:pt x="192890" y="27282"/>
                      <a:pt x="192890" y="33200"/>
                    </a:cubicBezTo>
                    <a:cubicBezTo>
                      <a:pt x="192890" y="39118"/>
                      <a:pt x="197687" y="43915"/>
                      <a:pt x="203605" y="43915"/>
                    </a:cubicBezTo>
                    <a:lnTo>
                      <a:pt x="235752" y="43915"/>
                    </a:lnTo>
                    <a:lnTo>
                      <a:pt x="235752" y="236796"/>
                    </a:lnTo>
                    <a:lnTo>
                      <a:pt x="42871" y="236796"/>
                    </a:lnTo>
                    <a:lnTo>
                      <a:pt x="42871" y="151071"/>
                    </a:lnTo>
                    <a:cubicBezTo>
                      <a:pt x="42871" y="145153"/>
                      <a:pt x="38073" y="140356"/>
                      <a:pt x="32155" y="140356"/>
                    </a:cubicBezTo>
                    <a:cubicBezTo>
                      <a:pt x="26237" y="140356"/>
                      <a:pt x="21440" y="145153"/>
                      <a:pt x="21440" y="151071"/>
                    </a:cubicBezTo>
                    <a:lnTo>
                      <a:pt x="21440" y="236796"/>
                    </a:lnTo>
                    <a:cubicBezTo>
                      <a:pt x="21440" y="248633"/>
                      <a:pt x="31035" y="258228"/>
                      <a:pt x="42871" y="258228"/>
                    </a:cubicBezTo>
                    <a:lnTo>
                      <a:pt x="235752" y="258228"/>
                    </a:lnTo>
                    <a:cubicBezTo>
                      <a:pt x="247588" y="258228"/>
                      <a:pt x="257183" y="248633"/>
                      <a:pt x="257183" y="236796"/>
                    </a:cubicBezTo>
                    <a:lnTo>
                      <a:pt x="257183" y="43915"/>
                    </a:lnTo>
                    <a:cubicBezTo>
                      <a:pt x="257183" y="32079"/>
                      <a:pt x="247588" y="22484"/>
                      <a:pt x="235752" y="22484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50" name="TextBox 50"/>
            <p:cNvSpPr txBox="1"/>
            <p:nvPr/>
          </p:nvSpPr>
          <p:spPr>
            <a:xfrm>
              <a:off x="9833610" y="2861310"/>
              <a:ext cx="1282236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Problem Details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358312" y="3345656"/>
              <a:ext cx="1457325" cy="72390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950"/>
                </a:lnSpc>
              </a:pP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客户端稳定展示错误，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服务端通过请求 ID</a:t>
              </a:r>
              <a:r>
                <a:rPr lang="zh-CN" sz="112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关联日志和排查。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9372600" y="4972050"/>
              <a:ext cx="1905000" cy="419100"/>
            </a:xfrm>
            <a:prstGeom prst="roundRect">
              <a:avLst>
                <a:gd name="adj" fmla="val 31818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763432" y="5117306"/>
              <a:ext cx="1123337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3A86FF"/>
                  </a:solidFill>
                  <a:latin typeface="Consolas"/>
                  <a:ea typeface="Microsoft YaHei"/>
                  <a:cs typeface="Consolas"/>
                </a:rPr>
                <a:t>RFC 9457 style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521018" y="6466999"/>
            <a:ext cx="4393311" cy="198120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975" dirty="0">
                <a:solidFill>
                  <a:srgbClr val="74807C"/>
                </a:solidFill>
                <a:latin typeface="Arial"/>
                <a:ea typeface="Microsoft YaHei"/>
                <a:cs typeface="Arial"/>
              </a:rPr>
              <a:t>API design · reliability details that judges can verify in code and docs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6"/>
          <p:cNvGrpSpPr/>
          <p:nvPr/>
        </p:nvGrpSpPr>
        <p:grpSpPr>
          <a:xfrm>
            <a:off x="0" y="0"/>
            <a:ext cx="12192000" cy="6877050"/>
            <a:chOff x="0" y="0"/>
            <a:chExt cx="12192000" cy="68770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2952750" y="590550"/>
              <a:ext cx="6286500" cy="62865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3752850" y="1390650"/>
              <a:ext cx="4686300" cy="4686300"/>
            </a:xfrm>
            <a:prstGeom prst="ellipse">
              <a:avLst/>
            </a:prstGeom>
            <a:noFill/>
            <a:ln w="19050">
              <a:solidFill>
                <a:srgbClr val="BFD9CC"/>
              </a:solidFill>
              <a:prstDash val="lgDash"/>
            </a:ln>
          </p:spPr>
        </p:sp>
        <p:sp>
          <p:nvSpPr>
            <p:cNvPr id="5" name="Ellipse 5"/>
            <p:cNvSpPr/>
            <p:nvPr/>
          </p:nvSpPr>
          <p:spPr>
            <a:xfrm>
              <a:off x="4629150" y="2266950"/>
              <a:ext cx="2933700" cy="2933700"/>
            </a:xfrm>
            <a:prstGeom prst="ellipse">
              <a:avLst/>
            </a:prstGeom>
            <a:noFill/>
            <a:ln w="19050">
              <a:solidFill>
                <a:srgbClr val="DCEBE3"/>
              </a:solidFill>
            </a:ln>
          </p:spPr>
        </p:sp>
      </p:grpSp>
      <p:grpSp>
        <p:nvGrpSpPr>
          <p:cNvPr id="10" name="Group 10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7" name="TextBox 7"/>
            <p:cNvSpPr txBox="1"/>
            <p:nvPr/>
          </p:nvSpPr>
          <p:spPr>
            <a:xfrm>
              <a:off x="501015" y="334328"/>
              <a:ext cx="2724752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把 AI 放进边界里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518160" y="784860"/>
              <a:ext cx="4903089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敏感身份、原始搜索、评价原文和私有缓存不直接进入模型路径。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13 / 16</a:t>
              </a:r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3600450" y="1504950"/>
            <a:ext cx="4991100" cy="3638550"/>
            <a:chOff x="3600450" y="1504950"/>
            <a:chExt cx="4991100" cy="3638550"/>
          </a:xfrm>
        </p:grpSpPr>
        <p:sp>
          <p:nvSpPr>
            <p:cNvPr id="11" name="Line 11"/>
            <p:cNvSpPr/>
            <p:nvPr/>
          </p:nvSpPr>
          <p:spPr>
            <a:xfrm>
              <a:off x="6096000" y="1504950"/>
              <a:ext cx="9525" cy="2228850"/>
            </a:xfrm>
            <a:custGeom>
              <a:avLst/>
              <a:gdLst/>
              <a:ahLst/>
              <a:cxnLst/>
              <a:rect l="l" t="t" r="r" b="b"/>
              <a:pathLst>
                <a:path w="9525" h="2228850">
                  <a:moveTo>
                    <a:pt x="0" y="22288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2" name="Line 12"/>
            <p:cNvSpPr/>
            <p:nvPr/>
          </p:nvSpPr>
          <p:spPr>
            <a:xfrm>
              <a:off x="6096000" y="2533650"/>
              <a:ext cx="2495550" cy="1200150"/>
            </a:xfrm>
            <a:custGeom>
              <a:avLst/>
              <a:gdLst/>
              <a:ahLst/>
              <a:cxnLst/>
              <a:rect l="l" t="t" r="r" b="b"/>
              <a:pathLst>
                <a:path w="2495550" h="1200150">
                  <a:moveTo>
                    <a:pt x="0" y="1200150"/>
                  </a:moveTo>
                  <a:lnTo>
                    <a:pt x="2495550" y="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3" name="Line 13"/>
            <p:cNvSpPr/>
            <p:nvPr/>
          </p:nvSpPr>
          <p:spPr>
            <a:xfrm>
              <a:off x="6096000" y="3733800"/>
              <a:ext cx="2324100" cy="1409700"/>
            </a:xfrm>
            <a:custGeom>
              <a:avLst/>
              <a:gdLst/>
              <a:ahLst/>
              <a:cxnLst/>
              <a:rect l="l" t="t" r="r" b="b"/>
              <a:pathLst>
                <a:path w="2324100" h="1409700">
                  <a:moveTo>
                    <a:pt x="0" y="0"/>
                  </a:moveTo>
                  <a:lnTo>
                    <a:pt x="2324100" y="140970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4" name="Line 14"/>
            <p:cNvSpPr/>
            <p:nvPr/>
          </p:nvSpPr>
          <p:spPr>
            <a:xfrm>
              <a:off x="3771900" y="3733800"/>
              <a:ext cx="2324100" cy="1409700"/>
            </a:xfrm>
            <a:custGeom>
              <a:avLst/>
              <a:gdLst/>
              <a:ahLst/>
              <a:cxnLst/>
              <a:rect l="l" t="t" r="r" b="b"/>
              <a:pathLst>
                <a:path w="2324100" h="1409700">
                  <a:moveTo>
                    <a:pt x="2324100" y="0"/>
                  </a:moveTo>
                  <a:lnTo>
                    <a:pt x="0" y="140970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  <p:sp>
          <p:nvSpPr>
            <p:cNvPr id="15" name="Line 15"/>
            <p:cNvSpPr/>
            <p:nvPr/>
          </p:nvSpPr>
          <p:spPr>
            <a:xfrm>
              <a:off x="3600450" y="2533650"/>
              <a:ext cx="2495550" cy="1200150"/>
            </a:xfrm>
            <a:custGeom>
              <a:avLst/>
              <a:gdLst/>
              <a:ahLst/>
              <a:cxnLst/>
              <a:rect l="l" t="t" r="r" b="b"/>
              <a:pathLst>
                <a:path w="2495550" h="1200150">
                  <a:moveTo>
                    <a:pt x="2495550" y="1200150"/>
                  </a:moveTo>
                  <a:lnTo>
                    <a:pt x="0" y="0"/>
                  </a:lnTo>
                </a:path>
              </a:pathLst>
            </a:custGeom>
            <a:noFill/>
            <a:ln w="19050">
              <a:solidFill>
                <a:srgbClr val="BFD9CC"/>
              </a:solidFill>
              <a:custDash>
                <a:ds d="300000" sp="400000"/>
              </a:custDash>
            </a:ln>
          </p:spPr>
        </p:sp>
      </p:grpSp>
      <p:grpSp>
        <p:nvGrpSpPr>
          <p:cNvPr id="23" name="Group 23"/>
          <p:cNvGrpSpPr/>
          <p:nvPr/>
        </p:nvGrpSpPr>
        <p:grpSpPr>
          <a:xfrm>
            <a:off x="5181600" y="2819400"/>
            <a:ext cx="1828800" cy="1828800"/>
            <a:chOff x="5181600" y="2819400"/>
            <a:chExt cx="1828800" cy="1828800"/>
          </a:xfrm>
        </p:grpSpPr>
        <p:sp>
          <p:nvSpPr>
            <p:cNvPr id="17" name="Ellipse 17"/>
            <p:cNvSpPr/>
            <p:nvPr/>
          </p:nvSpPr>
          <p:spPr>
            <a:xfrm>
              <a:off x="5181600" y="2819400"/>
              <a:ext cx="1828800" cy="1828800"/>
            </a:xfrm>
            <a:prstGeom prst="ellipse">
              <a:avLst/>
            </a:prstGeom>
            <a:gradFill>
              <a:gsLst>
                <a:gs pos="0">
                  <a:srgbClr val="1F8A70"/>
                </a:gs>
                <a:gs pos="100000">
                  <a:srgbClr val="3A86FF"/>
                </a:gs>
              </a:gsLst>
              <a:lin ang="2700000" scaled="1"/>
            </a:gradFill>
            <a:ln>
              <a:noFill/>
            </a:ln>
          </p:spPr>
        </p:sp>
        <p:sp>
          <p:nvSpPr>
            <p:cNvPr id="18" name="Ellipse 18"/>
            <p:cNvSpPr/>
            <p:nvPr/>
          </p:nvSpPr>
          <p:spPr>
            <a:xfrm>
              <a:off x="5353050" y="2990850"/>
              <a:ext cx="1485900" cy="1485900"/>
            </a:xfrm>
            <a:prstGeom prst="ellipse">
              <a:avLst/>
            </a:prstGeom>
            <a:noFill/>
            <a:ln w="19050">
              <a:solidFill>
                <a:srgbClr val="FFFFFF">
                  <a:alpha val="45000"/>
                </a:srgbClr>
              </a:solidFill>
            </a:ln>
          </p:spPr>
        </p:sp>
        <p:grpSp>
          <p:nvGrpSpPr>
            <p:cNvPr id="21" name="Group 21"/>
            <p:cNvGrpSpPr/>
            <p:nvPr/>
          </p:nvGrpSpPr>
          <p:grpSpPr>
            <a:xfrm>
              <a:off x="5767388" y="3280172"/>
              <a:ext cx="657225" cy="685542"/>
              <a:chOff x="5767388" y="3280172"/>
              <a:chExt cx="657225" cy="685542"/>
            </a:xfrm>
          </p:grpSpPr>
          <p:sp>
            <p:nvSpPr>
              <p:cNvPr id="19" name="Freeform 19"/>
              <p:cNvSpPr/>
              <p:nvPr/>
            </p:nvSpPr>
            <p:spPr>
              <a:xfrm>
                <a:off x="5794772" y="3307556"/>
                <a:ext cx="602456" cy="630252"/>
              </a:xfrm>
              <a:custGeom>
                <a:avLst/>
                <a:gdLst/>
                <a:ahLst/>
                <a:cxnLst/>
                <a:rect l="l" t="t" r="r" b="b"/>
                <a:pathLst>
                  <a:path w="602456" h="630252">
                    <a:moveTo>
                      <a:pt x="602456" y="27384"/>
                    </a:moveTo>
                    <a:lnTo>
                      <a:pt x="602456" y="228557"/>
                    </a:lnTo>
                    <a:cubicBezTo>
                      <a:pt x="602456" y="516709"/>
                      <a:pt x="358359" y="612178"/>
                      <a:pt x="309649" y="628369"/>
                    </a:cubicBezTo>
                    <a:cubicBezTo>
                      <a:pt x="304193" y="630252"/>
                      <a:pt x="298263" y="630252"/>
                      <a:pt x="292807" y="628369"/>
                    </a:cubicBezTo>
                    <a:cubicBezTo>
                      <a:pt x="244097" y="612246"/>
                      <a:pt x="0" y="516880"/>
                      <a:pt x="0" y="228625"/>
                    </a:cubicBezTo>
                    <a:lnTo>
                      <a:pt x="0" y="27384"/>
                    </a:lnTo>
                    <a:cubicBezTo>
                      <a:pt x="0" y="12260"/>
                      <a:pt x="12260" y="0"/>
                      <a:pt x="27384" y="0"/>
                    </a:cubicBezTo>
                    <a:lnTo>
                      <a:pt x="575072" y="0"/>
                    </a:lnTo>
                    <a:cubicBezTo>
                      <a:pt x="590196" y="0"/>
                      <a:pt x="602456" y="12260"/>
                      <a:pt x="602456" y="27384"/>
                    </a:cubicBez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0" name="Freeform 20"/>
              <p:cNvSpPr/>
              <p:nvPr/>
            </p:nvSpPr>
            <p:spPr>
              <a:xfrm>
                <a:off x="5767388" y="3280172"/>
                <a:ext cx="657225" cy="685542"/>
              </a:xfrm>
              <a:custGeom>
                <a:avLst/>
                <a:gdLst/>
                <a:ahLst/>
                <a:cxnLst/>
                <a:rect l="l" t="t" r="r" b="b"/>
                <a:pathLst>
                  <a:path w="657225" h="685542">
                    <a:moveTo>
                      <a:pt x="602456" y="0"/>
                    </a:moveTo>
                    <a:lnTo>
                      <a:pt x="54769" y="0"/>
                    </a:lnTo>
                    <a:cubicBezTo>
                      <a:pt x="24521" y="0"/>
                      <a:pt x="0" y="24521"/>
                      <a:pt x="0" y="54769"/>
                    </a:cubicBezTo>
                    <a:lnTo>
                      <a:pt x="0" y="255975"/>
                    </a:lnTo>
                    <a:cubicBezTo>
                      <a:pt x="0" y="562715"/>
                      <a:pt x="259535" y="664482"/>
                      <a:pt x="311497" y="681768"/>
                    </a:cubicBezTo>
                    <a:cubicBezTo>
                      <a:pt x="322595" y="685542"/>
                      <a:pt x="334630" y="685542"/>
                      <a:pt x="345728" y="681768"/>
                    </a:cubicBezTo>
                    <a:cubicBezTo>
                      <a:pt x="397758" y="664482"/>
                      <a:pt x="657225" y="562715"/>
                      <a:pt x="657225" y="255975"/>
                    </a:cubicBezTo>
                    <a:lnTo>
                      <a:pt x="657225" y="54769"/>
                    </a:lnTo>
                    <a:cubicBezTo>
                      <a:pt x="657225" y="24521"/>
                      <a:pt x="632704" y="0"/>
                      <a:pt x="602456" y="0"/>
                    </a:cubicBezTo>
                    <a:close/>
                    <a:moveTo>
                      <a:pt x="602456" y="256010"/>
                    </a:moveTo>
                    <a:cubicBezTo>
                      <a:pt x="602456" y="524445"/>
                      <a:pt x="375337" y="614129"/>
                      <a:pt x="328612" y="629738"/>
                    </a:cubicBezTo>
                    <a:cubicBezTo>
                      <a:pt x="282299" y="614300"/>
                      <a:pt x="54769" y="524685"/>
                      <a:pt x="54769" y="256010"/>
                    </a:cubicBezTo>
                    <a:lnTo>
                      <a:pt x="54769" y="54769"/>
                    </a:lnTo>
                    <a:lnTo>
                      <a:pt x="602456" y="54769"/>
                    </a:lnTo>
                    <a:close/>
                    <a:moveTo>
                      <a:pt x="172316" y="347987"/>
                    </a:moveTo>
                    <a:cubicBezTo>
                      <a:pt x="161616" y="337287"/>
                      <a:pt x="161616" y="319938"/>
                      <a:pt x="172316" y="309238"/>
                    </a:cubicBezTo>
                    <a:cubicBezTo>
                      <a:pt x="183016" y="298538"/>
                      <a:pt x="200365" y="298538"/>
                      <a:pt x="211065" y="309238"/>
                    </a:cubicBezTo>
                    <a:lnTo>
                      <a:pt x="273844" y="372017"/>
                    </a:lnTo>
                    <a:lnTo>
                      <a:pt x="446160" y="199701"/>
                    </a:lnTo>
                    <a:cubicBezTo>
                      <a:pt x="456860" y="189000"/>
                      <a:pt x="474209" y="189000"/>
                      <a:pt x="484909" y="199701"/>
                    </a:cubicBezTo>
                    <a:cubicBezTo>
                      <a:pt x="495609" y="210401"/>
                      <a:pt x="495609" y="227749"/>
                      <a:pt x="484909" y="238449"/>
                    </a:cubicBezTo>
                    <a:lnTo>
                      <a:pt x="293218" y="430140"/>
                    </a:lnTo>
                    <a:cubicBezTo>
                      <a:pt x="288082" y="435282"/>
                      <a:pt x="281112" y="438172"/>
                      <a:pt x="273844" y="438172"/>
                    </a:cubicBezTo>
                    <a:cubicBezTo>
                      <a:pt x="266576" y="438172"/>
                      <a:pt x="259606" y="435282"/>
                      <a:pt x="254469" y="43014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22" name="TextBox 22"/>
            <p:cNvSpPr txBox="1"/>
            <p:nvPr/>
          </p:nvSpPr>
          <p:spPr>
            <a:xfrm>
              <a:off x="5612987" y="4146232"/>
              <a:ext cx="966026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安全边界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4953000" y="1066800"/>
            <a:ext cx="2353628" cy="876300"/>
            <a:chOff x="4953000" y="1066800"/>
            <a:chExt cx="2353628" cy="876300"/>
          </a:xfrm>
        </p:grpSpPr>
        <p:sp>
          <p:nvSpPr>
            <p:cNvPr id="24" name="Rectangle 24"/>
            <p:cNvSpPr/>
            <p:nvPr/>
          </p:nvSpPr>
          <p:spPr>
            <a:xfrm>
              <a:off x="4953000" y="1066800"/>
              <a:ext cx="228600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5264944" y="1325761"/>
              <a:ext cx="271463" cy="305396"/>
              <a:chOff x="5264944" y="1325761"/>
              <a:chExt cx="271463" cy="305396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5276255" y="1438871"/>
                <a:ext cx="248841" cy="180976"/>
              </a:xfrm>
              <a:custGeom>
                <a:avLst/>
                <a:gdLst/>
                <a:ahLst/>
                <a:cxnLst/>
                <a:rect l="l" t="t" r="r" b="b"/>
                <a:pathLst>
                  <a:path w="248841" h="180976">
                    <a:moveTo>
                      <a:pt x="237530" y="0"/>
                    </a:moveTo>
                    <a:lnTo>
                      <a:pt x="11311" y="0"/>
                    </a:lnTo>
                    <a:cubicBezTo>
                      <a:pt x="5064" y="0"/>
                      <a:pt x="0" y="5064"/>
                      <a:pt x="0" y="11311"/>
                    </a:cubicBezTo>
                    <a:lnTo>
                      <a:pt x="0" y="169665"/>
                    </a:lnTo>
                    <a:cubicBezTo>
                      <a:pt x="0" y="175912"/>
                      <a:pt x="5064" y="180976"/>
                      <a:pt x="11311" y="180976"/>
                    </a:cubicBezTo>
                    <a:lnTo>
                      <a:pt x="237530" y="180976"/>
                    </a:lnTo>
                    <a:cubicBezTo>
                      <a:pt x="243777" y="180976"/>
                      <a:pt x="248841" y="175912"/>
                      <a:pt x="248841" y="169665"/>
                    </a:cubicBezTo>
                    <a:lnTo>
                      <a:pt x="248841" y="11311"/>
                    </a:lnTo>
                    <a:cubicBezTo>
                      <a:pt x="248841" y="5064"/>
                      <a:pt x="243777" y="0"/>
                      <a:pt x="237530" y="0"/>
                    </a:cubicBezTo>
                    <a:close/>
                    <a:moveTo>
                      <a:pt x="124421" y="101799"/>
                    </a:moveTo>
                    <a:cubicBezTo>
                      <a:pt x="108804" y="101799"/>
                      <a:pt x="96143" y="89139"/>
                      <a:pt x="96143" y="73521"/>
                    </a:cubicBezTo>
                    <a:cubicBezTo>
                      <a:pt x="96143" y="57904"/>
                      <a:pt x="108804" y="45244"/>
                      <a:pt x="124421" y="45244"/>
                    </a:cubicBezTo>
                    <a:cubicBezTo>
                      <a:pt x="140038" y="45244"/>
                      <a:pt x="152698" y="57904"/>
                      <a:pt x="152698" y="73521"/>
                    </a:cubicBezTo>
                    <a:cubicBezTo>
                      <a:pt x="152698" y="89139"/>
                      <a:pt x="140038" y="101799"/>
                      <a:pt x="124421" y="101799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5264944" y="1325761"/>
                <a:ext cx="271463" cy="305396"/>
              </a:xfrm>
              <a:custGeom>
                <a:avLst/>
                <a:gdLst/>
                <a:ahLst/>
                <a:cxnLst/>
                <a:rect l="l" t="t" r="r" b="b"/>
                <a:pathLst>
                  <a:path w="271463" h="305396">
                    <a:moveTo>
                      <a:pt x="248841" y="101799"/>
                    </a:moveTo>
                    <a:lnTo>
                      <a:pt x="203598" y="101799"/>
                    </a:lnTo>
                    <a:lnTo>
                      <a:pt x="203598" y="67866"/>
                    </a:lnTo>
                    <a:cubicBezTo>
                      <a:pt x="203598" y="30385"/>
                      <a:pt x="173213" y="0"/>
                      <a:pt x="135732" y="0"/>
                    </a:cubicBezTo>
                    <a:cubicBezTo>
                      <a:pt x="98250" y="0"/>
                      <a:pt x="67866" y="30385"/>
                      <a:pt x="67866" y="67866"/>
                    </a:cubicBezTo>
                    <a:lnTo>
                      <a:pt x="67866" y="101799"/>
                    </a:lnTo>
                    <a:lnTo>
                      <a:pt x="22622" y="101799"/>
                    </a:lnTo>
                    <a:cubicBezTo>
                      <a:pt x="10128" y="101799"/>
                      <a:pt x="0" y="111927"/>
                      <a:pt x="0" y="124421"/>
                    </a:cubicBezTo>
                    <a:lnTo>
                      <a:pt x="0" y="282774"/>
                    </a:lnTo>
                    <a:cubicBezTo>
                      <a:pt x="0" y="295268"/>
                      <a:pt x="10128" y="305396"/>
                      <a:pt x="22622" y="305396"/>
                    </a:cubicBezTo>
                    <a:lnTo>
                      <a:pt x="248841" y="305396"/>
                    </a:lnTo>
                    <a:cubicBezTo>
                      <a:pt x="261335" y="305396"/>
                      <a:pt x="271463" y="295268"/>
                      <a:pt x="271463" y="282774"/>
                    </a:cubicBezTo>
                    <a:lnTo>
                      <a:pt x="271463" y="124421"/>
                    </a:lnTo>
                    <a:cubicBezTo>
                      <a:pt x="271463" y="111927"/>
                      <a:pt x="261335" y="101799"/>
                      <a:pt x="248841" y="101799"/>
                    </a:cubicBezTo>
                    <a:close/>
                    <a:moveTo>
                      <a:pt x="90488" y="67866"/>
                    </a:moveTo>
                    <a:cubicBezTo>
                      <a:pt x="90488" y="42878"/>
                      <a:pt x="110744" y="22622"/>
                      <a:pt x="135732" y="22622"/>
                    </a:cubicBezTo>
                    <a:cubicBezTo>
                      <a:pt x="160719" y="22622"/>
                      <a:pt x="180976" y="42878"/>
                      <a:pt x="180976" y="67866"/>
                    </a:cubicBezTo>
                    <a:lnTo>
                      <a:pt x="180976" y="101799"/>
                    </a:lnTo>
                    <a:lnTo>
                      <a:pt x="90488" y="101799"/>
                    </a:lnTo>
                    <a:close/>
                    <a:moveTo>
                      <a:pt x="248841" y="282774"/>
                    </a:moveTo>
                    <a:lnTo>
                      <a:pt x="22622" y="282774"/>
                    </a:lnTo>
                    <a:lnTo>
                      <a:pt x="22622" y="124421"/>
                    </a:lnTo>
                    <a:lnTo>
                      <a:pt x="248841" y="124421"/>
                    </a:lnTo>
                    <a:lnTo>
                      <a:pt x="248841" y="282774"/>
                    </a:lnTo>
                    <a:close/>
                    <a:moveTo>
                      <a:pt x="135732" y="147043"/>
                    </a:moveTo>
                    <a:cubicBezTo>
                      <a:pt x="116080" y="147049"/>
                      <a:pt x="99409" y="161470"/>
                      <a:pt x="96571" y="180915"/>
                    </a:cubicBezTo>
                    <a:cubicBezTo>
                      <a:pt x="93734" y="200361"/>
                      <a:pt x="105591" y="218944"/>
                      <a:pt x="124421" y="224565"/>
                    </a:cubicBezTo>
                    <a:lnTo>
                      <a:pt x="124421" y="248841"/>
                    </a:lnTo>
                    <a:cubicBezTo>
                      <a:pt x="124421" y="255088"/>
                      <a:pt x="129485" y="260152"/>
                      <a:pt x="135732" y="260152"/>
                    </a:cubicBezTo>
                    <a:cubicBezTo>
                      <a:pt x="141979" y="260152"/>
                      <a:pt x="147043" y="255088"/>
                      <a:pt x="147043" y="248841"/>
                    </a:cubicBezTo>
                    <a:lnTo>
                      <a:pt x="147043" y="224565"/>
                    </a:lnTo>
                    <a:cubicBezTo>
                      <a:pt x="165873" y="218944"/>
                      <a:pt x="177729" y="200361"/>
                      <a:pt x="174892" y="180915"/>
                    </a:cubicBezTo>
                    <a:cubicBezTo>
                      <a:pt x="172055" y="161470"/>
                      <a:pt x="155383" y="147049"/>
                      <a:pt x="135732" y="147043"/>
                    </a:cubicBezTo>
                    <a:close/>
                    <a:moveTo>
                      <a:pt x="135732" y="203598"/>
                    </a:moveTo>
                    <a:cubicBezTo>
                      <a:pt x="126361" y="203598"/>
                      <a:pt x="118765" y="196001"/>
                      <a:pt x="118765" y="186631"/>
                    </a:cubicBezTo>
                    <a:cubicBezTo>
                      <a:pt x="118765" y="177261"/>
                      <a:pt x="126361" y="169665"/>
                      <a:pt x="135732" y="169665"/>
                    </a:cubicBezTo>
                    <a:cubicBezTo>
                      <a:pt x="145102" y="169665"/>
                      <a:pt x="152698" y="177261"/>
                      <a:pt x="152698" y="186631"/>
                    </a:cubicBezTo>
                    <a:cubicBezTo>
                      <a:pt x="152698" y="196001"/>
                      <a:pt x="145102" y="203598"/>
                      <a:pt x="135732" y="203598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5717858" y="1272064"/>
              <a:ext cx="118385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Audience 分离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5721668" y="1552099"/>
              <a:ext cx="1584960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用户令牌与管理员令牌隔离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8096250" y="2095500"/>
            <a:ext cx="2686050" cy="876300"/>
            <a:chOff x="8096250" y="2095500"/>
            <a:chExt cx="2686050" cy="876300"/>
          </a:xfrm>
        </p:grpSpPr>
        <p:sp>
          <p:nvSpPr>
            <p:cNvPr id="31" name="Rectangle 31"/>
            <p:cNvSpPr/>
            <p:nvPr/>
          </p:nvSpPr>
          <p:spPr>
            <a:xfrm>
              <a:off x="8096250" y="2095500"/>
              <a:ext cx="26860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34" name="Group 34"/>
            <p:cNvGrpSpPr/>
            <p:nvPr/>
          </p:nvGrpSpPr>
          <p:grpSpPr>
            <a:xfrm>
              <a:off x="8408194" y="2354461"/>
              <a:ext cx="271463" cy="305396"/>
              <a:chOff x="8408194" y="2354461"/>
              <a:chExt cx="271463" cy="305396"/>
            </a:xfrm>
          </p:grpSpPr>
          <p:sp>
            <p:nvSpPr>
              <p:cNvPr id="32" name="Freeform 32"/>
              <p:cNvSpPr/>
              <p:nvPr/>
            </p:nvSpPr>
            <p:spPr>
              <a:xfrm>
                <a:off x="8419505" y="2467571"/>
                <a:ext cx="248841" cy="180976"/>
              </a:xfrm>
              <a:custGeom>
                <a:avLst/>
                <a:gdLst/>
                <a:ahLst/>
                <a:cxnLst/>
                <a:rect l="l" t="t" r="r" b="b"/>
                <a:pathLst>
                  <a:path w="248841" h="180976">
                    <a:moveTo>
                      <a:pt x="237530" y="0"/>
                    </a:moveTo>
                    <a:lnTo>
                      <a:pt x="11311" y="0"/>
                    </a:lnTo>
                    <a:cubicBezTo>
                      <a:pt x="5064" y="0"/>
                      <a:pt x="0" y="5064"/>
                      <a:pt x="0" y="11311"/>
                    </a:cubicBezTo>
                    <a:lnTo>
                      <a:pt x="0" y="169665"/>
                    </a:lnTo>
                    <a:cubicBezTo>
                      <a:pt x="0" y="175912"/>
                      <a:pt x="5064" y="180976"/>
                      <a:pt x="11311" y="180976"/>
                    </a:cubicBezTo>
                    <a:lnTo>
                      <a:pt x="237530" y="180976"/>
                    </a:lnTo>
                    <a:cubicBezTo>
                      <a:pt x="243777" y="180976"/>
                      <a:pt x="248841" y="175912"/>
                      <a:pt x="248841" y="169665"/>
                    </a:cubicBezTo>
                    <a:lnTo>
                      <a:pt x="248841" y="11311"/>
                    </a:lnTo>
                    <a:cubicBezTo>
                      <a:pt x="248841" y="5064"/>
                      <a:pt x="243777" y="0"/>
                      <a:pt x="237530" y="0"/>
                    </a:cubicBezTo>
                    <a:close/>
                    <a:moveTo>
                      <a:pt x="124421" y="101799"/>
                    </a:moveTo>
                    <a:cubicBezTo>
                      <a:pt x="108804" y="101799"/>
                      <a:pt x="96143" y="89139"/>
                      <a:pt x="96143" y="73521"/>
                    </a:cubicBezTo>
                    <a:cubicBezTo>
                      <a:pt x="96143" y="57904"/>
                      <a:pt x="108804" y="45244"/>
                      <a:pt x="124421" y="45244"/>
                    </a:cubicBezTo>
                    <a:cubicBezTo>
                      <a:pt x="140038" y="45244"/>
                      <a:pt x="152698" y="57904"/>
                      <a:pt x="152698" y="73521"/>
                    </a:cubicBezTo>
                    <a:cubicBezTo>
                      <a:pt x="152698" y="89139"/>
                      <a:pt x="140038" y="101799"/>
                      <a:pt x="124421" y="101799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3" name="Freeform 33"/>
              <p:cNvSpPr/>
              <p:nvPr/>
            </p:nvSpPr>
            <p:spPr>
              <a:xfrm>
                <a:off x="8408194" y="2354461"/>
                <a:ext cx="271463" cy="305396"/>
              </a:xfrm>
              <a:custGeom>
                <a:avLst/>
                <a:gdLst/>
                <a:ahLst/>
                <a:cxnLst/>
                <a:rect l="l" t="t" r="r" b="b"/>
                <a:pathLst>
                  <a:path w="271463" h="305396">
                    <a:moveTo>
                      <a:pt x="248841" y="101799"/>
                    </a:moveTo>
                    <a:lnTo>
                      <a:pt x="203598" y="101799"/>
                    </a:lnTo>
                    <a:lnTo>
                      <a:pt x="203598" y="67866"/>
                    </a:lnTo>
                    <a:cubicBezTo>
                      <a:pt x="203598" y="30385"/>
                      <a:pt x="173213" y="0"/>
                      <a:pt x="135732" y="0"/>
                    </a:cubicBezTo>
                    <a:cubicBezTo>
                      <a:pt x="98250" y="0"/>
                      <a:pt x="67866" y="30385"/>
                      <a:pt x="67866" y="67866"/>
                    </a:cubicBezTo>
                    <a:lnTo>
                      <a:pt x="67866" y="101799"/>
                    </a:lnTo>
                    <a:lnTo>
                      <a:pt x="22622" y="101799"/>
                    </a:lnTo>
                    <a:cubicBezTo>
                      <a:pt x="10128" y="101799"/>
                      <a:pt x="0" y="111927"/>
                      <a:pt x="0" y="124421"/>
                    </a:cubicBezTo>
                    <a:lnTo>
                      <a:pt x="0" y="282774"/>
                    </a:lnTo>
                    <a:cubicBezTo>
                      <a:pt x="0" y="295268"/>
                      <a:pt x="10128" y="305396"/>
                      <a:pt x="22622" y="305396"/>
                    </a:cubicBezTo>
                    <a:lnTo>
                      <a:pt x="248841" y="305396"/>
                    </a:lnTo>
                    <a:cubicBezTo>
                      <a:pt x="261335" y="305396"/>
                      <a:pt x="271463" y="295268"/>
                      <a:pt x="271463" y="282774"/>
                    </a:cubicBezTo>
                    <a:lnTo>
                      <a:pt x="271463" y="124421"/>
                    </a:lnTo>
                    <a:cubicBezTo>
                      <a:pt x="271463" y="111927"/>
                      <a:pt x="261335" y="101799"/>
                      <a:pt x="248841" y="101799"/>
                    </a:cubicBezTo>
                    <a:close/>
                    <a:moveTo>
                      <a:pt x="90488" y="67866"/>
                    </a:moveTo>
                    <a:cubicBezTo>
                      <a:pt x="90488" y="42878"/>
                      <a:pt x="110744" y="22622"/>
                      <a:pt x="135732" y="22622"/>
                    </a:cubicBezTo>
                    <a:cubicBezTo>
                      <a:pt x="160719" y="22622"/>
                      <a:pt x="180976" y="42878"/>
                      <a:pt x="180976" y="67866"/>
                    </a:cubicBezTo>
                    <a:lnTo>
                      <a:pt x="180976" y="101799"/>
                    </a:lnTo>
                    <a:lnTo>
                      <a:pt x="90488" y="101799"/>
                    </a:lnTo>
                    <a:close/>
                    <a:moveTo>
                      <a:pt x="248841" y="282774"/>
                    </a:moveTo>
                    <a:lnTo>
                      <a:pt x="22622" y="282774"/>
                    </a:lnTo>
                    <a:lnTo>
                      <a:pt x="22622" y="124421"/>
                    </a:lnTo>
                    <a:lnTo>
                      <a:pt x="248841" y="124421"/>
                    </a:lnTo>
                    <a:lnTo>
                      <a:pt x="248841" y="282774"/>
                    </a:lnTo>
                    <a:close/>
                    <a:moveTo>
                      <a:pt x="135732" y="147043"/>
                    </a:moveTo>
                    <a:cubicBezTo>
                      <a:pt x="116080" y="147049"/>
                      <a:pt x="99409" y="161470"/>
                      <a:pt x="96571" y="180915"/>
                    </a:cubicBezTo>
                    <a:cubicBezTo>
                      <a:pt x="93734" y="200361"/>
                      <a:pt x="105591" y="218944"/>
                      <a:pt x="124421" y="224565"/>
                    </a:cubicBezTo>
                    <a:lnTo>
                      <a:pt x="124421" y="248841"/>
                    </a:lnTo>
                    <a:cubicBezTo>
                      <a:pt x="124421" y="255088"/>
                      <a:pt x="129485" y="260152"/>
                      <a:pt x="135732" y="260152"/>
                    </a:cubicBezTo>
                    <a:cubicBezTo>
                      <a:pt x="141979" y="260152"/>
                      <a:pt x="147043" y="255088"/>
                      <a:pt x="147043" y="248841"/>
                    </a:cubicBezTo>
                    <a:lnTo>
                      <a:pt x="147043" y="224565"/>
                    </a:lnTo>
                    <a:cubicBezTo>
                      <a:pt x="165873" y="218944"/>
                      <a:pt x="177729" y="200361"/>
                      <a:pt x="174892" y="180915"/>
                    </a:cubicBezTo>
                    <a:cubicBezTo>
                      <a:pt x="172055" y="161470"/>
                      <a:pt x="155383" y="147049"/>
                      <a:pt x="135732" y="147043"/>
                    </a:cubicBezTo>
                    <a:close/>
                    <a:moveTo>
                      <a:pt x="135732" y="203598"/>
                    </a:moveTo>
                    <a:cubicBezTo>
                      <a:pt x="126361" y="203598"/>
                      <a:pt x="118765" y="196001"/>
                      <a:pt x="118765" y="186631"/>
                    </a:cubicBezTo>
                    <a:cubicBezTo>
                      <a:pt x="118765" y="177261"/>
                      <a:pt x="126361" y="169665"/>
                      <a:pt x="135732" y="169665"/>
                    </a:cubicBezTo>
                    <a:cubicBezTo>
                      <a:pt x="145102" y="169665"/>
                      <a:pt x="152698" y="177261"/>
                      <a:pt x="152698" y="186631"/>
                    </a:cubicBezTo>
                    <a:cubicBezTo>
                      <a:pt x="152698" y="196001"/>
                      <a:pt x="145102" y="203598"/>
                      <a:pt x="135732" y="203598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35" name="TextBox 35"/>
            <p:cNvSpPr txBox="1"/>
            <p:nvPr/>
          </p:nvSpPr>
          <p:spPr>
            <a:xfrm>
              <a:off x="8861108" y="230076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密码安全哈希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8864918" y="2580799"/>
              <a:ext cx="1844992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管理端不查看、不修改明文密码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020050" y="4705350"/>
            <a:ext cx="2762250" cy="876300"/>
            <a:chOff x="8020050" y="4705350"/>
            <a:chExt cx="2762250" cy="876300"/>
          </a:xfrm>
        </p:grpSpPr>
        <p:sp>
          <p:nvSpPr>
            <p:cNvPr id="38" name="Rectangle 38"/>
            <p:cNvSpPr/>
            <p:nvPr/>
          </p:nvSpPr>
          <p:spPr>
            <a:xfrm>
              <a:off x="8020050" y="4705350"/>
              <a:ext cx="27622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1" name="Group 41"/>
            <p:cNvGrpSpPr/>
            <p:nvPr/>
          </p:nvGrpSpPr>
          <p:grpSpPr>
            <a:xfrm>
              <a:off x="8320683" y="4986933"/>
              <a:ext cx="294085" cy="294085"/>
              <a:chOff x="8320683" y="4986933"/>
              <a:chExt cx="294085" cy="294085"/>
            </a:xfrm>
          </p:grpSpPr>
          <p:sp>
            <p:nvSpPr>
              <p:cNvPr id="39" name="Freeform 39"/>
              <p:cNvSpPr/>
              <p:nvPr/>
            </p:nvSpPr>
            <p:spPr>
              <a:xfrm>
                <a:off x="8331994" y="4998244"/>
                <a:ext cx="271463" cy="271463"/>
              </a:xfrm>
              <a:custGeom>
                <a:avLst/>
                <a:gdLst/>
                <a:ahLst/>
                <a:cxnLst/>
                <a:rect l="l" t="t" r="r" b="b"/>
                <a:pathLst>
                  <a:path w="271463" h="271463">
                    <a:moveTo>
                      <a:pt x="271463" y="135732"/>
                    </a:moveTo>
                    <a:cubicBezTo>
                      <a:pt x="271463" y="210694"/>
                      <a:pt x="210694" y="271463"/>
                      <a:pt x="135732" y="271463"/>
                    </a:cubicBezTo>
                    <a:cubicBezTo>
                      <a:pt x="60769" y="271463"/>
                      <a:pt x="0" y="210694"/>
                      <a:pt x="0" y="135732"/>
                    </a:cubicBezTo>
                    <a:cubicBezTo>
                      <a:pt x="0" y="60769"/>
                      <a:pt x="60769" y="0"/>
                      <a:pt x="135732" y="0"/>
                    </a:cubicBezTo>
                    <a:cubicBezTo>
                      <a:pt x="210694" y="0"/>
                      <a:pt x="271463" y="60769"/>
                      <a:pt x="271463" y="135732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0" name="Freeform 40"/>
              <p:cNvSpPr/>
              <p:nvPr/>
            </p:nvSpPr>
            <p:spPr>
              <a:xfrm>
                <a:off x="8320683" y="4986933"/>
                <a:ext cx="294085" cy="294085"/>
              </a:xfrm>
              <a:custGeom>
                <a:avLst/>
                <a:gdLst/>
                <a:ahLst/>
                <a:cxnLst/>
                <a:rect l="l" t="t" r="r" b="b"/>
                <a:pathLst>
                  <a:path w="294085" h="294085">
                    <a:moveTo>
                      <a:pt x="211600" y="105107"/>
                    </a:moveTo>
                    <a:cubicBezTo>
                      <a:pt x="213724" y="107229"/>
                      <a:pt x="214917" y="110108"/>
                      <a:pt x="214917" y="113110"/>
                    </a:cubicBezTo>
                    <a:cubicBezTo>
                      <a:pt x="214917" y="116112"/>
                      <a:pt x="213724" y="118991"/>
                      <a:pt x="211600" y="121112"/>
                    </a:cubicBezTo>
                    <a:lnTo>
                      <a:pt x="132423" y="200289"/>
                    </a:lnTo>
                    <a:cubicBezTo>
                      <a:pt x="130302" y="202413"/>
                      <a:pt x="127423" y="203606"/>
                      <a:pt x="124421" y="203606"/>
                    </a:cubicBezTo>
                    <a:cubicBezTo>
                      <a:pt x="121419" y="203606"/>
                      <a:pt x="118540" y="202413"/>
                      <a:pt x="116418" y="200289"/>
                    </a:cubicBezTo>
                    <a:lnTo>
                      <a:pt x="82485" y="166356"/>
                    </a:lnTo>
                    <a:cubicBezTo>
                      <a:pt x="78066" y="161937"/>
                      <a:pt x="78066" y="154771"/>
                      <a:pt x="82485" y="150351"/>
                    </a:cubicBezTo>
                    <a:cubicBezTo>
                      <a:pt x="86905" y="145931"/>
                      <a:pt x="94071" y="145931"/>
                      <a:pt x="98490" y="150351"/>
                    </a:cubicBezTo>
                    <a:lnTo>
                      <a:pt x="124421" y="176296"/>
                    </a:lnTo>
                    <a:lnTo>
                      <a:pt x="195595" y="105107"/>
                    </a:lnTo>
                    <a:cubicBezTo>
                      <a:pt x="197717" y="102983"/>
                      <a:pt x="200596" y="101790"/>
                      <a:pt x="203598" y="101790"/>
                    </a:cubicBezTo>
                    <a:cubicBezTo>
                      <a:pt x="206600" y="101790"/>
                      <a:pt x="209478" y="102983"/>
                      <a:pt x="211600" y="105107"/>
                    </a:cubicBezTo>
                    <a:close/>
                    <a:moveTo>
                      <a:pt x="294085" y="147043"/>
                    </a:moveTo>
                    <a:cubicBezTo>
                      <a:pt x="294085" y="228252"/>
                      <a:pt x="228252" y="294085"/>
                      <a:pt x="147043" y="294085"/>
                    </a:cubicBezTo>
                    <a:cubicBezTo>
                      <a:pt x="65833" y="294085"/>
                      <a:pt x="0" y="228252"/>
                      <a:pt x="0" y="147043"/>
                    </a:cubicBezTo>
                    <a:cubicBezTo>
                      <a:pt x="0" y="65833"/>
                      <a:pt x="65833" y="0"/>
                      <a:pt x="147043" y="0"/>
                    </a:cubicBezTo>
                    <a:cubicBezTo>
                      <a:pt x="228217" y="86"/>
                      <a:pt x="294000" y="65869"/>
                      <a:pt x="294085" y="147043"/>
                    </a:cubicBezTo>
                    <a:close/>
                    <a:moveTo>
                      <a:pt x="271463" y="147043"/>
                    </a:moveTo>
                    <a:cubicBezTo>
                      <a:pt x="271463" y="78327"/>
                      <a:pt x="215758" y="22622"/>
                      <a:pt x="147043" y="22622"/>
                    </a:cubicBezTo>
                    <a:cubicBezTo>
                      <a:pt x="78327" y="22622"/>
                      <a:pt x="22622" y="78327"/>
                      <a:pt x="22622" y="147043"/>
                    </a:cubicBezTo>
                    <a:cubicBezTo>
                      <a:pt x="22622" y="215758"/>
                      <a:pt x="78327" y="271463"/>
                      <a:pt x="147043" y="271463"/>
                    </a:cubicBezTo>
                    <a:cubicBezTo>
                      <a:pt x="215726" y="271385"/>
                      <a:pt x="271385" y="215726"/>
                      <a:pt x="271463" y="147043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42" name="TextBox 42"/>
            <p:cNvSpPr txBox="1"/>
            <p:nvPr/>
          </p:nvSpPr>
          <p:spPr>
            <a:xfrm>
              <a:off x="8784908" y="4910614"/>
              <a:ext cx="9249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图片重编码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788718" y="5190649"/>
              <a:ext cx="187749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校验真实格式、像素并清除 EXIF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409700" y="4705350"/>
            <a:ext cx="2893195" cy="876300"/>
            <a:chOff x="1409700" y="4705350"/>
            <a:chExt cx="2893195" cy="876300"/>
          </a:xfrm>
        </p:grpSpPr>
        <p:sp>
          <p:nvSpPr>
            <p:cNvPr id="45" name="Rectangle 45"/>
            <p:cNvSpPr/>
            <p:nvPr/>
          </p:nvSpPr>
          <p:spPr>
            <a:xfrm>
              <a:off x="1409700" y="4705350"/>
              <a:ext cx="28384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8" name="Group 48"/>
            <p:cNvGrpSpPr/>
            <p:nvPr/>
          </p:nvGrpSpPr>
          <p:grpSpPr>
            <a:xfrm>
              <a:off x="1687700" y="4981249"/>
              <a:ext cx="339340" cy="294143"/>
              <a:chOff x="1687700" y="4981249"/>
              <a:chExt cx="339340" cy="294143"/>
            </a:xfrm>
          </p:grpSpPr>
          <p:sp>
            <p:nvSpPr>
              <p:cNvPr id="46" name="Freeform 46"/>
              <p:cNvSpPr/>
              <p:nvPr/>
            </p:nvSpPr>
            <p:spPr>
              <a:xfrm>
                <a:off x="1698961" y="4998244"/>
                <a:ext cx="316777" cy="260152"/>
              </a:xfrm>
              <a:custGeom>
                <a:avLst/>
                <a:gdLst/>
                <a:ahLst/>
                <a:cxnLst/>
                <a:rect l="l" t="t" r="r" b="b"/>
                <a:pathLst>
                  <a:path w="316777" h="260152">
                    <a:moveTo>
                      <a:pt x="316768" y="130076"/>
                    </a:moveTo>
                    <a:cubicBezTo>
                      <a:pt x="316777" y="158844"/>
                      <a:pt x="298647" y="184493"/>
                      <a:pt x="271524" y="194082"/>
                    </a:cubicBezTo>
                    <a:lnTo>
                      <a:pt x="271524" y="194082"/>
                    </a:lnTo>
                    <a:lnTo>
                      <a:pt x="271524" y="203598"/>
                    </a:lnTo>
                    <a:cubicBezTo>
                      <a:pt x="271524" y="234832"/>
                      <a:pt x="246204" y="260152"/>
                      <a:pt x="214969" y="260152"/>
                    </a:cubicBezTo>
                    <a:cubicBezTo>
                      <a:pt x="183735" y="260152"/>
                      <a:pt x="158414" y="234832"/>
                      <a:pt x="158414" y="203598"/>
                    </a:cubicBezTo>
                    <a:cubicBezTo>
                      <a:pt x="158414" y="234832"/>
                      <a:pt x="133094" y="260152"/>
                      <a:pt x="101860" y="260152"/>
                    </a:cubicBezTo>
                    <a:cubicBezTo>
                      <a:pt x="70625" y="260152"/>
                      <a:pt x="45305" y="234832"/>
                      <a:pt x="45305" y="203598"/>
                    </a:cubicBezTo>
                    <a:lnTo>
                      <a:pt x="45305" y="194082"/>
                    </a:lnTo>
                    <a:lnTo>
                      <a:pt x="45305" y="194082"/>
                    </a:lnTo>
                    <a:cubicBezTo>
                      <a:pt x="18158" y="184513"/>
                      <a:pt x="0" y="158860"/>
                      <a:pt x="0" y="130076"/>
                    </a:cubicBezTo>
                    <a:cubicBezTo>
                      <a:pt x="0" y="101292"/>
                      <a:pt x="18158" y="75639"/>
                      <a:pt x="45305" y="66070"/>
                    </a:cubicBezTo>
                    <a:lnTo>
                      <a:pt x="45305" y="56555"/>
                    </a:lnTo>
                    <a:cubicBezTo>
                      <a:pt x="45305" y="25320"/>
                      <a:pt x="70625" y="0"/>
                      <a:pt x="101860" y="0"/>
                    </a:cubicBezTo>
                    <a:cubicBezTo>
                      <a:pt x="133094" y="0"/>
                      <a:pt x="158414" y="25320"/>
                      <a:pt x="158414" y="56555"/>
                    </a:cubicBezTo>
                    <a:cubicBezTo>
                      <a:pt x="158414" y="25320"/>
                      <a:pt x="183735" y="0"/>
                      <a:pt x="214969" y="0"/>
                    </a:cubicBezTo>
                    <a:cubicBezTo>
                      <a:pt x="246204" y="0"/>
                      <a:pt x="271524" y="25320"/>
                      <a:pt x="271524" y="56555"/>
                    </a:cubicBezTo>
                    <a:lnTo>
                      <a:pt x="271524" y="66070"/>
                    </a:lnTo>
                    <a:cubicBezTo>
                      <a:pt x="298647" y="75660"/>
                      <a:pt x="316777" y="101308"/>
                      <a:pt x="316768" y="130076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7" name="Freeform 47"/>
              <p:cNvSpPr/>
              <p:nvPr/>
            </p:nvSpPr>
            <p:spPr>
              <a:xfrm>
                <a:off x="1687700" y="4981249"/>
                <a:ext cx="339340" cy="294143"/>
              </a:xfrm>
              <a:custGeom>
                <a:avLst/>
                <a:gdLst/>
                <a:ahLst/>
                <a:cxnLst/>
                <a:rect l="l" t="t" r="r" b="b"/>
                <a:pathLst>
                  <a:path w="339340" h="294143">
                    <a:moveTo>
                      <a:pt x="339340" y="147071"/>
                    </a:moveTo>
                    <a:cubicBezTo>
                      <a:pt x="339309" y="116493"/>
                      <a:pt x="321707" y="88655"/>
                      <a:pt x="294096" y="75515"/>
                    </a:cubicBezTo>
                    <a:lnTo>
                      <a:pt x="294096" y="73550"/>
                    </a:lnTo>
                    <a:cubicBezTo>
                      <a:pt x="294069" y="43626"/>
                      <a:pt x="274446" y="17251"/>
                      <a:pt x="245792" y="8626"/>
                    </a:cubicBezTo>
                    <a:cubicBezTo>
                      <a:pt x="217138" y="0"/>
                      <a:pt x="186216" y="11160"/>
                      <a:pt x="169675" y="36097"/>
                    </a:cubicBezTo>
                    <a:cubicBezTo>
                      <a:pt x="153134" y="11160"/>
                      <a:pt x="122212" y="0"/>
                      <a:pt x="93558" y="8626"/>
                    </a:cubicBezTo>
                    <a:cubicBezTo>
                      <a:pt x="64904" y="17251"/>
                      <a:pt x="45281" y="43626"/>
                      <a:pt x="45255" y="73550"/>
                    </a:cubicBezTo>
                    <a:lnTo>
                      <a:pt x="45255" y="75515"/>
                    </a:lnTo>
                    <a:cubicBezTo>
                      <a:pt x="17617" y="88620"/>
                      <a:pt x="0" y="116471"/>
                      <a:pt x="0" y="147057"/>
                    </a:cubicBezTo>
                    <a:cubicBezTo>
                      <a:pt x="0" y="177644"/>
                      <a:pt x="17617" y="205495"/>
                      <a:pt x="45255" y="218599"/>
                    </a:cubicBezTo>
                    <a:lnTo>
                      <a:pt x="45255" y="220593"/>
                    </a:lnTo>
                    <a:cubicBezTo>
                      <a:pt x="45281" y="250517"/>
                      <a:pt x="64904" y="276892"/>
                      <a:pt x="93558" y="285517"/>
                    </a:cubicBezTo>
                    <a:cubicBezTo>
                      <a:pt x="122212" y="294143"/>
                      <a:pt x="153134" y="282983"/>
                      <a:pt x="169675" y="258046"/>
                    </a:cubicBezTo>
                    <a:cubicBezTo>
                      <a:pt x="186216" y="282983"/>
                      <a:pt x="217138" y="294143"/>
                      <a:pt x="245792" y="285517"/>
                    </a:cubicBezTo>
                    <a:cubicBezTo>
                      <a:pt x="274446" y="276892"/>
                      <a:pt x="294069" y="250517"/>
                      <a:pt x="294096" y="220593"/>
                    </a:cubicBezTo>
                    <a:lnTo>
                      <a:pt x="294096" y="218599"/>
                    </a:lnTo>
                    <a:cubicBezTo>
                      <a:pt x="321703" y="205470"/>
                      <a:pt x="339305" y="177641"/>
                      <a:pt x="339340" y="147071"/>
                    </a:cubicBezTo>
                    <a:close/>
                    <a:moveTo>
                      <a:pt x="113120" y="265837"/>
                    </a:moveTo>
                    <a:cubicBezTo>
                      <a:pt x="90018" y="265833"/>
                      <a:pt x="70629" y="248425"/>
                      <a:pt x="68145" y="225457"/>
                    </a:cubicBezTo>
                    <a:cubicBezTo>
                      <a:pt x="71803" y="225978"/>
                      <a:pt x="75493" y="226243"/>
                      <a:pt x="79187" y="226248"/>
                    </a:cubicBezTo>
                    <a:lnTo>
                      <a:pt x="90498" y="226248"/>
                    </a:lnTo>
                    <a:cubicBezTo>
                      <a:pt x="96745" y="226248"/>
                      <a:pt x="101809" y="221184"/>
                      <a:pt x="101809" y="214937"/>
                    </a:cubicBezTo>
                    <a:cubicBezTo>
                      <a:pt x="101809" y="208690"/>
                      <a:pt x="96745" y="203626"/>
                      <a:pt x="90498" y="203626"/>
                    </a:cubicBezTo>
                    <a:lnTo>
                      <a:pt x="79187" y="203626"/>
                    </a:lnTo>
                    <a:cubicBezTo>
                      <a:pt x="51617" y="203659"/>
                      <a:pt x="28040" y="183805"/>
                      <a:pt x="23380" y="156631"/>
                    </a:cubicBezTo>
                    <a:cubicBezTo>
                      <a:pt x="18720" y="129456"/>
                      <a:pt x="34334" y="102882"/>
                      <a:pt x="60341" y="93726"/>
                    </a:cubicBezTo>
                    <a:cubicBezTo>
                      <a:pt x="64857" y="92127"/>
                      <a:pt x="67876" y="87856"/>
                      <a:pt x="67876" y="83065"/>
                    </a:cubicBezTo>
                    <a:lnTo>
                      <a:pt x="67876" y="73550"/>
                    </a:lnTo>
                    <a:cubicBezTo>
                      <a:pt x="67876" y="48563"/>
                      <a:pt x="88133" y="28306"/>
                      <a:pt x="113120" y="28306"/>
                    </a:cubicBezTo>
                    <a:cubicBezTo>
                      <a:pt x="138108" y="28306"/>
                      <a:pt x="158364" y="48563"/>
                      <a:pt x="158364" y="73550"/>
                    </a:cubicBezTo>
                    <a:lnTo>
                      <a:pt x="158364" y="170061"/>
                    </a:lnTo>
                    <a:cubicBezTo>
                      <a:pt x="145944" y="158890"/>
                      <a:pt x="129826" y="152715"/>
                      <a:pt x="113120" y="152727"/>
                    </a:cubicBezTo>
                    <a:cubicBezTo>
                      <a:pt x="106873" y="152727"/>
                      <a:pt x="101809" y="157791"/>
                      <a:pt x="101809" y="164038"/>
                    </a:cubicBezTo>
                    <a:cubicBezTo>
                      <a:pt x="101809" y="170285"/>
                      <a:pt x="106873" y="175349"/>
                      <a:pt x="113120" y="175349"/>
                    </a:cubicBezTo>
                    <a:cubicBezTo>
                      <a:pt x="138108" y="175349"/>
                      <a:pt x="158364" y="195605"/>
                      <a:pt x="158364" y="220593"/>
                    </a:cubicBezTo>
                    <a:cubicBezTo>
                      <a:pt x="158364" y="245580"/>
                      <a:pt x="138108" y="265837"/>
                      <a:pt x="113120" y="265837"/>
                    </a:cubicBezTo>
                    <a:close/>
                    <a:moveTo>
                      <a:pt x="260163" y="203626"/>
                    </a:moveTo>
                    <a:lnTo>
                      <a:pt x="248852" y="203626"/>
                    </a:lnTo>
                    <a:cubicBezTo>
                      <a:pt x="242605" y="203626"/>
                      <a:pt x="237541" y="208690"/>
                      <a:pt x="237541" y="214937"/>
                    </a:cubicBezTo>
                    <a:cubicBezTo>
                      <a:pt x="237541" y="221184"/>
                      <a:pt x="242605" y="226248"/>
                      <a:pt x="248852" y="226248"/>
                    </a:cubicBezTo>
                    <a:lnTo>
                      <a:pt x="260163" y="226248"/>
                    </a:lnTo>
                    <a:cubicBezTo>
                      <a:pt x="263858" y="226243"/>
                      <a:pt x="267548" y="225978"/>
                      <a:pt x="271205" y="225457"/>
                    </a:cubicBezTo>
                    <a:cubicBezTo>
                      <a:pt x="268587" y="249672"/>
                      <a:pt x="247269" y="267469"/>
                      <a:pt x="222976" y="265720"/>
                    </a:cubicBezTo>
                    <a:cubicBezTo>
                      <a:pt x="198682" y="263971"/>
                      <a:pt x="180132" y="243305"/>
                      <a:pt x="181009" y="218964"/>
                    </a:cubicBezTo>
                    <a:cubicBezTo>
                      <a:pt x="181886" y="194624"/>
                      <a:pt x="201874" y="175345"/>
                      <a:pt x="226230" y="175349"/>
                    </a:cubicBezTo>
                    <a:cubicBezTo>
                      <a:pt x="232477" y="175349"/>
                      <a:pt x="237541" y="170285"/>
                      <a:pt x="237541" y="164038"/>
                    </a:cubicBezTo>
                    <a:cubicBezTo>
                      <a:pt x="237541" y="157791"/>
                      <a:pt x="232477" y="152727"/>
                      <a:pt x="226230" y="152727"/>
                    </a:cubicBezTo>
                    <a:cubicBezTo>
                      <a:pt x="209525" y="152715"/>
                      <a:pt x="193407" y="158890"/>
                      <a:pt x="180986" y="170061"/>
                    </a:cubicBezTo>
                    <a:lnTo>
                      <a:pt x="180986" y="73550"/>
                    </a:lnTo>
                    <a:cubicBezTo>
                      <a:pt x="180986" y="48563"/>
                      <a:pt x="201243" y="28306"/>
                      <a:pt x="226230" y="28306"/>
                    </a:cubicBezTo>
                    <a:cubicBezTo>
                      <a:pt x="251218" y="28306"/>
                      <a:pt x="271474" y="48563"/>
                      <a:pt x="271474" y="73550"/>
                    </a:cubicBezTo>
                    <a:lnTo>
                      <a:pt x="271474" y="83065"/>
                    </a:lnTo>
                    <a:cubicBezTo>
                      <a:pt x="271475" y="87856"/>
                      <a:pt x="274494" y="92127"/>
                      <a:pt x="279010" y="93726"/>
                    </a:cubicBezTo>
                    <a:cubicBezTo>
                      <a:pt x="305016" y="102882"/>
                      <a:pt x="320630" y="129456"/>
                      <a:pt x="315970" y="156631"/>
                    </a:cubicBezTo>
                    <a:cubicBezTo>
                      <a:pt x="311310" y="183805"/>
                      <a:pt x="287734" y="203659"/>
                      <a:pt x="260163" y="203626"/>
                    </a:cubicBezTo>
                    <a:close/>
                    <a:moveTo>
                      <a:pt x="282785" y="130105"/>
                    </a:moveTo>
                    <a:cubicBezTo>
                      <a:pt x="282785" y="136352"/>
                      <a:pt x="277721" y="141416"/>
                      <a:pt x="271474" y="141416"/>
                    </a:cubicBezTo>
                    <a:lnTo>
                      <a:pt x="265819" y="141416"/>
                    </a:lnTo>
                    <a:cubicBezTo>
                      <a:pt x="237708" y="141416"/>
                      <a:pt x="214919" y="118628"/>
                      <a:pt x="214919" y="90517"/>
                    </a:cubicBezTo>
                    <a:lnTo>
                      <a:pt x="214919" y="84861"/>
                    </a:lnTo>
                    <a:cubicBezTo>
                      <a:pt x="214919" y="78614"/>
                      <a:pt x="219983" y="73550"/>
                      <a:pt x="226230" y="73550"/>
                    </a:cubicBezTo>
                    <a:cubicBezTo>
                      <a:pt x="232477" y="73550"/>
                      <a:pt x="237541" y="78614"/>
                      <a:pt x="237541" y="84861"/>
                    </a:cubicBezTo>
                    <a:lnTo>
                      <a:pt x="237541" y="90517"/>
                    </a:lnTo>
                    <a:cubicBezTo>
                      <a:pt x="237541" y="106134"/>
                      <a:pt x="250201" y="118794"/>
                      <a:pt x="265819" y="118794"/>
                    </a:cubicBezTo>
                    <a:lnTo>
                      <a:pt x="271474" y="118794"/>
                    </a:lnTo>
                    <a:cubicBezTo>
                      <a:pt x="277721" y="118794"/>
                      <a:pt x="282785" y="123858"/>
                      <a:pt x="282785" y="130105"/>
                    </a:cubicBezTo>
                    <a:close/>
                    <a:moveTo>
                      <a:pt x="73532" y="141416"/>
                    </a:moveTo>
                    <a:lnTo>
                      <a:pt x="67876" y="141416"/>
                    </a:lnTo>
                    <a:cubicBezTo>
                      <a:pt x="61630" y="141416"/>
                      <a:pt x="56565" y="136352"/>
                      <a:pt x="56565" y="130105"/>
                    </a:cubicBezTo>
                    <a:cubicBezTo>
                      <a:pt x="56565" y="123858"/>
                      <a:pt x="61630" y="118794"/>
                      <a:pt x="67876" y="118794"/>
                    </a:cubicBezTo>
                    <a:lnTo>
                      <a:pt x="73532" y="118794"/>
                    </a:lnTo>
                    <a:cubicBezTo>
                      <a:pt x="89149" y="118794"/>
                      <a:pt x="101809" y="106134"/>
                      <a:pt x="101809" y="90517"/>
                    </a:cubicBezTo>
                    <a:lnTo>
                      <a:pt x="101809" y="84861"/>
                    </a:lnTo>
                    <a:cubicBezTo>
                      <a:pt x="101809" y="78614"/>
                      <a:pt x="106873" y="73550"/>
                      <a:pt x="113120" y="73550"/>
                    </a:cubicBezTo>
                    <a:cubicBezTo>
                      <a:pt x="119367" y="73550"/>
                      <a:pt x="124431" y="78614"/>
                      <a:pt x="124431" y="84861"/>
                    </a:cubicBezTo>
                    <a:lnTo>
                      <a:pt x="124431" y="90517"/>
                    </a:lnTo>
                    <a:cubicBezTo>
                      <a:pt x="124431" y="118628"/>
                      <a:pt x="101643" y="141416"/>
                      <a:pt x="73532" y="141416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49" name="TextBox 49"/>
            <p:cNvSpPr txBox="1"/>
            <p:nvPr/>
          </p:nvSpPr>
          <p:spPr>
            <a:xfrm>
              <a:off x="2174558" y="49106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AI 数据最小化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178368" y="5190649"/>
              <a:ext cx="2124527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不发邮箱、令牌、账号 ID、评价原文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1352550" y="2095500"/>
            <a:ext cx="3003709" cy="876300"/>
            <a:chOff x="1352550" y="2095500"/>
            <a:chExt cx="3003709" cy="876300"/>
          </a:xfrm>
        </p:grpSpPr>
        <p:sp>
          <p:nvSpPr>
            <p:cNvPr id="52" name="Rectangle 52"/>
            <p:cNvSpPr/>
            <p:nvPr/>
          </p:nvSpPr>
          <p:spPr>
            <a:xfrm>
              <a:off x="1352550" y="2095500"/>
              <a:ext cx="2914650" cy="876300"/>
            </a:xfrm>
            <a:prstGeom prst="roundRect">
              <a:avLst>
                <a:gd name="adj" fmla="val 2173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1625155" y="2399705"/>
              <a:ext cx="344735" cy="248841"/>
              <a:chOff x="1625155" y="2399705"/>
              <a:chExt cx="344735" cy="248841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1636455" y="2402795"/>
                <a:ext cx="322125" cy="234440"/>
              </a:xfrm>
              <a:custGeom>
                <a:avLst/>
                <a:gdLst/>
                <a:ahLst/>
                <a:cxnLst/>
                <a:rect l="l" t="t" r="r" b="b"/>
                <a:pathLst>
                  <a:path w="322125" h="234440">
                    <a:moveTo>
                      <a:pt x="322125" y="121331"/>
                    </a:moveTo>
                    <a:cubicBezTo>
                      <a:pt x="322125" y="183799"/>
                      <a:pt x="271484" y="234440"/>
                      <a:pt x="209015" y="234440"/>
                    </a:cubicBezTo>
                    <a:lnTo>
                      <a:pt x="84594" y="234440"/>
                    </a:lnTo>
                    <a:cubicBezTo>
                      <a:pt x="53948" y="234403"/>
                      <a:pt x="26077" y="216683"/>
                      <a:pt x="13038" y="188950"/>
                    </a:cubicBezTo>
                    <a:cubicBezTo>
                      <a:pt x="0" y="161216"/>
                      <a:pt x="4137" y="128449"/>
                      <a:pt x="23659" y="104826"/>
                    </a:cubicBezTo>
                    <a:cubicBezTo>
                      <a:pt x="43181" y="81203"/>
                      <a:pt x="74582" y="70967"/>
                      <a:pt x="104275" y="78547"/>
                    </a:cubicBezTo>
                    <a:lnTo>
                      <a:pt x="104275" y="78688"/>
                    </a:lnTo>
                    <a:cubicBezTo>
                      <a:pt x="124688" y="28620"/>
                      <a:pt x="177681" y="0"/>
                      <a:pt x="230743" y="10387"/>
                    </a:cubicBezTo>
                    <a:cubicBezTo>
                      <a:pt x="283805" y="20773"/>
                      <a:pt x="322096" y="67261"/>
                      <a:pt x="322125" y="121331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1625155" y="2399705"/>
                <a:ext cx="344735" cy="248841"/>
              </a:xfrm>
              <a:custGeom>
                <a:avLst/>
                <a:gdLst/>
                <a:ahLst/>
                <a:cxnLst/>
                <a:rect l="l" t="t" r="r" b="b"/>
                <a:pathLst>
                  <a:path w="344735" h="248841">
                    <a:moveTo>
                      <a:pt x="220314" y="0"/>
                    </a:moveTo>
                    <a:cubicBezTo>
                      <a:pt x="173188" y="36"/>
                      <a:pt x="130118" y="26668"/>
                      <a:pt x="109028" y="68813"/>
                    </a:cubicBezTo>
                    <a:cubicBezTo>
                      <a:pt x="75498" y="63923"/>
                      <a:pt x="42046" y="78176"/>
                      <a:pt x="22346" y="105746"/>
                    </a:cubicBezTo>
                    <a:cubicBezTo>
                      <a:pt x="2646" y="133315"/>
                      <a:pt x="0" y="169581"/>
                      <a:pt x="15490" y="199718"/>
                    </a:cubicBezTo>
                    <a:cubicBezTo>
                      <a:pt x="30979" y="229855"/>
                      <a:pt x="62009" y="248813"/>
                      <a:pt x="95894" y="248841"/>
                    </a:cubicBezTo>
                    <a:lnTo>
                      <a:pt x="220314" y="248841"/>
                    </a:lnTo>
                    <a:cubicBezTo>
                      <a:pt x="289030" y="248841"/>
                      <a:pt x="344735" y="193136"/>
                      <a:pt x="344735" y="124421"/>
                    </a:cubicBezTo>
                    <a:cubicBezTo>
                      <a:pt x="344735" y="55705"/>
                      <a:pt x="289030" y="0"/>
                      <a:pt x="220314" y="0"/>
                    </a:cubicBezTo>
                    <a:close/>
                    <a:moveTo>
                      <a:pt x="220314" y="226220"/>
                    </a:moveTo>
                    <a:lnTo>
                      <a:pt x="95894" y="226220"/>
                    </a:lnTo>
                    <a:cubicBezTo>
                      <a:pt x="58412" y="226220"/>
                      <a:pt x="28028" y="195835"/>
                      <a:pt x="28028" y="158354"/>
                    </a:cubicBezTo>
                    <a:cubicBezTo>
                      <a:pt x="28028" y="120872"/>
                      <a:pt x="58412" y="90488"/>
                      <a:pt x="95894" y="90488"/>
                    </a:cubicBezTo>
                    <a:cubicBezTo>
                      <a:pt x="97449" y="90488"/>
                      <a:pt x="99004" y="90488"/>
                      <a:pt x="100545" y="90643"/>
                    </a:cubicBezTo>
                    <a:cubicBezTo>
                      <a:pt x="97452" y="101636"/>
                      <a:pt x="95887" y="113001"/>
                      <a:pt x="95894" y="124421"/>
                    </a:cubicBezTo>
                    <a:cubicBezTo>
                      <a:pt x="95894" y="130668"/>
                      <a:pt x="100958" y="135732"/>
                      <a:pt x="107205" y="135732"/>
                    </a:cubicBezTo>
                    <a:cubicBezTo>
                      <a:pt x="113451" y="135732"/>
                      <a:pt x="118516" y="130668"/>
                      <a:pt x="118516" y="124421"/>
                    </a:cubicBezTo>
                    <a:cubicBezTo>
                      <a:pt x="118516" y="68199"/>
                      <a:pt x="164092" y="22622"/>
                      <a:pt x="220314" y="22622"/>
                    </a:cubicBezTo>
                    <a:cubicBezTo>
                      <a:pt x="276536" y="22622"/>
                      <a:pt x="322113" y="68199"/>
                      <a:pt x="322113" y="124421"/>
                    </a:cubicBezTo>
                    <a:cubicBezTo>
                      <a:pt x="322113" y="180643"/>
                      <a:pt x="276536" y="226220"/>
                      <a:pt x="220314" y="226220"/>
                    </a:cubicBezTo>
                    <a:close/>
                    <a:moveTo>
                      <a:pt x="273561" y="93796"/>
                    </a:moveTo>
                    <a:cubicBezTo>
                      <a:pt x="275685" y="95918"/>
                      <a:pt x="276878" y="98797"/>
                      <a:pt x="276878" y="101799"/>
                    </a:cubicBezTo>
                    <a:cubicBezTo>
                      <a:pt x="276878" y="104801"/>
                      <a:pt x="275685" y="107680"/>
                      <a:pt x="273561" y="109801"/>
                    </a:cubicBezTo>
                    <a:lnTo>
                      <a:pt x="205695" y="177667"/>
                    </a:lnTo>
                    <a:cubicBezTo>
                      <a:pt x="203573" y="179791"/>
                      <a:pt x="200694" y="180985"/>
                      <a:pt x="197692" y="180985"/>
                    </a:cubicBezTo>
                    <a:cubicBezTo>
                      <a:pt x="194690" y="180985"/>
                      <a:pt x="191811" y="179791"/>
                      <a:pt x="189690" y="177667"/>
                    </a:cubicBezTo>
                    <a:lnTo>
                      <a:pt x="155757" y="143734"/>
                    </a:lnTo>
                    <a:cubicBezTo>
                      <a:pt x="151337" y="139315"/>
                      <a:pt x="151337" y="132149"/>
                      <a:pt x="155757" y="127729"/>
                    </a:cubicBezTo>
                    <a:cubicBezTo>
                      <a:pt x="160177" y="123310"/>
                      <a:pt x="167342" y="123310"/>
                      <a:pt x="171762" y="127729"/>
                    </a:cubicBezTo>
                    <a:lnTo>
                      <a:pt x="197692" y="153674"/>
                    </a:lnTo>
                    <a:lnTo>
                      <a:pt x="257556" y="93796"/>
                    </a:lnTo>
                    <a:cubicBezTo>
                      <a:pt x="259677" y="91672"/>
                      <a:pt x="262556" y="90479"/>
                      <a:pt x="265558" y="90479"/>
                    </a:cubicBezTo>
                    <a:cubicBezTo>
                      <a:pt x="268560" y="90479"/>
                      <a:pt x="271439" y="91672"/>
                      <a:pt x="273561" y="93796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2117408" y="230076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PWA 缓存边界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2121218" y="25807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公开应用壳可缓存，个人响应不持久化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3752850" y="5981700"/>
            <a:ext cx="4686300" cy="438150"/>
            <a:chOff x="3752850" y="5981700"/>
            <a:chExt cx="4686300" cy="438150"/>
          </a:xfrm>
        </p:grpSpPr>
        <p:sp>
          <p:nvSpPr>
            <p:cNvPr id="59" name="Rectangle 59"/>
            <p:cNvSpPr/>
            <p:nvPr/>
          </p:nvSpPr>
          <p:spPr>
            <a:xfrm>
              <a:off x="3752850" y="5981700"/>
              <a:ext cx="46863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9050">
              <a:solidFill>
                <a:srgbClr val="1F8A70"/>
              </a:solidFill>
            </a:ln>
          </p:spPr>
        </p:sp>
        <p:sp>
          <p:nvSpPr>
            <p:cNvPr id="60" name="TextBox 60"/>
            <p:cNvSpPr txBox="1"/>
            <p:nvPr/>
          </p:nvSpPr>
          <p:spPr>
            <a:xfrm>
              <a:off x="4294584" y="6120289"/>
              <a:ext cx="3602831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7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模型是增强层，不是隐私和权限边界的替代品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Rectangle 3"/>
            <p:cNvSpPr/>
            <p:nvPr/>
          </p:nvSpPr>
          <p:spPr>
            <a:xfrm>
              <a:off x="419100" y="1181100"/>
              <a:ext cx="11353800" cy="4629150"/>
            </a:xfrm>
            <a:prstGeom prst="roundRect">
              <a:avLst>
                <a:gd name="adj" fmla="val 5761"/>
              </a:avLst>
            </a:prstGeom>
            <a:solidFill>
              <a:srgbClr val="EAF7EF"/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01015" y="334328"/>
            <a:ext cx="11168062" cy="694372"/>
            <a:chOff x="501015" y="334328"/>
            <a:chExt cx="11168062" cy="694372"/>
          </a:xfrm>
        </p:grpSpPr>
        <p:sp>
          <p:nvSpPr>
            <p:cNvPr id="5" name="TextBox 5"/>
            <p:cNvSpPr txBox="1"/>
            <p:nvPr/>
          </p:nvSpPr>
          <p:spPr>
            <a:xfrm>
              <a:off x="501015" y="334328"/>
              <a:ext cx="2207038" cy="5181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5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从能跑到可信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518160" y="784860"/>
              <a:ext cx="473506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分层测试、静态审计、构建检查和容器化部署支撑可验收交付。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14 / 16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742950" y="1466850"/>
            <a:ext cx="10706100" cy="3676650"/>
            <a:chOff x="742950" y="1466850"/>
            <a:chExt cx="10706100" cy="3676650"/>
          </a:xfrm>
        </p:grpSpPr>
        <p:sp>
          <p:nvSpPr>
            <p:cNvPr id="9" name="Rectangle 9"/>
            <p:cNvSpPr/>
            <p:nvPr/>
          </p:nvSpPr>
          <p:spPr>
            <a:xfrm>
              <a:off x="742950" y="1466850"/>
              <a:ext cx="10706100" cy="3676650"/>
            </a:xfrm>
            <a:prstGeom prst="roundRect">
              <a:avLst>
                <a:gd name="adj" fmla="val 5699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4329471" y="1677352"/>
              <a:ext cx="3533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050" b="1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QUALITY PIPELINE · EACH STAGE LEAVES AN ARTIFACT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990600" y="2152650"/>
            <a:ext cx="1790700" cy="2381250"/>
            <a:chOff x="990600" y="2152650"/>
            <a:chExt cx="1790700" cy="2381250"/>
          </a:xfrm>
        </p:grpSpPr>
        <p:sp>
          <p:nvSpPr>
            <p:cNvPr id="12" name="Rectangle 12"/>
            <p:cNvSpPr/>
            <p:nvPr/>
          </p:nvSpPr>
          <p:spPr>
            <a:xfrm>
              <a:off x="9906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9906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202055" y="2349818"/>
              <a:ext cx="922701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01 Pytest</a:t>
              </a:r>
            </a:p>
          </p:txBody>
        </p:sp>
        <p:grpSp>
          <p:nvGrpSpPr>
            <p:cNvPr id="17" name="Group 17"/>
            <p:cNvGrpSpPr/>
            <p:nvPr/>
          </p:nvGrpSpPr>
          <p:grpSpPr>
            <a:xfrm>
              <a:off x="1283586" y="3022988"/>
              <a:ext cx="295757" cy="284475"/>
              <a:chOff x="1283586" y="3022988"/>
              <a:chExt cx="295757" cy="284475"/>
            </a:xfrm>
          </p:grpSpPr>
          <p:sp>
            <p:nvSpPr>
              <p:cNvPr id="15" name="Freeform 15"/>
              <p:cNvSpPr/>
              <p:nvPr/>
            </p:nvSpPr>
            <p:spPr>
              <a:xfrm>
                <a:off x="1295355" y="3158108"/>
                <a:ext cx="185875" cy="137587"/>
              </a:xfrm>
              <a:custGeom>
                <a:avLst/>
                <a:gdLst/>
                <a:ahLst/>
                <a:cxnLst/>
                <a:rect l="l" t="t" r="r" b="b"/>
                <a:pathLst>
                  <a:path w="185875" h="137587">
                    <a:moveTo>
                      <a:pt x="185875" y="21364"/>
                    </a:moveTo>
                    <a:lnTo>
                      <a:pt x="88885" y="118354"/>
                    </a:lnTo>
                    <a:cubicBezTo>
                      <a:pt x="69651" y="137587"/>
                      <a:pt x="38467" y="137587"/>
                      <a:pt x="19233" y="118354"/>
                    </a:cubicBezTo>
                    <a:lnTo>
                      <a:pt x="19233" y="118354"/>
                    </a:lnTo>
                    <a:cubicBezTo>
                      <a:pt x="0" y="99120"/>
                      <a:pt x="0" y="67936"/>
                      <a:pt x="19233" y="48703"/>
                    </a:cubicBezTo>
                    <a:lnTo>
                      <a:pt x="59417" y="8519"/>
                    </a:lnTo>
                    <a:cubicBezTo>
                      <a:pt x="71968" y="3630"/>
                      <a:pt x="93948" y="0"/>
                      <a:pt x="122612" y="14975"/>
                    </a:cubicBezTo>
                    <a:cubicBezTo>
                      <a:pt x="151277" y="29950"/>
                      <a:pt x="173324" y="26253"/>
                      <a:pt x="185875" y="21364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6" name="Freeform 16"/>
              <p:cNvSpPr/>
              <p:nvPr/>
            </p:nvSpPr>
            <p:spPr>
              <a:xfrm>
                <a:off x="1283586" y="3022988"/>
                <a:ext cx="295757" cy="284475"/>
              </a:xfrm>
              <a:custGeom>
                <a:avLst/>
                <a:gdLst/>
                <a:ahLst/>
                <a:cxnLst/>
                <a:rect l="l" t="t" r="r" b="b"/>
                <a:pathLst>
                  <a:path w="295757" h="284475">
                    <a:moveTo>
                      <a:pt x="292048" y="83510"/>
                    </a:moveTo>
                    <a:lnTo>
                      <a:pt x="211681" y="3143"/>
                    </a:lnTo>
                    <a:cubicBezTo>
                      <a:pt x="209671" y="1131"/>
                      <a:pt x="206944" y="0"/>
                      <a:pt x="204100" y="0"/>
                    </a:cubicBezTo>
                    <a:cubicBezTo>
                      <a:pt x="201256" y="0"/>
                      <a:pt x="198528" y="1131"/>
                      <a:pt x="196518" y="3143"/>
                    </a:cubicBezTo>
                    <a:lnTo>
                      <a:pt x="23421" y="176240"/>
                    </a:lnTo>
                    <a:cubicBezTo>
                      <a:pt x="0" y="199661"/>
                      <a:pt x="0" y="237634"/>
                      <a:pt x="23421" y="261054"/>
                    </a:cubicBezTo>
                    <a:cubicBezTo>
                      <a:pt x="46842" y="284475"/>
                      <a:pt x="84814" y="284475"/>
                      <a:pt x="108235" y="261054"/>
                    </a:cubicBezTo>
                    <a:lnTo>
                      <a:pt x="258106" y="111183"/>
                    </a:lnTo>
                    <a:lnTo>
                      <a:pt x="287856" y="101271"/>
                    </a:lnTo>
                    <a:cubicBezTo>
                      <a:pt x="291381" y="100098"/>
                      <a:pt x="294048" y="97183"/>
                      <a:pt x="294902" y="93567"/>
                    </a:cubicBezTo>
                    <a:cubicBezTo>
                      <a:pt x="295757" y="89950"/>
                      <a:pt x="294676" y="86150"/>
                      <a:pt x="292048" y="83523"/>
                    </a:cubicBezTo>
                    <a:close/>
                    <a:moveTo>
                      <a:pt x="93072" y="245892"/>
                    </a:moveTo>
                    <a:cubicBezTo>
                      <a:pt x="77948" y="260469"/>
                      <a:pt x="53935" y="260247"/>
                      <a:pt x="39081" y="245394"/>
                    </a:cubicBezTo>
                    <a:cubicBezTo>
                      <a:pt x="24228" y="230540"/>
                      <a:pt x="24007" y="206528"/>
                      <a:pt x="38583" y="191403"/>
                    </a:cubicBezTo>
                    <a:lnTo>
                      <a:pt x="77160" y="152827"/>
                    </a:lnTo>
                    <a:cubicBezTo>
                      <a:pt x="88505" y="148942"/>
                      <a:pt x="106293" y="147469"/>
                      <a:pt x="129492" y="159524"/>
                    </a:cubicBezTo>
                    <a:cubicBezTo>
                      <a:pt x="143690" y="166944"/>
                      <a:pt x="156522" y="170240"/>
                      <a:pt x="167747" y="171217"/>
                    </a:cubicBezTo>
                    <a:close/>
                    <a:moveTo>
                      <a:pt x="248931" y="91640"/>
                    </a:moveTo>
                    <a:cubicBezTo>
                      <a:pt x="247352" y="92165"/>
                      <a:pt x="245916" y="93050"/>
                      <a:pt x="244739" y="94226"/>
                    </a:cubicBezTo>
                    <a:lnTo>
                      <a:pt x="191736" y="147228"/>
                    </a:lnTo>
                    <a:cubicBezTo>
                      <a:pt x="180391" y="151112"/>
                      <a:pt x="162603" y="152586"/>
                      <a:pt x="139404" y="140530"/>
                    </a:cubicBezTo>
                    <a:cubicBezTo>
                      <a:pt x="125206" y="133110"/>
                      <a:pt x="112374" y="129815"/>
                      <a:pt x="101149" y="128837"/>
                    </a:cubicBezTo>
                    <a:lnTo>
                      <a:pt x="204100" y="25873"/>
                    </a:lnTo>
                    <a:lnTo>
                      <a:pt x="264630" y="86403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18" name="TextBox 18"/>
            <p:cNvSpPr txBox="1"/>
            <p:nvPr/>
          </p:nvSpPr>
          <p:spPr>
            <a:xfrm>
              <a:off x="16811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后端测试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244918" y="3533299"/>
              <a:ext cx="1139190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认证、校园隔离、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评分、幂等、分页、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上传和管理 API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12001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62248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测试报告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162300" y="2152650"/>
            <a:ext cx="1790700" cy="2381250"/>
            <a:chOff x="3162300" y="2152650"/>
            <a:chExt cx="1790700" cy="2381250"/>
          </a:xfrm>
        </p:grpSpPr>
        <p:sp>
          <p:nvSpPr>
            <p:cNvPr id="23" name="Rectangle 23"/>
            <p:cNvSpPr/>
            <p:nvPr/>
          </p:nvSpPr>
          <p:spPr>
            <a:xfrm>
              <a:off x="31623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31623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3373755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02 Vitest</a:t>
              </a:r>
            </a:p>
          </p:txBody>
        </p:sp>
        <p:grpSp>
          <p:nvGrpSpPr>
            <p:cNvPr id="28" name="Group 28"/>
            <p:cNvGrpSpPr/>
            <p:nvPr/>
          </p:nvGrpSpPr>
          <p:grpSpPr>
            <a:xfrm>
              <a:off x="3504009" y="3012281"/>
              <a:ext cx="192881" cy="300038"/>
              <a:chOff x="3504009" y="3012281"/>
              <a:chExt cx="192881" cy="300038"/>
            </a:xfrm>
          </p:grpSpPr>
          <p:sp>
            <p:nvSpPr>
              <p:cNvPr id="26" name="Freeform 26"/>
              <p:cNvSpPr/>
              <p:nvPr/>
            </p:nvSpPr>
            <p:spPr>
              <a:xfrm>
                <a:off x="3514725" y="3065859"/>
                <a:ext cx="171450" cy="192881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92881">
                    <a:moveTo>
                      <a:pt x="171450" y="0"/>
                    </a:moveTo>
                    <a:lnTo>
                      <a:pt x="171450" y="192881"/>
                    </a:lnTo>
                    <a:lnTo>
                      <a:pt x="0" y="19288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7" name="Freeform 27"/>
              <p:cNvSpPr/>
              <p:nvPr/>
            </p:nvSpPr>
            <p:spPr>
              <a:xfrm>
                <a:off x="3504009" y="3012281"/>
                <a:ext cx="192881" cy="300038"/>
              </a:xfrm>
              <a:custGeom>
                <a:avLst/>
                <a:gdLst/>
                <a:ahLst/>
                <a:cxnLst/>
                <a:rect l="l" t="t" r="r" b="b"/>
                <a:pathLst>
                  <a:path w="192881" h="300038">
                    <a:moveTo>
                      <a:pt x="160734" y="0"/>
                    </a:moveTo>
                    <a:lnTo>
                      <a:pt x="32147" y="0"/>
                    </a:lnTo>
                    <a:cubicBezTo>
                      <a:pt x="14393" y="0"/>
                      <a:pt x="0" y="14393"/>
                      <a:pt x="0" y="32147"/>
                    </a:cubicBezTo>
                    <a:lnTo>
                      <a:pt x="0" y="267891"/>
                    </a:lnTo>
                    <a:cubicBezTo>
                      <a:pt x="0" y="285645"/>
                      <a:pt x="14393" y="300038"/>
                      <a:pt x="32147" y="300038"/>
                    </a:cubicBezTo>
                    <a:lnTo>
                      <a:pt x="160734" y="300038"/>
                    </a:lnTo>
                    <a:cubicBezTo>
                      <a:pt x="178489" y="300038"/>
                      <a:pt x="192881" y="285645"/>
                      <a:pt x="192881" y="267891"/>
                    </a:cubicBezTo>
                    <a:lnTo>
                      <a:pt x="192881" y="32147"/>
                    </a:lnTo>
                    <a:cubicBezTo>
                      <a:pt x="192881" y="14393"/>
                      <a:pt x="178489" y="0"/>
                      <a:pt x="160734" y="0"/>
                    </a:cubicBezTo>
                    <a:close/>
                    <a:moveTo>
                      <a:pt x="21431" y="64294"/>
                    </a:moveTo>
                    <a:lnTo>
                      <a:pt x="171450" y="64294"/>
                    </a:lnTo>
                    <a:lnTo>
                      <a:pt x="171450" y="235744"/>
                    </a:lnTo>
                    <a:lnTo>
                      <a:pt x="21431" y="235744"/>
                    </a:lnTo>
                    <a:close/>
                    <a:moveTo>
                      <a:pt x="32147" y="21431"/>
                    </a:moveTo>
                    <a:lnTo>
                      <a:pt x="160734" y="21431"/>
                    </a:lnTo>
                    <a:cubicBezTo>
                      <a:pt x="166652" y="21431"/>
                      <a:pt x="171450" y="26229"/>
                      <a:pt x="171450" y="32147"/>
                    </a:cubicBezTo>
                    <a:lnTo>
                      <a:pt x="171450" y="42862"/>
                    </a:lnTo>
                    <a:lnTo>
                      <a:pt x="21431" y="42862"/>
                    </a:lnTo>
                    <a:lnTo>
                      <a:pt x="21431" y="32147"/>
                    </a:lnTo>
                    <a:cubicBezTo>
                      <a:pt x="21431" y="26229"/>
                      <a:pt x="26229" y="21431"/>
                      <a:pt x="32147" y="21431"/>
                    </a:cubicBezTo>
                    <a:close/>
                    <a:moveTo>
                      <a:pt x="160734" y="278606"/>
                    </a:moveTo>
                    <a:lnTo>
                      <a:pt x="32147" y="278606"/>
                    </a:lnTo>
                    <a:cubicBezTo>
                      <a:pt x="26229" y="278606"/>
                      <a:pt x="21431" y="273809"/>
                      <a:pt x="21431" y="267891"/>
                    </a:cubicBezTo>
                    <a:lnTo>
                      <a:pt x="21431" y="257175"/>
                    </a:lnTo>
                    <a:lnTo>
                      <a:pt x="171450" y="257175"/>
                    </a:lnTo>
                    <a:lnTo>
                      <a:pt x="171450" y="267891"/>
                    </a:lnTo>
                    <a:cubicBezTo>
                      <a:pt x="171450" y="273809"/>
                      <a:pt x="166652" y="278606"/>
                      <a:pt x="160734" y="278606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9" name="TextBox 29"/>
            <p:cNvSpPr txBox="1"/>
            <p:nvPr/>
          </p:nvSpPr>
          <p:spPr>
            <a:xfrm>
              <a:off x="38528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前端组件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416618" y="3533299"/>
              <a:ext cx="1077278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页面渲染、状态、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HTTP 映射、表单、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交互行为</a:t>
              </a:r>
            </a:p>
          </p:txBody>
        </p:sp>
        <p:sp>
          <p:nvSpPr>
            <p:cNvPr id="31" name="Rectangle 31"/>
            <p:cNvSpPr/>
            <p:nvPr/>
          </p:nvSpPr>
          <p:spPr>
            <a:xfrm>
              <a:off x="33718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3794189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组件结果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5334000" y="2152650"/>
            <a:ext cx="1790700" cy="2381250"/>
            <a:chOff x="5334000" y="2152650"/>
            <a:chExt cx="1790700" cy="2381250"/>
          </a:xfrm>
        </p:grpSpPr>
        <p:sp>
          <p:nvSpPr>
            <p:cNvPr id="34" name="Rectangle 34"/>
            <p:cNvSpPr/>
            <p:nvPr/>
          </p:nvSpPr>
          <p:spPr>
            <a:xfrm>
              <a:off x="53340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5" name="Rectangle 35"/>
            <p:cNvSpPr/>
            <p:nvPr/>
          </p:nvSpPr>
          <p:spPr>
            <a:xfrm>
              <a:off x="53340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FFB703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5545455" y="2349818"/>
              <a:ext cx="61081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03 E2E</a:t>
              </a:r>
            </a:p>
          </p:txBody>
        </p:sp>
        <p:grpSp>
          <p:nvGrpSpPr>
            <p:cNvPr id="39" name="Group 39"/>
            <p:cNvGrpSpPr/>
            <p:nvPr/>
          </p:nvGrpSpPr>
          <p:grpSpPr>
            <a:xfrm>
              <a:off x="5632847" y="3055144"/>
              <a:ext cx="280300" cy="249584"/>
              <a:chOff x="5632847" y="3055144"/>
              <a:chExt cx="280300" cy="249584"/>
            </a:xfrm>
          </p:grpSpPr>
          <p:sp>
            <p:nvSpPr>
              <p:cNvPr id="37" name="Freeform 37"/>
              <p:cNvSpPr/>
              <p:nvPr/>
            </p:nvSpPr>
            <p:spPr>
              <a:xfrm>
                <a:off x="5836444" y="3226594"/>
                <a:ext cx="64294" cy="64294"/>
              </a:xfrm>
              <a:custGeom>
                <a:avLst/>
                <a:gdLst/>
                <a:ahLst/>
                <a:cxnLst/>
                <a:rect l="l" t="t" r="r" b="b"/>
                <a:pathLst>
                  <a:path w="64294" h="64294">
                    <a:moveTo>
                      <a:pt x="64294" y="32147"/>
                    </a:moveTo>
                    <a:cubicBezTo>
                      <a:pt x="64294" y="49901"/>
                      <a:pt x="49901" y="64294"/>
                      <a:pt x="32147" y="64294"/>
                    </a:cubicBezTo>
                    <a:cubicBezTo>
                      <a:pt x="14393" y="64294"/>
                      <a:pt x="0" y="49901"/>
                      <a:pt x="0" y="32147"/>
                    </a:cubicBezTo>
                    <a:cubicBezTo>
                      <a:pt x="0" y="14393"/>
                      <a:pt x="14393" y="0"/>
                      <a:pt x="32147" y="0"/>
                    </a:cubicBezTo>
                    <a:cubicBezTo>
                      <a:pt x="49901" y="0"/>
                      <a:pt x="64294" y="14393"/>
                      <a:pt x="64294" y="32147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8" name="Freeform 38"/>
              <p:cNvSpPr/>
              <p:nvPr/>
            </p:nvSpPr>
            <p:spPr>
              <a:xfrm>
                <a:off x="5632847" y="3055144"/>
                <a:ext cx="280300" cy="249584"/>
              </a:xfrm>
              <a:custGeom>
                <a:avLst/>
                <a:gdLst/>
                <a:ahLst/>
                <a:cxnLst/>
                <a:rect l="l" t="t" r="r" b="b"/>
                <a:pathLst>
                  <a:path w="280300" h="249584">
                    <a:moveTo>
                      <a:pt x="235744" y="160734"/>
                    </a:moveTo>
                    <a:cubicBezTo>
                      <a:pt x="216200" y="160753"/>
                      <a:pt x="199134" y="173965"/>
                      <a:pt x="194221" y="192881"/>
                    </a:cubicBezTo>
                    <a:lnTo>
                      <a:pt x="64294" y="192881"/>
                    </a:lnTo>
                    <a:cubicBezTo>
                      <a:pt x="40621" y="192881"/>
                      <a:pt x="21431" y="173691"/>
                      <a:pt x="21431" y="150019"/>
                    </a:cubicBezTo>
                    <a:cubicBezTo>
                      <a:pt x="21431" y="126346"/>
                      <a:pt x="40621" y="107156"/>
                      <a:pt x="64294" y="107156"/>
                    </a:cubicBezTo>
                    <a:lnTo>
                      <a:pt x="192881" y="107156"/>
                    </a:lnTo>
                    <a:cubicBezTo>
                      <a:pt x="222472" y="107156"/>
                      <a:pt x="246459" y="83169"/>
                      <a:pt x="246459" y="53578"/>
                    </a:cubicBezTo>
                    <a:cubicBezTo>
                      <a:pt x="246459" y="23988"/>
                      <a:pt x="222472" y="0"/>
                      <a:pt x="192881" y="0"/>
                    </a:cubicBezTo>
                    <a:lnTo>
                      <a:pt x="64294" y="0"/>
                    </a:lnTo>
                    <a:cubicBezTo>
                      <a:pt x="58376" y="0"/>
                      <a:pt x="53578" y="4798"/>
                      <a:pt x="53578" y="10716"/>
                    </a:cubicBezTo>
                    <a:cubicBezTo>
                      <a:pt x="53578" y="16634"/>
                      <a:pt x="58376" y="21431"/>
                      <a:pt x="64294" y="21431"/>
                    </a:cubicBezTo>
                    <a:lnTo>
                      <a:pt x="192881" y="21431"/>
                    </a:lnTo>
                    <a:cubicBezTo>
                      <a:pt x="210635" y="21431"/>
                      <a:pt x="225028" y="35824"/>
                      <a:pt x="225028" y="53578"/>
                    </a:cubicBezTo>
                    <a:cubicBezTo>
                      <a:pt x="225028" y="71332"/>
                      <a:pt x="210635" y="85725"/>
                      <a:pt x="192881" y="85725"/>
                    </a:cubicBezTo>
                    <a:lnTo>
                      <a:pt x="64294" y="85725"/>
                    </a:lnTo>
                    <a:cubicBezTo>
                      <a:pt x="28785" y="85725"/>
                      <a:pt x="0" y="114510"/>
                      <a:pt x="0" y="150019"/>
                    </a:cubicBezTo>
                    <a:cubicBezTo>
                      <a:pt x="0" y="185527"/>
                      <a:pt x="28785" y="214312"/>
                      <a:pt x="64294" y="214312"/>
                    </a:cubicBezTo>
                    <a:lnTo>
                      <a:pt x="194221" y="214312"/>
                    </a:lnTo>
                    <a:cubicBezTo>
                      <a:pt x="199789" y="235877"/>
                      <a:pt x="220944" y="249584"/>
                      <a:pt x="242901" y="245854"/>
                    </a:cubicBezTo>
                    <a:cubicBezTo>
                      <a:pt x="264858" y="242124"/>
                      <a:pt x="280300" y="222199"/>
                      <a:pt x="278434" y="200005"/>
                    </a:cubicBezTo>
                    <a:cubicBezTo>
                      <a:pt x="276568" y="177812"/>
                      <a:pt x="258015" y="160746"/>
                      <a:pt x="235744" y="160734"/>
                    </a:cubicBezTo>
                    <a:close/>
                    <a:moveTo>
                      <a:pt x="235744" y="225028"/>
                    </a:moveTo>
                    <a:cubicBezTo>
                      <a:pt x="223908" y="225028"/>
                      <a:pt x="214312" y="215433"/>
                      <a:pt x="214312" y="203597"/>
                    </a:cubicBezTo>
                    <a:cubicBezTo>
                      <a:pt x="214312" y="191761"/>
                      <a:pt x="223908" y="182166"/>
                      <a:pt x="235744" y="182166"/>
                    </a:cubicBezTo>
                    <a:cubicBezTo>
                      <a:pt x="247580" y="182166"/>
                      <a:pt x="257175" y="191761"/>
                      <a:pt x="257175" y="203597"/>
                    </a:cubicBezTo>
                    <a:cubicBezTo>
                      <a:pt x="257175" y="215433"/>
                      <a:pt x="247580" y="225028"/>
                      <a:pt x="235744" y="225028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40" name="TextBox 40"/>
            <p:cNvSpPr txBox="1"/>
            <p:nvPr/>
          </p:nvSpPr>
          <p:spPr>
            <a:xfrm>
              <a:off x="6024562" y="2964656"/>
              <a:ext cx="5011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端到端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5588318" y="3533299"/>
              <a:ext cx="1263015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用户评价到管理审核、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游客阅读、地图星标、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管理 CRUD 与审计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55435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596588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演示闭环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505700" y="2152650"/>
            <a:ext cx="1790700" cy="2381250"/>
            <a:chOff x="7505700" y="2152650"/>
            <a:chExt cx="1790700" cy="2381250"/>
          </a:xfrm>
        </p:grpSpPr>
        <p:sp>
          <p:nvSpPr>
            <p:cNvPr id="45" name="Rectangle 45"/>
            <p:cNvSpPr/>
            <p:nvPr/>
          </p:nvSpPr>
          <p:spPr>
            <a:xfrm>
              <a:off x="7505700" y="2152650"/>
              <a:ext cx="1790700" cy="2381250"/>
            </a:xfrm>
            <a:prstGeom prst="roundRect">
              <a:avLst>
                <a:gd name="adj" fmla="val 9574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46" name="Rectangle 46"/>
            <p:cNvSpPr/>
            <p:nvPr/>
          </p:nvSpPr>
          <p:spPr>
            <a:xfrm>
              <a:off x="7505700" y="2152650"/>
              <a:ext cx="1790700" cy="533400"/>
            </a:xfrm>
            <a:prstGeom prst="roundRect">
              <a:avLst>
                <a:gd name="adj" fmla="val 32143"/>
              </a:avLst>
            </a:prstGeom>
            <a:solidFill>
              <a:srgbClr val="1F8A70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7717155" y="2349818"/>
              <a:ext cx="771482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04 Audit</a:t>
              </a:r>
            </a:p>
          </p:txBody>
        </p:sp>
        <p:grpSp>
          <p:nvGrpSpPr>
            <p:cNvPr id="50" name="Group 50"/>
            <p:cNvGrpSpPr/>
            <p:nvPr/>
          </p:nvGrpSpPr>
          <p:grpSpPr>
            <a:xfrm>
              <a:off x="7804538" y="3021944"/>
              <a:ext cx="257183" cy="258228"/>
              <a:chOff x="7804538" y="3021944"/>
              <a:chExt cx="257183" cy="258228"/>
            </a:xfrm>
          </p:grpSpPr>
          <p:sp>
            <p:nvSpPr>
              <p:cNvPr id="48" name="Freeform 48"/>
              <p:cNvSpPr/>
              <p:nvPr/>
            </p:nvSpPr>
            <p:spPr>
              <a:xfrm>
                <a:off x="7836694" y="3055144"/>
                <a:ext cx="214312" cy="214312"/>
              </a:xfrm>
              <a:custGeom>
                <a:avLst/>
                <a:gdLst/>
                <a:ahLst/>
                <a:cxnLst/>
                <a:rect l="l" t="t" r="r" b="b"/>
                <a:pathLst>
                  <a:path w="214312" h="214312">
                    <a:moveTo>
                      <a:pt x="214312" y="10716"/>
                    </a:moveTo>
                    <a:lnTo>
                      <a:pt x="214312" y="203597"/>
                    </a:lnTo>
                    <a:cubicBezTo>
                      <a:pt x="214312" y="209515"/>
                      <a:pt x="209515" y="214312"/>
                      <a:pt x="203597" y="214312"/>
                    </a:cubicBezTo>
                    <a:lnTo>
                      <a:pt x="10716" y="214312"/>
                    </a:lnTo>
                    <a:cubicBezTo>
                      <a:pt x="4798" y="214312"/>
                      <a:pt x="0" y="209515"/>
                      <a:pt x="0" y="203597"/>
                    </a:cubicBezTo>
                    <a:lnTo>
                      <a:pt x="0" y="10716"/>
                    </a:lnTo>
                    <a:cubicBezTo>
                      <a:pt x="0" y="4798"/>
                      <a:pt x="4798" y="0"/>
                      <a:pt x="10716" y="0"/>
                    </a:cubicBezTo>
                    <a:lnTo>
                      <a:pt x="203597" y="0"/>
                    </a:lnTo>
                    <a:cubicBezTo>
                      <a:pt x="209515" y="0"/>
                      <a:pt x="214312" y="4798"/>
                      <a:pt x="214312" y="10716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9" name="Freeform 49"/>
              <p:cNvSpPr/>
              <p:nvPr/>
            </p:nvSpPr>
            <p:spPr>
              <a:xfrm>
                <a:off x="7804538" y="3021944"/>
                <a:ext cx="257183" cy="258228"/>
              </a:xfrm>
              <a:custGeom>
                <a:avLst/>
                <a:gdLst/>
                <a:ahLst/>
                <a:cxnLst/>
                <a:rect l="l" t="t" r="r" b="b"/>
                <a:pathLst>
                  <a:path w="257183" h="258228">
                    <a:moveTo>
                      <a:pt x="46005" y="105075"/>
                    </a:moveTo>
                    <a:lnTo>
                      <a:pt x="3143" y="62212"/>
                    </a:lnTo>
                    <a:cubicBezTo>
                      <a:pt x="1131" y="60202"/>
                      <a:pt x="0" y="57475"/>
                      <a:pt x="0" y="54631"/>
                    </a:cubicBezTo>
                    <a:cubicBezTo>
                      <a:pt x="0" y="51787"/>
                      <a:pt x="1131" y="49059"/>
                      <a:pt x="3143" y="47050"/>
                    </a:cubicBezTo>
                    <a:lnTo>
                      <a:pt x="46005" y="4187"/>
                    </a:lnTo>
                    <a:cubicBezTo>
                      <a:pt x="50192" y="0"/>
                      <a:pt x="56981" y="0"/>
                      <a:pt x="61168" y="4187"/>
                    </a:cubicBezTo>
                    <a:cubicBezTo>
                      <a:pt x="65355" y="8374"/>
                      <a:pt x="65355" y="15163"/>
                      <a:pt x="61168" y="19350"/>
                    </a:cubicBezTo>
                    <a:lnTo>
                      <a:pt x="25873" y="54631"/>
                    </a:lnTo>
                    <a:lnTo>
                      <a:pt x="61168" y="89912"/>
                    </a:lnTo>
                    <a:cubicBezTo>
                      <a:pt x="65355" y="94099"/>
                      <a:pt x="65355" y="100888"/>
                      <a:pt x="61168" y="105075"/>
                    </a:cubicBezTo>
                    <a:cubicBezTo>
                      <a:pt x="56981" y="109262"/>
                      <a:pt x="50192" y="109262"/>
                      <a:pt x="46005" y="105075"/>
                    </a:cubicBezTo>
                    <a:close/>
                    <a:moveTo>
                      <a:pt x="99583" y="105075"/>
                    </a:moveTo>
                    <a:cubicBezTo>
                      <a:pt x="101593" y="107087"/>
                      <a:pt x="104321" y="108217"/>
                      <a:pt x="107165" y="108217"/>
                    </a:cubicBezTo>
                    <a:cubicBezTo>
                      <a:pt x="110009" y="108217"/>
                      <a:pt x="112736" y="107087"/>
                      <a:pt x="114746" y="105075"/>
                    </a:cubicBezTo>
                    <a:lnTo>
                      <a:pt x="157608" y="62212"/>
                    </a:lnTo>
                    <a:cubicBezTo>
                      <a:pt x="159621" y="60202"/>
                      <a:pt x="160751" y="57475"/>
                      <a:pt x="160751" y="54631"/>
                    </a:cubicBezTo>
                    <a:cubicBezTo>
                      <a:pt x="160751" y="51787"/>
                      <a:pt x="159621" y="49059"/>
                      <a:pt x="157608" y="47050"/>
                    </a:cubicBezTo>
                    <a:lnTo>
                      <a:pt x="114746" y="4187"/>
                    </a:lnTo>
                    <a:cubicBezTo>
                      <a:pt x="110559" y="0"/>
                      <a:pt x="103770" y="0"/>
                      <a:pt x="99583" y="4187"/>
                    </a:cubicBezTo>
                    <a:cubicBezTo>
                      <a:pt x="95396" y="8374"/>
                      <a:pt x="95396" y="15163"/>
                      <a:pt x="99583" y="19350"/>
                    </a:cubicBezTo>
                    <a:lnTo>
                      <a:pt x="134878" y="54631"/>
                    </a:lnTo>
                    <a:lnTo>
                      <a:pt x="99583" y="89912"/>
                    </a:lnTo>
                    <a:cubicBezTo>
                      <a:pt x="97571" y="91922"/>
                      <a:pt x="96441" y="94649"/>
                      <a:pt x="96441" y="97493"/>
                    </a:cubicBezTo>
                    <a:cubicBezTo>
                      <a:pt x="96441" y="100337"/>
                      <a:pt x="97571" y="103065"/>
                      <a:pt x="99583" y="105075"/>
                    </a:cubicBezTo>
                    <a:close/>
                    <a:moveTo>
                      <a:pt x="235752" y="22484"/>
                    </a:moveTo>
                    <a:lnTo>
                      <a:pt x="203605" y="22484"/>
                    </a:lnTo>
                    <a:cubicBezTo>
                      <a:pt x="197687" y="22484"/>
                      <a:pt x="192890" y="27282"/>
                      <a:pt x="192890" y="33200"/>
                    </a:cubicBezTo>
                    <a:cubicBezTo>
                      <a:pt x="192890" y="39118"/>
                      <a:pt x="197687" y="43915"/>
                      <a:pt x="203605" y="43915"/>
                    </a:cubicBezTo>
                    <a:lnTo>
                      <a:pt x="235752" y="43915"/>
                    </a:lnTo>
                    <a:lnTo>
                      <a:pt x="235752" y="236796"/>
                    </a:lnTo>
                    <a:lnTo>
                      <a:pt x="42871" y="236796"/>
                    </a:lnTo>
                    <a:lnTo>
                      <a:pt x="42871" y="151071"/>
                    </a:lnTo>
                    <a:cubicBezTo>
                      <a:pt x="42871" y="145153"/>
                      <a:pt x="38073" y="140356"/>
                      <a:pt x="32155" y="140356"/>
                    </a:cubicBezTo>
                    <a:cubicBezTo>
                      <a:pt x="26237" y="140356"/>
                      <a:pt x="21440" y="145153"/>
                      <a:pt x="21440" y="151071"/>
                    </a:cubicBezTo>
                    <a:lnTo>
                      <a:pt x="21440" y="236796"/>
                    </a:lnTo>
                    <a:cubicBezTo>
                      <a:pt x="21440" y="248633"/>
                      <a:pt x="31035" y="258228"/>
                      <a:pt x="42871" y="258228"/>
                    </a:cubicBezTo>
                    <a:lnTo>
                      <a:pt x="235752" y="258228"/>
                    </a:lnTo>
                    <a:cubicBezTo>
                      <a:pt x="247588" y="258228"/>
                      <a:pt x="257183" y="248633"/>
                      <a:pt x="257183" y="236796"/>
                    </a:cubicBezTo>
                    <a:lnTo>
                      <a:pt x="257183" y="43915"/>
                    </a:lnTo>
                    <a:cubicBezTo>
                      <a:pt x="257183" y="32079"/>
                      <a:pt x="247588" y="22484"/>
                      <a:pt x="235752" y="22484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1" name="TextBox 51"/>
            <p:cNvSpPr txBox="1"/>
            <p:nvPr/>
          </p:nvSpPr>
          <p:spPr>
            <a:xfrm>
              <a:off x="81962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静态契约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7760018" y="3533299"/>
              <a:ext cx="1263015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static_audit 检查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路由边界、核心文件、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关键 UI/API 契约</a:t>
              </a:r>
            </a:p>
          </p:txBody>
        </p:sp>
        <p:sp>
          <p:nvSpPr>
            <p:cNvPr id="53" name="Rectangle 53"/>
            <p:cNvSpPr/>
            <p:nvPr/>
          </p:nvSpPr>
          <p:spPr>
            <a:xfrm>
              <a:off x="7715250" y="4114800"/>
              <a:ext cx="13716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54" name="TextBox 54"/>
            <p:cNvSpPr txBox="1"/>
            <p:nvPr/>
          </p:nvSpPr>
          <p:spPr>
            <a:xfrm>
              <a:off x="813758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审计结果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9677400" y="2152650"/>
            <a:ext cx="1524000" cy="2381250"/>
            <a:chOff x="9677400" y="2152650"/>
            <a:chExt cx="1524000" cy="2381250"/>
          </a:xfrm>
        </p:grpSpPr>
        <p:sp>
          <p:nvSpPr>
            <p:cNvPr id="56" name="Rectangle 56"/>
            <p:cNvSpPr/>
            <p:nvPr/>
          </p:nvSpPr>
          <p:spPr>
            <a:xfrm>
              <a:off x="9677400" y="2152650"/>
              <a:ext cx="1524000" cy="2381250"/>
            </a:xfrm>
            <a:prstGeom prst="roundRect">
              <a:avLst>
                <a:gd name="adj" fmla="val 1125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57" name="Rectangle 57"/>
            <p:cNvSpPr/>
            <p:nvPr/>
          </p:nvSpPr>
          <p:spPr>
            <a:xfrm>
              <a:off x="9677400" y="2152650"/>
              <a:ext cx="1524000" cy="533400"/>
            </a:xfrm>
            <a:prstGeom prst="roundRect">
              <a:avLst>
                <a:gd name="adj" fmla="val 32143"/>
              </a:avLst>
            </a:prstGeom>
            <a:solidFill>
              <a:srgbClr val="3A86FF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9888855" y="2349818"/>
              <a:ext cx="875445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05 Deploy</a:t>
              </a:r>
            </a:p>
          </p:txBody>
        </p:sp>
        <p:grpSp>
          <p:nvGrpSpPr>
            <p:cNvPr id="61" name="Group 61"/>
            <p:cNvGrpSpPr/>
            <p:nvPr/>
          </p:nvGrpSpPr>
          <p:grpSpPr>
            <a:xfrm>
              <a:off x="9974764" y="3032922"/>
              <a:ext cx="270178" cy="268684"/>
              <a:chOff x="9974764" y="3032922"/>
              <a:chExt cx="270178" cy="268684"/>
            </a:xfrm>
          </p:grpSpPr>
          <p:sp>
            <p:nvSpPr>
              <p:cNvPr id="59" name="Freeform 59"/>
              <p:cNvSpPr/>
              <p:nvPr/>
            </p:nvSpPr>
            <p:spPr>
              <a:xfrm>
                <a:off x="9986247" y="3087291"/>
                <a:ext cx="204312" cy="204312"/>
              </a:xfrm>
              <a:custGeom>
                <a:avLst/>
                <a:gdLst/>
                <a:ahLst/>
                <a:cxnLst/>
                <a:rect l="l" t="t" r="r" b="b"/>
                <a:pathLst>
                  <a:path w="204312" h="204312">
                    <a:moveTo>
                      <a:pt x="54294" y="117872"/>
                    </a:moveTo>
                    <a:lnTo>
                      <a:pt x="86441" y="150019"/>
                    </a:lnTo>
                    <a:cubicBezTo>
                      <a:pt x="86441" y="150019"/>
                      <a:pt x="75725" y="192881"/>
                      <a:pt x="11431" y="192881"/>
                    </a:cubicBezTo>
                    <a:cubicBezTo>
                      <a:pt x="11431" y="128588"/>
                      <a:pt x="54294" y="117872"/>
                      <a:pt x="54294" y="117872"/>
                    </a:cubicBezTo>
                    <a:close/>
                    <a:moveTo>
                      <a:pt x="140019" y="0"/>
                    </a:moveTo>
                    <a:lnTo>
                      <a:pt x="57441" y="0"/>
                    </a:lnTo>
                    <a:cubicBezTo>
                      <a:pt x="54603" y="1"/>
                      <a:pt x="51881" y="1129"/>
                      <a:pt x="49873" y="3134"/>
                    </a:cubicBezTo>
                    <a:lnTo>
                      <a:pt x="3863" y="49145"/>
                    </a:lnTo>
                    <a:cubicBezTo>
                      <a:pt x="998" y="52016"/>
                      <a:pt x="0" y="56259"/>
                      <a:pt x="1284" y="60106"/>
                    </a:cubicBezTo>
                    <a:cubicBezTo>
                      <a:pt x="2569" y="63954"/>
                      <a:pt x="5916" y="66746"/>
                      <a:pt x="9931" y="67321"/>
                    </a:cubicBezTo>
                    <a:lnTo>
                      <a:pt x="65009" y="75009"/>
                    </a:lnTo>
                    <a:close/>
                    <a:moveTo>
                      <a:pt x="129303" y="139303"/>
                    </a:moveTo>
                    <a:lnTo>
                      <a:pt x="136991" y="194381"/>
                    </a:lnTo>
                    <a:cubicBezTo>
                      <a:pt x="137566" y="198397"/>
                      <a:pt x="140358" y="201744"/>
                      <a:pt x="144206" y="203028"/>
                    </a:cubicBezTo>
                    <a:cubicBezTo>
                      <a:pt x="148054" y="204312"/>
                      <a:pt x="152297" y="203314"/>
                      <a:pt x="155168" y="200449"/>
                    </a:cubicBezTo>
                    <a:lnTo>
                      <a:pt x="201178" y="154439"/>
                    </a:lnTo>
                    <a:cubicBezTo>
                      <a:pt x="203184" y="152431"/>
                      <a:pt x="204311" y="149709"/>
                      <a:pt x="204312" y="146871"/>
                    </a:cubicBezTo>
                    <a:lnTo>
                      <a:pt x="204312" y="64294"/>
                    </a:ln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60" name="Freeform 60"/>
              <p:cNvSpPr/>
              <p:nvPr/>
            </p:nvSpPr>
            <p:spPr>
              <a:xfrm>
                <a:off x="9974764" y="3032922"/>
                <a:ext cx="270178" cy="268684"/>
              </a:xfrm>
              <a:custGeom>
                <a:avLst/>
                <a:gdLst/>
                <a:ahLst/>
                <a:cxnLst/>
                <a:rect l="l" t="t" r="r" b="b"/>
                <a:pathLst>
                  <a:path w="270178" h="268684">
                    <a:moveTo>
                      <a:pt x="108331" y="206986"/>
                    </a:moveTo>
                    <a:cubicBezTo>
                      <a:pt x="107809" y="209062"/>
                      <a:pt x="94749" y="257965"/>
                      <a:pt x="22915" y="257965"/>
                    </a:cubicBezTo>
                    <a:cubicBezTo>
                      <a:pt x="16996" y="257965"/>
                      <a:pt x="12199" y="253168"/>
                      <a:pt x="12199" y="247250"/>
                    </a:cubicBezTo>
                    <a:cubicBezTo>
                      <a:pt x="12199" y="175415"/>
                      <a:pt x="61102" y="162355"/>
                      <a:pt x="63178" y="161833"/>
                    </a:cubicBezTo>
                    <a:cubicBezTo>
                      <a:pt x="68923" y="160398"/>
                      <a:pt x="74743" y="163891"/>
                      <a:pt x="76178" y="169635"/>
                    </a:cubicBezTo>
                    <a:cubicBezTo>
                      <a:pt x="77613" y="175379"/>
                      <a:pt x="74120" y="181199"/>
                      <a:pt x="68376" y="182634"/>
                    </a:cubicBezTo>
                    <a:cubicBezTo>
                      <a:pt x="67170" y="182969"/>
                      <a:pt x="38345" y="191394"/>
                      <a:pt x="34139" y="236025"/>
                    </a:cubicBezTo>
                    <a:cubicBezTo>
                      <a:pt x="78770" y="231819"/>
                      <a:pt x="87208" y="203048"/>
                      <a:pt x="87557" y="201708"/>
                    </a:cubicBezTo>
                    <a:cubicBezTo>
                      <a:pt x="89036" y="195971"/>
                      <a:pt x="94886" y="192520"/>
                      <a:pt x="100623" y="194000"/>
                    </a:cubicBezTo>
                    <a:cubicBezTo>
                      <a:pt x="106360" y="195479"/>
                      <a:pt x="109811" y="201329"/>
                      <a:pt x="108331" y="207066"/>
                    </a:cubicBezTo>
                    <a:close/>
                    <a:moveTo>
                      <a:pt x="232901" y="116707"/>
                    </a:moveTo>
                    <a:lnTo>
                      <a:pt x="226511" y="123096"/>
                    </a:lnTo>
                    <a:lnTo>
                      <a:pt x="226511" y="201226"/>
                    </a:lnTo>
                    <a:cubicBezTo>
                      <a:pt x="226544" y="206933"/>
                      <a:pt x="224285" y="212414"/>
                      <a:pt x="220243" y="216442"/>
                    </a:cubicBezTo>
                    <a:lnTo>
                      <a:pt x="174273" y="262385"/>
                    </a:lnTo>
                    <a:cubicBezTo>
                      <a:pt x="170269" y="266418"/>
                      <a:pt x="164820" y="268684"/>
                      <a:pt x="159137" y="268681"/>
                    </a:cubicBezTo>
                    <a:cubicBezTo>
                      <a:pt x="156815" y="268680"/>
                      <a:pt x="154508" y="268305"/>
                      <a:pt x="152306" y="267569"/>
                    </a:cubicBezTo>
                    <a:cubicBezTo>
                      <a:pt x="144592" y="265018"/>
                      <a:pt x="138995" y="258309"/>
                      <a:pt x="137866" y="250263"/>
                    </a:cubicBezTo>
                    <a:lnTo>
                      <a:pt x="130674" y="198708"/>
                    </a:lnTo>
                    <a:lnTo>
                      <a:pt x="71456" y="139491"/>
                    </a:lnTo>
                    <a:lnTo>
                      <a:pt x="19928" y="132298"/>
                    </a:lnTo>
                    <a:cubicBezTo>
                      <a:pt x="11872" y="131168"/>
                      <a:pt x="5150" y="125575"/>
                      <a:pt x="2575" y="117858"/>
                    </a:cubicBezTo>
                    <a:cubicBezTo>
                      <a:pt x="0" y="110142"/>
                      <a:pt x="2016" y="101633"/>
                      <a:pt x="7779" y="95891"/>
                    </a:cubicBezTo>
                    <a:lnTo>
                      <a:pt x="53722" y="49921"/>
                    </a:lnTo>
                    <a:cubicBezTo>
                      <a:pt x="57750" y="45879"/>
                      <a:pt x="63231" y="43621"/>
                      <a:pt x="68938" y="43653"/>
                    </a:cubicBezTo>
                    <a:lnTo>
                      <a:pt x="147068" y="43653"/>
                    </a:lnTo>
                    <a:lnTo>
                      <a:pt x="153458" y="37264"/>
                    </a:lnTo>
                    <a:cubicBezTo>
                      <a:pt x="189194" y="1540"/>
                      <a:pt x="232258" y="0"/>
                      <a:pt x="249108" y="1005"/>
                    </a:cubicBezTo>
                    <a:cubicBezTo>
                      <a:pt x="259921" y="1662"/>
                      <a:pt x="268543" y="10284"/>
                      <a:pt x="269200" y="21096"/>
                    </a:cubicBezTo>
                    <a:cubicBezTo>
                      <a:pt x="270178" y="37907"/>
                      <a:pt x="268637" y="80970"/>
                      <a:pt x="232914" y="116707"/>
                    </a:cubicBezTo>
                    <a:close/>
                    <a:moveTo>
                      <a:pt x="22915" y="111081"/>
                    </a:moveTo>
                    <a:lnTo>
                      <a:pt x="72675" y="118019"/>
                    </a:lnTo>
                    <a:lnTo>
                      <a:pt x="125637" y="65084"/>
                    </a:lnTo>
                    <a:lnTo>
                      <a:pt x="68938" y="65084"/>
                    </a:lnTo>
                    <a:close/>
                    <a:moveTo>
                      <a:pt x="91655" y="129378"/>
                    </a:moveTo>
                    <a:lnTo>
                      <a:pt x="140786" y="178509"/>
                    </a:lnTo>
                    <a:lnTo>
                      <a:pt x="217738" y="101557"/>
                    </a:lnTo>
                    <a:cubicBezTo>
                      <a:pt x="238719" y="80718"/>
                      <a:pt x="249668" y="51826"/>
                      <a:pt x="247769" y="22315"/>
                    </a:cubicBezTo>
                    <a:cubicBezTo>
                      <a:pt x="218275" y="20485"/>
                      <a:pt x="189423" y="31452"/>
                      <a:pt x="168593" y="52413"/>
                    </a:cubicBezTo>
                    <a:close/>
                    <a:moveTo>
                      <a:pt x="205080" y="144527"/>
                    </a:moveTo>
                    <a:lnTo>
                      <a:pt x="152132" y="197476"/>
                    </a:lnTo>
                    <a:lnTo>
                      <a:pt x="159097" y="247250"/>
                    </a:lnTo>
                    <a:lnTo>
                      <a:pt x="205080" y="201226"/>
                    </a:ln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62" name="TextBox 62"/>
            <p:cNvSpPr txBox="1"/>
            <p:nvPr/>
          </p:nvSpPr>
          <p:spPr>
            <a:xfrm>
              <a:off x="10367962" y="2964656"/>
              <a:ext cx="65865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交付运行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931718" y="3533299"/>
              <a:ext cx="1095851" cy="63627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1725"/>
                </a:lnSpc>
              </a:pP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OpenAPI 导出、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Docker Compose、</a:t>
              </a:r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迁移和构建检查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9867900" y="4114800"/>
              <a:ext cx="1143000" cy="266700"/>
            </a:xfrm>
            <a:prstGeom prst="roundRect">
              <a:avLst>
                <a:gd name="adj" fmla="val 50000"/>
              </a:avLst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175938" y="4198620"/>
              <a:ext cx="526923" cy="1828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0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可部署包</a:t>
              </a:r>
            </a:p>
          </p:txBody>
        </p:sp>
      </p:grpSp>
      <p:grpSp>
        <p:nvGrpSpPr>
          <p:cNvPr id="71" name="Group 71"/>
          <p:cNvGrpSpPr/>
          <p:nvPr/>
        </p:nvGrpSpPr>
        <p:grpSpPr>
          <a:xfrm>
            <a:off x="2781300" y="3333750"/>
            <a:ext cx="6858000" cy="1"/>
            <a:chOff x="2781300" y="3333750"/>
            <a:chExt cx="6858000" cy="1"/>
          </a:xfrm>
        </p:grpSpPr>
        <p:sp>
          <p:nvSpPr>
            <p:cNvPr id="67" name="Line 67"/>
            <p:cNvSpPr/>
            <p:nvPr/>
          </p:nvSpPr>
          <p:spPr>
            <a:xfrm>
              <a:off x="27813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68" name="Line 68"/>
            <p:cNvSpPr/>
            <p:nvPr/>
          </p:nvSpPr>
          <p:spPr>
            <a:xfrm>
              <a:off x="49530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69" name="Line 69"/>
            <p:cNvSpPr/>
            <p:nvPr/>
          </p:nvSpPr>
          <p:spPr>
            <a:xfrm>
              <a:off x="71247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  <p:sp>
          <p:nvSpPr>
            <p:cNvPr id="70" name="Line 70"/>
            <p:cNvSpPr/>
            <p:nvPr/>
          </p:nvSpPr>
          <p:spPr>
            <a:xfrm>
              <a:off x="9296400" y="3333750"/>
              <a:ext cx="342900" cy="1"/>
            </a:xfrm>
            <a:prstGeom prst="line">
              <a:avLst/>
            </a:prstGeom>
            <a:noFill/>
            <a:ln w="28575">
              <a:solidFill>
                <a:srgbClr val="1F8A70"/>
              </a:solidFill>
              <a:tailEnd type="triangle" w="lg" len="lg"/>
            </a:ln>
          </p:spPr>
        </p:sp>
      </p:grpSp>
      <p:grpSp>
        <p:nvGrpSpPr>
          <p:cNvPr id="78" name="Group 78"/>
          <p:cNvGrpSpPr/>
          <p:nvPr/>
        </p:nvGrpSpPr>
        <p:grpSpPr>
          <a:xfrm>
            <a:off x="1143000" y="5581650"/>
            <a:ext cx="9906000" cy="552450"/>
            <a:chOff x="1143000" y="5581650"/>
            <a:chExt cx="9906000" cy="552450"/>
          </a:xfrm>
        </p:grpSpPr>
        <p:sp>
          <p:nvSpPr>
            <p:cNvPr id="72" name="Rectangle 72"/>
            <p:cNvSpPr/>
            <p:nvPr/>
          </p:nvSpPr>
          <p:spPr>
            <a:xfrm>
              <a:off x="1143000" y="5581650"/>
              <a:ext cx="9906000" cy="5524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75" name="Group 75"/>
            <p:cNvGrpSpPr/>
            <p:nvPr/>
          </p:nvGrpSpPr>
          <p:grpSpPr>
            <a:xfrm>
              <a:off x="1493639" y="5741789"/>
              <a:ext cx="232173" cy="232173"/>
              <a:chOff x="1493639" y="5741789"/>
              <a:chExt cx="232173" cy="232173"/>
            </a:xfrm>
          </p:grpSpPr>
          <p:sp>
            <p:nvSpPr>
              <p:cNvPr id="73" name="Freeform 73"/>
              <p:cNvSpPr/>
              <p:nvPr/>
            </p:nvSpPr>
            <p:spPr>
              <a:xfrm>
                <a:off x="1502569" y="5750719"/>
                <a:ext cx="214313" cy="214313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14313">
                    <a:moveTo>
                      <a:pt x="214313" y="107157"/>
                    </a:moveTo>
                    <a:cubicBezTo>
                      <a:pt x="214313" y="166338"/>
                      <a:pt x="166338" y="214313"/>
                      <a:pt x="107157" y="214313"/>
                    </a:cubicBezTo>
                    <a:cubicBezTo>
                      <a:pt x="47976" y="214313"/>
                      <a:pt x="0" y="166338"/>
                      <a:pt x="0" y="107157"/>
                    </a:cubicBezTo>
                    <a:cubicBezTo>
                      <a:pt x="0" y="47976"/>
                      <a:pt x="47976" y="0"/>
                      <a:pt x="107157" y="0"/>
                    </a:cubicBezTo>
                    <a:cubicBezTo>
                      <a:pt x="166338" y="0"/>
                      <a:pt x="214313" y="47976"/>
                      <a:pt x="214313" y="107157"/>
                    </a:cubicBezTo>
                    <a:close/>
                  </a:path>
                </a:pathLst>
              </a:custGeom>
              <a:solidFill>
                <a:srgbClr val="22A06B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74" name="Freeform 74"/>
              <p:cNvSpPr/>
              <p:nvPr/>
            </p:nvSpPr>
            <p:spPr>
              <a:xfrm>
                <a:off x="1493639" y="5741789"/>
                <a:ext cx="232173" cy="232173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32173">
                    <a:moveTo>
                      <a:pt x="167053" y="82979"/>
                    </a:moveTo>
                    <a:cubicBezTo>
                      <a:pt x="168730" y="84654"/>
                      <a:pt x="169672" y="86927"/>
                      <a:pt x="169672" y="89297"/>
                    </a:cubicBezTo>
                    <a:cubicBezTo>
                      <a:pt x="169672" y="91667"/>
                      <a:pt x="168730" y="93940"/>
                      <a:pt x="167053" y="95615"/>
                    </a:cubicBezTo>
                    <a:lnTo>
                      <a:pt x="104545" y="158123"/>
                    </a:lnTo>
                    <a:cubicBezTo>
                      <a:pt x="102870" y="159800"/>
                      <a:pt x="100597" y="160742"/>
                      <a:pt x="98227" y="160742"/>
                    </a:cubicBezTo>
                    <a:cubicBezTo>
                      <a:pt x="95857" y="160742"/>
                      <a:pt x="93584" y="159800"/>
                      <a:pt x="91909" y="158123"/>
                    </a:cubicBezTo>
                    <a:lnTo>
                      <a:pt x="65120" y="131334"/>
                    </a:lnTo>
                    <a:cubicBezTo>
                      <a:pt x="61631" y="127845"/>
                      <a:pt x="61631" y="122188"/>
                      <a:pt x="65120" y="118698"/>
                    </a:cubicBezTo>
                    <a:cubicBezTo>
                      <a:pt x="68609" y="115209"/>
                      <a:pt x="74266" y="115209"/>
                      <a:pt x="77756" y="118698"/>
                    </a:cubicBezTo>
                    <a:lnTo>
                      <a:pt x="98227" y="139181"/>
                    </a:lnTo>
                    <a:lnTo>
                      <a:pt x="154417" y="82979"/>
                    </a:lnTo>
                    <a:cubicBezTo>
                      <a:pt x="156092" y="81303"/>
                      <a:pt x="158365" y="80361"/>
                      <a:pt x="160735" y="80361"/>
                    </a:cubicBezTo>
                    <a:cubicBezTo>
                      <a:pt x="163105" y="80361"/>
                      <a:pt x="165378" y="81303"/>
                      <a:pt x="167053" y="82979"/>
                    </a:cubicBezTo>
                    <a:close/>
                    <a:moveTo>
                      <a:pt x="232173" y="116086"/>
                    </a:moveTo>
                    <a:cubicBezTo>
                      <a:pt x="232173" y="180199"/>
                      <a:pt x="180199" y="232173"/>
                      <a:pt x="116086" y="232173"/>
                    </a:cubicBezTo>
                    <a:cubicBezTo>
                      <a:pt x="51974" y="232173"/>
                      <a:pt x="0" y="180199"/>
                      <a:pt x="0" y="116086"/>
                    </a:cubicBezTo>
                    <a:cubicBezTo>
                      <a:pt x="0" y="51974"/>
                      <a:pt x="51974" y="0"/>
                      <a:pt x="116086" y="0"/>
                    </a:cubicBezTo>
                    <a:cubicBezTo>
                      <a:pt x="180171" y="68"/>
                      <a:pt x="232105" y="52002"/>
                      <a:pt x="232173" y="116086"/>
                    </a:cubicBezTo>
                    <a:close/>
                    <a:moveTo>
                      <a:pt x="214313" y="116086"/>
                    </a:moveTo>
                    <a:cubicBezTo>
                      <a:pt x="214313" y="61837"/>
                      <a:pt x="170336" y="17859"/>
                      <a:pt x="116086" y="17859"/>
                    </a:cubicBezTo>
                    <a:cubicBezTo>
                      <a:pt x="61837" y="17859"/>
                      <a:pt x="17859" y="61837"/>
                      <a:pt x="17859" y="116086"/>
                    </a:cubicBezTo>
                    <a:cubicBezTo>
                      <a:pt x="17859" y="170336"/>
                      <a:pt x="61837" y="214313"/>
                      <a:pt x="116086" y="214313"/>
                    </a:cubicBezTo>
                    <a:cubicBezTo>
                      <a:pt x="170310" y="214252"/>
                      <a:pt x="214252" y="170310"/>
                      <a:pt x="214313" y="116086"/>
                    </a:cubicBezTo>
                    <a:close/>
                  </a:path>
                </a:pathLst>
              </a:custGeom>
              <a:solidFill>
                <a:srgbClr val="22A06B"/>
              </a:solidFill>
              <a:ln>
                <a:noFill/>
              </a:ln>
            </p:spPr>
          </p:sp>
        </p:grpSp>
        <p:sp>
          <p:nvSpPr>
            <p:cNvPr id="76" name="TextBox 76"/>
            <p:cNvSpPr txBox="1"/>
            <p:nvPr/>
          </p:nvSpPr>
          <p:spPr>
            <a:xfrm>
              <a:off x="1925955" y="5797868"/>
              <a:ext cx="979408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验收交付：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2878455" y="5797868"/>
              <a:ext cx="520093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测试报告、静态审计结果、OpenAPI 文档、Docker 本地联调环境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-381000" y="-285750"/>
            <a:ext cx="12573000" cy="8001000"/>
            <a:chOff x="-381000" y="-285750"/>
            <a:chExt cx="12573000" cy="8001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Ellipse 3"/>
            <p:cNvSpPr/>
            <p:nvPr/>
          </p:nvSpPr>
          <p:spPr>
            <a:xfrm>
              <a:off x="-381000" y="2381250"/>
              <a:ext cx="5334000" cy="5334000"/>
            </a:xfrm>
            <a:prstGeom prst="ellipse">
              <a:avLst/>
            </a:pr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8667750" y="-285750"/>
              <a:ext cx="3238500" cy="3238500"/>
            </a:xfrm>
            <a:prstGeom prst="ellipse">
              <a:avLst/>
            </a:prstGeom>
            <a:solidFill>
              <a:srgbClr val="FFB703">
                <a:alpha val="15000"/>
              </a:srgbClr>
            </a:solidFill>
            <a:ln>
              <a:noFill/>
            </a:ln>
          </p:spPr>
        </p:sp>
      </p:grpSp>
      <p:grpSp>
        <p:nvGrpSpPr>
          <p:cNvPr id="8" name="Group 8"/>
          <p:cNvGrpSpPr/>
          <p:nvPr/>
        </p:nvGrpSpPr>
        <p:grpSpPr>
          <a:xfrm>
            <a:off x="520065" y="591502"/>
            <a:ext cx="11149012" cy="213360"/>
            <a:chOff x="520065" y="591502"/>
            <a:chExt cx="11149012" cy="213360"/>
          </a:xfrm>
        </p:grpSpPr>
        <p:sp>
          <p:nvSpPr>
            <p:cNvPr id="6" name="TextBox 6"/>
            <p:cNvSpPr txBox="1"/>
            <p:nvPr/>
          </p:nvSpPr>
          <p:spPr>
            <a:xfrm>
              <a:off x="520065" y="591502"/>
              <a:ext cx="1158711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DIFFERENTIATION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11279576" y="596741"/>
              <a:ext cx="389501" cy="1676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5" dirty="0">
                  <a:solidFill>
                    <a:srgbClr val="74807C"/>
                  </a:solidFill>
                  <a:latin typeface="Arial"/>
                  <a:ea typeface="Microsoft YaHei"/>
                  <a:cs typeface="Arial"/>
                </a:rPr>
                <a:t>15 / 16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20090" y="1748790"/>
            <a:ext cx="6942296" cy="2937510"/>
            <a:chOff x="720090" y="1748790"/>
            <a:chExt cx="6942296" cy="2937510"/>
          </a:xfrm>
        </p:grpSpPr>
        <p:sp>
          <p:nvSpPr>
            <p:cNvPr id="9" name="TextBox 9"/>
            <p:cNvSpPr txBox="1"/>
            <p:nvPr/>
          </p:nvSpPr>
          <p:spPr>
            <a:xfrm>
              <a:off x="720090" y="1748790"/>
              <a:ext cx="3322320" cy="175641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6150"/>
                </a:lnSpc>
              </a:pP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三个让项目</a:t>
              </a:r>
              <a:r>
                <a:rPr lang="zh-CN" sz="480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站住的设计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746760" y="3223260"/>
              <a:ext cx="737349" cy="14630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7200" b="1" dirty="0">
                  <a:gradFill>
                    <a:gsLst>
                      <a:gs pos="0">
                        <a:srgbClr val="1F8A70"/>
                      </a:gs>
                      <a:gs pos="100000">
                        <a:srgbClr val="3A86FF"/>
                      </a:gs>
                    </a:gsLst>
                    <a:lin ang="0" scaled="1"/>
                  </a:gradFill>
                  <a:latin typeface="Trebuchet MS"/>
                  <a:ea typeface="Microsoft YaHei"/>
                  <a:cs typeface="Trebuchet MS"/>
                </a:rPr>
                <a:t>3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729740" y="3596640"/>
              <a:ext cx="2553433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not just a demo page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733550" y="4010025"/>
              <a:ext cx="5928836" cy="3048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不是套壳推荐页，而是一个能解释、能回退、能治理的 MVP 闭环。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6572250" y="1428750"/>
            <a:ext cx="4496562" cy="1104900"/>
            <a:chOff x="6572250" y="1428750"/>
            <a:chExt cx="4496562" cy="1104900"/>
          </a:xfrm>
        </p:grpSpPr>
        <p:sp>
          <p:nvSpPr>
            <p:cNvPr id="14" name="Rectangle 14"/>
            <p:cNvSpPr/>
            <p:nvPr/>
          </p:nvSpPr>
          <p:spPr>
            <a:xfrm>
              <a:off x="6572250" y="1428750"/>
              <a:ext cx="4343400" cy="110490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5" name="Rectangle 15"/>
            <p:cNvSpPr/>
            <p:nvPr/>
          </p:nvSpPr>
          <p:spPr>
            <a:xfrm>
              <a:off x="6877050" y="1714500"/>
              <a:ext cx="55245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18" name="Group 18"/>
            <p:cNvGrpSpPr/>
            <p:nvPr/>
          </p:nvGrpSpPr>
          <p:grpSpPr>
            <a:xfrm>
              <a:off x="7037189" y="1874707"/>
              <a:ext cx="232173" cy="223175"/>
              <a:chOff x="7037189" y="1874707"/>
              <a:chExt cx="232173" cy="223175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7046106" y="1972866"/>
                <a:ext cx="214340" cy="116086"/>
              </a:xfrm>
              <a:custGeom>
                <a:avLst/>
                <a:gdLst/>
                <a:ahLst/>
                <a:cxnLst/>
                <a:rect l="l" t="t" r="r" b="b"/>
                <a:pathLst>
                  <a:path w="214340" h="116086">
                    <a:moveTo>
                      <a:pt x="214327" y="0"/>
                    </a:moveTo>
                    <a:cubicBezTo>
                      <a:pt x="214340" y="41911"/>
                      <a:pt x="189918" y="79983"/>
                      <a:pt x="151819" y="97446"/>
                    </a:cubicBezTo>
                    <a:lnTo>
                      <a:pt x="151819" y="107157"/>
                    </a:lnTo>
                    <a:cubicBezTo>
                      <a:pt x="151819" y="112088"/>
                      <a:pt x="147821" y="116086"/>
                      <a:pt x="142889" y="116086"/>
                    </a:cubicBezTo>
                    <a:lnTo>
                      <a:pt x="71451" y="116086"/>
                    </a:lnTo>
                    <a:cubicBezTo>
                      <a:pt x="66519" y="116086"/>
                      <a:pt x="62521" y="112088"/>
                      <a:pt x="62521" y="107157"/>
                    </a:cubicBezTo>
                    <a:lnTo>
                      <a:pt x="62521" y="97446"/>
                    </a:lnTo>
                    <a:cubicBezTo>
                      <a:pt x="24422" y="79983"/>
                      <a:pt x="0" y="41911"/>
                      <a:pt x="13" y="0"/>
                    </a:cubicBezTo>
                    <a:close/>
                  </a:path>
                </a:pathLst>
              </a:custGeom>
              <a:solidFill>
                <a:srgbClr val="FFB703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7" name="Freeform 17"/>
              <p:cNvSpPr/>
              <p:nvPr/>
            </p:nvSpPr>
            <p:spPr>
              <a:xfrm>
                <a:off x="7037189" y="1874707"/>
                <a:ext cx="232173" cy="223175"/>
              </a:xfrm>
              <a:custGeom>
                <a:avLst/>
                <a:gdLst/>
                <a:ahLst/>
                <a:cxnLst/>
                <a:rect l="l" t="t" r="r" b="b"/>
                <a:pathLst>
                  <a:path w="232173" h="223175">
                    <a:moveTo>
                      <a:pt x="223243" y="89229"/>
                    </a:moveTo>
                    <a:lnTo>
                      <a:pt x="213900" y="89229"/>
                    </a:lnTo>
                    <a:cubicBezTo>
                      <a:pt x="209250" y="38679"/>
                      <a:pt x="166849" y="0"/>
                      <a:pt x="116086" y="0"/>
                    </a:cubicBezTo>
                    <a:cubicBezTo>
                      <a:pt x="65324" y="0"/>
                      <a:pt x="22923" y="38679"/>
                      <a:pt x="18272" y="89229"/>
                    </a:cubicBezTo>
                    <a:lnTo>
                      <a:pt x="8930" y="89229"/>
                    </a:lnTo>
                    <a:cubicBezTo>
                      <a:pt x="3998" y="89229"/>
                      <a:pt x="0" y="93227"/>
                      <a:pt x="0" y="98159"/>
                    </a:cubicBezTo>
                    <a:cubicBezTo>
                      <a:pt x="80" y="141440"/>
                      <a:pt x="24153" y="181109"/>
                      <a:pt x="62508" y="201163"/>
                    </a:cubicBezTo>
                    <a:lnTo>
                      <a:pt x="62508" y="205315"/>
                    </a:lnTo>
                    <a:cubicBezTo>
                      <a:pt x="62508" y="215179"/>
                      <a:pt x="70504" y="223175"/>
                      <a:pt x="80368" y="223175"/>
                    </a:cubicBezTo>
                    <a:lnTo>
                      <a:pt x="151805" y="223175"/>
                    </a:lnTo>
                    <a:cubicBezTo>
                      <a:pt x="161669" y="223175"/>
                      <a:pt x="169665" y="215179"/>
                      <a:pt x="169665" y="205315"/>
                    </a:cubicBezTo>
                    <a:lnTo>
                      <a:pt x="169665" y="201163"/>
                    </a:lnTo>
                    <a:cubicBezTo>
                      <a:pt x="208020" y="181109"/>
                      <a:pt x="232093" y="141440"/>
                      <a:pt x="232173" y="98159"/>
                    </a:cubicBezTo>
                    <a:cubicBezTo>
                      <a:pt x="232173" y="93227"/>
                      <a:pt x="228175" y="89229"/>
                      <a:pt x="223243" y="89229"/>
                    </a:cubicBezTo>
                    <a:close/>
                    <a:moveTo>
                      <a:pt x="166852" y="35907"/>
                    </a:moveTo>
                    <a:cubicBezTo>
                      <a:pt x="168898" y="37582"/>
                      <a:pt x="170859" y="39349"/>
                      <a:pt x="172734" y="41209"/>
                    </a:cubicBezTo>
                    <a:cubicBezTo>
                      <a:pt x="148963" y="49571"/>
                      <a:pt x="129319" y="66757"/>
                      <a:pt x="117872" y="89207"/>
                    </a:cubicBezTo>
                    <a:lnTo>
                      <a:pt x="84944" y="89207"/>
                    </a:lnTo>
                    <a:cubicBezTo>
                      <a:pt x="96379" y="57153"/>
                      <a:pt x="126703" y="35725"/>
                      <a:pt x="160735" y="35651"/>
                    </a:cubicBezTo>
                    <a:cubicBezTo>
                      <a:pt x="162778" y="35651"/>
                      <a:pt x="164820" y="35751"/>
                      <a:pt x="166852" y="35907"/>
                    </a:cubicBezTo>
                    <a:close/>
                    <a:moveTo>
                      <a:pt x="184611" y="56222"/>
                    </a:moveTo>
                    <a:cubicBezTo>
                      <a:pt x="190778" y="66253"/>
                      <a:pt x="194647" y="77525"/>
                      <a:pt x="195941" y="89229"/>
                    </a:cubicBezTo>
                    <a:lnTo>
                      <a:pt x="138545" y="89229"/>
                    </a:lnTo>
                    <a:cubicBezTo>
                      <a:pt x="149371" y="72987"/>
                      <a:pt x="165750" y="61251"/>
                      <a:pt x="184611" y="56222"/>
                    </a:cubicBezTo>
                    <a:close/>
                    <a:moveTo>
                      <a:pt x="116086" y="17791"/>
                    </a:moveTo>
                    <a:cubicBezTo>
                      <a:pt x="123252" y="17796"/>
                      <a:pt x="130385" y="18761"/>
                      <a:pt x="137295" y="20660"/>
                    </a:cubicBezTo>
                    <a:cubicBezTo>
                      <a:pt x="103044" y="29156"/>
                      <a:pt x="75942" y="55304"/>
                      <a:pt x="66225" y="89229"/>
                    </a:cubicBezTo>
                    <a:lnTo>
                      <a:pt x="36232" y="89229"/>
                    </a:lnTo>
                    <a:cubicBezTo>
                      <a:pt x="40818" y="48578"/>
                      <a:pt x="75178" y="17840"/>
                      <a:pt x="116086" y="17791"/>
                    </a:cubicBezTo>
                    <a:close/>
                    <a:moveTo>
                      <a:pt x="157007" y="187456"/>
                    </a:moveTo>
                    <a:cubicBezTo>
                      <a:pt x="153826" y="188918"/>
                      <a:pt x="151792" y="192103"/>
                      <a:pt x="151805" y="195604"/>
                    </a:cubicBezTo>
                    <a:lnTo>
                      <a:pt x="151805" y="205315"/>
                    </a:lnTo>
                    <a:lnTo>
                      <a:pt x="80368" y="205315"/>
                    </a:lnTo>
                    <a:lnTo>
                      <a:pt x="80368" y="195604"/>
                    </a:lnTo>
                    <a:cubicBezTo>
                      <a:pt x="80381" y="192103"/>
                      <a:pt x="78347" y="188918"/>
                      <a:pt x="75166" y="187456"/>
                    </a:cubicBezTo>
                    <a:cubicBezTo>
                      <a:pt x="43205" y="172749"/>
                      <a:pt x="21509" y="142118"/>
                      <a:pt x="18239" y="107088"/>
                    </a:cubicBezTo>
                    <a:lnTo>
                      <a:pt x="213900" y="107088"/>
                    </a:lnTo>
                    <a:cubicBezTo>
                      <a:pt x="210637" y="142111"/>
                      <a:pt x="188955" y="172739"/>
                      <a:pt x="157007" y="187456"/>
                    </a:cubicBezTo>
                    <a:close/>
                  </a:path>
                </a:pathLst>
              </a:custGeom>
              <a:solidFill>
                <a:srgbClr val="FFB703"/>
              </a:solidFill>
              <a:ln>
                <a:noFill/>
              </a:ln>
            </p:spPr>
          </p:sp>
        </p:grpSp>
        <p:sp>
          <p:nvSpPr>
            <p:cNvPr id="19" name="TextBox 19"/>
            <p:cNvSpPr txBox="1"/>
            <p:nvPr/>
          </p:nvSpPr>
          <p:spPr>
            <a:xfrm>
              <a:off x="7654290" y="16916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菜品级推荐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661910" y="2099310"/>
              <a:ext cx="3406902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直接回答“吃什么”，比商家级推荐少一步决策。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067811" y="18021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FFB703">
                      <a:alphaMod val="35000"/>
                    </a:srgbClr>
                  </a:solidFill>
                  <a:latin typeface="Trebuchet MS"/>
                  <a:ea typeface="Microsoft YaHei"/>
                  <a:cs typeface="Trebuchet MS"/>
                </a:rPr>
                <a:t>01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5943600" y="2914650"/>
            <a:ext cx="5256657" cy="1104900"/>
            <a:chOff x="5943600" y="2914650"/>
            <a:chExt cx="5256657" cy="1104900"/>
          </a:xfrm>
        </p:grpSpPr>
        <p:sp>
          <p:nvSpPr>
            <p:cNvPr id="23" name="Rectangle 23"/>
            <p:cNvSpPr/>
            <p:nvPr/>
          </p:nvSpPr>
          <p:spPr>
            <a:xfrm>
              <a:off x="5943600" y="2914650"/>
              <a:ext cx="4972050" cy="110490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24" name="Rectangle 24"/>
            <p:cNvSpPr/>
            <p:nvPr/>
          </p:nvSpPr>
          <p:spPr>
            <a:xfrm>
              <a:off x="6248400" y="3200400"/>
              <a:ext cx="55245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27" name="Group 27"/>
            <p:cNvGrpSpPr/>
            <p:nvPr/>
          </p:nvGrpSpPr>
          <p:grpSpPr>
            <a:xfrm>
              <a:off x="6390671" y="3356052"/>
              <a:ext cx="267900" cy="232218"/>
              <a:chOff x="6390671" y="3356052"/>
              <a:chExt cx="267900" cy="232218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6399561" y="3369469"/>
                <a:ext cx="250087" cy="205384"/>
              </a:xfrm>
              <a:custGeom>
                <a:avLst/>
                <a:gdLst/>
                <a:ahLst/>
                <a:cxnLst/>
                <a:rect l="l" t="t" r="r" b="b"/>
                <a:pathLst>
                  <a:path w="250087" h="205384">
                    <a:moveTo>
                      <a:pt x="250080" y="102692"/>
                    </a:moveTo>
                    <a:cubicBezTo>
                      <a:pt x="250087" y="125404"/>
                      <a:pt x="235774" y="145652"/>
                      <a:pt x="214361" y="153223"/>
                    </a:cubicBezTo>
                    <a:lnTo>
                      <a:pt x="214361" y="153223"/>
                    </a:lnTo>
                    <a:lnTo>
                      <a:pt x="214361" y="160735"/>
                    </a:lnTo>
                    <a:cubicBezTo>
                      <a:pt x="214361" y="185394"/>
                      <a:pt x="194371" y="205384"/>
                      <a:pt x="169713" y="205384"/>
                    </a:cubicBezTo>
                    <a:cubicBezTo>
                      <a:pt x="145054" y="205384"/>
                      <a:pt x="125064" y="185394"/>
                      <a:pt x="125064" y="160735"/>
                    </a:cubicBezTo>
                    <a:cubicBezTo>
                      <a:pt x="125064" y="185394"/>
                      <a:pt x="105074" y="205384"/>
                      <a:pt x="80415" y="205384"/>
                    </a:cubicBezTo>
                    <a:cubicBezTo>
                      <a:pt x="55757" y="205384"/>
                      <a:pt x="35767" y="185394"/>
                      <a:pt x="35767" y="160735"/>
                    </a:cubicBezTo>
                    <a:lnTo>
                      <a:pt x="35767" y="153223"/>
                    </a:lnTo>
                    <a:lnTo>
                      <a:pt x="35767" y="153223"/>
                    </a:lnTo>
                    <a:cubicBezTo>
                      <a:pt x="14335" y="145669"/>
                      <a:pt x="0" y="125416"/>
                      <a:pt x="0" y="102692"/>
                    </a:cubicBezTo>
                    <a:cubicBezTo>
                      <a:pt x="0" y="79968"/>
                      <a:pt x="14335" y="59715"/>
                      <a:pt x="35767" y="52161"/>
                    </a:cubicBezTo>
                    <a:lnTo>
                      <a:pt x="35767" y="44649"/>
                    </a:lnTo>
                    <a:cubicBezTo>
                      <a:pt x="35767" y="19990"/>
                      <a:pt x="55757" y="0"/>
                      <a:pt x="80415" y="0"/>
                    </a:cubicBezTo>
                    <a:cubicBezTo>
                      <a:pt x="105074" y="0"/>
                      <a:pt x="125064" y="19990"/>
                      <a:pt x="125064" y="44649"/>
                    </a:cubicBezTo>
                    <a:cubicBezTo>
                      <a:pt x="125064" y="19990"/>
                      <a:pt x="145054" y="0"/>
                      <a:pt x="169713" y="0"/>
                    </a:cubicBezTo>
                    <a:cubicBezTo>
                      <a:pt x="194371" y="0"/>
                      <a:pt x="214361" y="19990"/>
                      <a:pt x="214361" y="44649"/>
                    </a:cubicBezTo>
                    <a:lnTo>
                      <a:pt x="214361" y="52161"/>
                    </a:lnTo>
                    <a:cubicBezTo>
                      <a:pt x="235774" y="59731"/>
                      <a:pt x="250087" y="79980"/>
                      <a:pt x="250080" y="102692"/>
                    </a:cubicBezTo>
                    <a:close/>
                  </a:path>
                </a:pathLst>
              </a:custGeom>
              <a:solidFill>
                <a:srgbClr val="3A86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26" name="Freeform 26"/>
              <p:cNvSpPr/>
              <p:nvPr/>
            </p:nvSpPr>
            <p:spPr>
              <a:xfrm>
                <a:off x="6390671" y="3356052"/>
                <a:ext cx="267900" cy="232218"/>
              </a:xfrm>
              <a:custGeom>
                <a:avLst/>
                <a:gdLst/>
                <a:ahLst/>
                <a:cxnLst/>
                <a:rect l="l" t="t" r="r" b="b"/>
                <a:pathLst>
                  <a:path w="267900" h="232218">
                    <a:moveTo>
                      <a:pt x="267900" y="116109"/>
                    </a:moveTo>
                    <a:cubicBezTo>
                      <a:pt x="267876" y="91968"/>
                      <a:pt x="253980" y="69991"/>
                      <a:pt x="232181" y="59617"/>
                    </a:cubicBezTo>
                    <a:lnTo>
                      <a:pt x="232181" y="58066"/>
                    </a:lnTo>
                    <a:cubicBezTo>
                      <a:pt x="232160" y="34442"/>
                      <a:pt x="216668" y="13619"/>
                      <a:pt x="194047" y="6810"/>
                    </a:cubicBezTo>
                    <a:cubicBezTo>
                      <a:pt x="171425" y="0"/>
                      <a:pt x="147013" y="8810"/>
                      <a:pt x="133954" y="28497"/>
                    </a:cubicBezTo>
                    <a:cubicBezTo>
                      <a:pt x="120895" y="8810"/>
                      <a:pt x="96483" y="0"/>
                      <a:pt x="73862" y="6810"/>
                    </a:cubicBezTo>
                    <a:cubicBezTo>
                      <a:pt x="51240" y="13619"/>
                      <a:pt x="35748" y="34442"/>
                      <a:pt x="35727" y="58066"/>
                    </a:cubicBezTo>
                    <a:lnTo>
                      <a:pt x="35727" y="59617"/>
                    </a:lnTo>
                    <a:cubicBezTo>
                      <a:pt x="13908" y="69963"/>
                      <a:pt x="0" y="91951"/>
                      <a:pt x="0" y="116098"/>
                    </a:cubicBezTo>
                    <a:cubicBezTo>
                      <a:pt x="0" y="140245"/>
                      <a:pt x="13908" y="162233"/>
                      <a:pt x="35727" y="172579"/>
                    </a:cubicBezTo>
                    <a:lnTo>
                      <a:pt x="35727" y="174152"/>
                    </a:lnTo>
                    <a:cubicBezTo>
                      <a:pt x="35748" y="197777"/>
                      <a:pt x="51240" y="218599"/>
                      <a:pt x="73862" y="225409"/>
                    </a:cubicBezTo>
                    <a:cubicBezTo>
                      <a:pt x="96483" y="232218"/>
                      <a:pt x="120895" y="223408"/>
                      <a:pt x="133954" y="203721"/>
                    </a:cubicBezTo>
                    <a:cubicBezTo>
                      <a:pt x="147013" y="223408"/>
                      <a:pt x="171425" y="232218"/>
                      <a:pt x="194047" y="225409"/>
                    </a:cubicBezTo>
                    <a:cubicBezTo>
                      <a:pt x="216668" y="218599"/>
                      <a:pt x="232160" y="197777"/>
                      <a:pt x="232181" y="174152"/>
                    </a:cubicBezTo>
                    <a:lnTo>
                      <a:pt x="232181" y="172579"/>
                    </a:lnTo>
                    <a:cubicBezTo>
                      <a:pt x="253976" y="162213"/>
                      <a:pt x="267873" y="140243"/>
                      <a:pt x="267900" y="116109"/>
                    </a:cubicBezTo>
                    <a:close/>
                    <a:moveTo>
                      <a:pt x="89306" y="209871"/>
                    </a:moveTo>
                    <a:cubicBezTo>
                      <a:pt x="71067" y="209869"/>
                      <a:pt x="55759" y="196125"/>
                      <a:pt x="53799" y="177992"/>
                    </a:cubicBezTo>
                    <a:cubicBezTo>
                      <a:pt x="56686" y="178404"/>
                      <a:pt x="59600" y="178613"/>
                      <a:pt x="62516" y="178617"/>
                    </a:cubicBezTo>
                    <a:lnTo>
                      <a:pt x="71446" y="178617"/>
                    </a:lnTo>
                    <a:cubicBezTo>
                      <a:pt x="76378" y="178617"/>
                      <a:pt x="80376" y="174619"/>
                      <a:pt x="80376" y="169688"/>
                    </a:cubicBezTo>
                    <a:cubicBezTo>
                      <a:pt x="80376" y="164756"/>
                      <a:pt x="76378" y="160758"/>
                      <a:pt x="71446" y="160758"/>
                    </a:cubicBezTo>
                    <a:lnTo>
                      <a:pt x="62516" y="160758"/>
                    </a:lnTo>
                    <a:cubicBezTo>
                      <a:pt x="40750" y="160783"/>
                      <a:pt x="22137" y="145109"/>
                      <a:pt x="18458" y="123656"/>
                    </a:cubicBezTo>
                    <a:cubicBezTo>
                      <a:pt x="14779" y="102202"/>
                      <a:pt x="27106" y="81223"/>
                      <a:pt x="47637" y="73994"/>
                    </a:cubicBezTo>
                    <a:cubicBezTo>
                      <a:pt x="51203" y="72732"/>
                      <a:pt x="53586" y="69360"/>
                      <a:pt x="53587" y="65578"/>
                    </a:cubicBezTo>
                    <a:lnTo>
                      <a:pt x="53587" y="58066"/>
                    </a:lnTo>
                    <a:cubicBezTo>
                      <a:pt x="53587" y="38339"/>
                      <a:pt x="69579" y="22347"/>
                      <a:pt x="89306" y="22347"/>
                    </a:cubicBezTo>
                    <a:cubicBezTo>
                      <a:pt x="109033" y="22347"/>
                      <a:pt x="125025" y="38339"/>
                      <a:pt x="125025" y="58066"/>
                    </a:cubicBezTo>
                    <a:lnTo>
                      <a:pt x="125025" y="134259"/>
                    </a:lnTo>
                    <a:cubicBezTo>
                      <a:pt x="115219" y="125439"/>
                      <a:pt x="102494" y="120564"/>
                      <a:pt x="89306" y="120574"/>
                    </a:cubicBezTo>
                    <a:cubicBezTo>
                      <a:pt x="84374" y="120574"/>
                      <a:pt x="80376" y="124572"/>
                      <a:pt x="80376" y="129504"/>
                    </a:cubicBezTo>
                    <a:cubicBezTo>
                      <a:pt x="80376" y="134436"/>
                      <a:pt x="84374" y="138433"/>
                      <a:pt x="89306" y="138433"/>
                    </a:cubicBezTo>
                    <a:cubicBezTo>
                      <a:pt x="109033" y="138433"/>
                      <a:pt x="125025" y="154425"/>
                      <a:pt x="125025" y="174152"/>
                    </a:cubicBezTo>
                    <a:cubicBezTo>
                      <a:pt x="125025" y="193879"/>
                      <a:pt x="109033" y="209871"/>
                      <a:pt x="89306" y="209871"/>
                    </a:cubicBezTo>
                    <a:close/>
                    <a:moveTo>
                      <a:pt x="205392" y="160758"/>
                    </a:moveTo>
                    <a:lnTo>
                      <a:pt x="196462" y="160758"/>
                    </a:lnTo>
                    <a:cubicBezTo>
                      <a:pt x="191531" y="160758"/>
                      <a:pt x="187533" y="164756"/>
                      <a:pt x="187533" y="169688"/>
                    </a:cubicBezTo>
                    <a:cubicBezTo>
                      <a:pt x="187533" y="174619"/>
                      <a:pt x="191531" y="178617"/>
                      <a:pt x="196462" y="178617"/>
                    </a:cubicBezTo>
                    <a:lnTo>
                      <a:pt x="205392" y="178617"/>
                    </a:lnTo>
                    <a:cubicBezTo>
                      <a:pt x="208309" y="178613"/>
                      <a:pt x="211222" y="178404"/>
                      <a:pt x="214110" y="177992"/>
                    </a:cubicBezTo>
                    <a:cubicBezTo>
                      <a:pt x="212043" y="197109"/>
                      <a:pt x="195213" y="211160"/>
                      <a:pt x="176033" y="209779"/>
                    </a:cubicBezTo>
                    <a:cubicBezTo>
                      <a:pt x="156854" y="208399"/>
                      <a:pt x="142210" y="192083"/>
                      <a:pt x="142902" y="172867"/>
                    </a:cubicBezTo>
                    <a:cubicBezTo>
                      <a:pt x="143594" y="153651"/>
                      <a:pt x="159374" y="138431"/>
                      <a:pt x="178603" y="138433"/>
                    </a:cubicBezTo>
                    <a:cubicBezTo>
                      <a:pt x="183535" y="138433"/>
                      <a:pt x="187533" y="134436"/>
                      <a:pt x="187533" y="129504"/>
                    </a:cubicBezTo>
                    <a:cubicBezTo>
                      <a:pt x="187533" y="124572"/>
                      <a:pt x="183535" y="120574"/>
                      <a:pt x="178603" y="120574"/>
                    </a:cubicBezTo>
                    <a:cubicBezTo>
                      <a:pt x="165414" y="120564"/>
                      <a:pt x="152690" y="125439"/>
                      <a:pt x="142884" y="134259"/>
                    </a:cubicBezTo>
                    <a:lnTo>
                      <a:pt x="142884" y="58066"/>
                    </a:lnTo>
                    <a:cubicBezTo>
                      <a:pt x="142884" y="38339"/>
                      <a:pt x="158876" y="22347"/>
                      <a:pt x="178603" y="22347"/>
                    </a:cubicBezTo>
                    <a:cubicBezTo>
                      <a:pt x="198330" y="22347"/>
                      <a:pt x="214322" y="38339"/>
                      <a:pt x="214322" y="58066"/>
                    </a:cubicBezTo>
                    <a:lnTo>
                      <a:pt x="214322" y="65578"/>
                    </a:lnTo>
                    <a:cubicBezTo>
                      <a:pt x="214322" y="69360"/>
                      <a:pt x="216706" y="72732"/>
                      <a:pt x="220271" y="73994"/>
                    </a:cubicBezTo>
                    <a:cubicBezTo>
                      <a:pt x="240803" y="81223"/>
                      <a:pt x="253130" y="102202"/>
                      <a:pt x="249450" y="123656"/>
                    </a:cubicBezTo>
                    <a:cubicBezTo>
                      <a:pt x="245771" y="145109"/>
                      <a:pt x="227159" y="160783"/>
                      <a:pt x="205392" y="160758"/>
                    </a:cubicBezTo>
                    <a:close/>
                    <a:moveTo>
                      <a:pt x="223252" y="102715"/>
                    </a:moveTo>
                    <a:cubicBezTo>
                      <a:pt x="223252" y="107646"/>
                      <a:pt x="219254" y="111644"/>
                      <a:pt x="214322" y="111644"/>
                    </a:cubicBezTo>
                    <a:lnTo>
                      <a:pt x="209857" y="111644"/>
                    </a:lnTo>
                    <a:cubicBezTo>
                      <a:pt x="187664" y="111644"/>
                      <a:pt x="169673" y="93653"/>
                      <a:pt x="169673" y="71461"/>
                    </a:cubicBezTo>
                    <a:lnTo>
                      <a:pt x="169673" y="66996"/>
                    </a:lnTo>
                    <a:cubicBezTo>
                      <a:pt x="169673" y="62064"/>
                      <a:pt x="173671" y="58066"/>
                      <a:pt x="178603" y="58066"/>
                    </a:cubicBezTo>
                    <a:cubicBezTo>
                      <a:pt x="183535" y="58066"/>
                      <a:pt x="187533" y="62064"/>
                      <a:pt x="187533" y="66996"/>
                    </a:cubicBezTo>
                    <a:lnTo>
                      <a:pt x="187533" y="71461"/>
                    </a:lnTo>
                    <a:cubicBezTo>
                      <a:pt x="187533" y="83790"/>
                      <a:pt x="197528" y="93785"/>
                      <a:pt x="209857" y="93785"/>
                    </a:cubicBezTo>
                    <a:lnTo>
                      <a:pt x="214322" y="93785"/>
                    </a:lnTo>
                    <a:cubicBezTo>
                      <a:pt x="219254" y="93785"/>
                      <a:pt x="223252" y="97783"/>
                      <a:pt x="223252" y="102715"/>
                    </a:cubicBezTo>
                    <a:close/>
                    <a:moveTo>
                      <a:pt x="58052" y="111644"/>
                    </a:moveTo>
                    <a:lnTo>
                      <a:pt x="53587" y="111644"/>
                    </a:lnTo>
                    <a:cubicBezTo>
                      <a:pt x="48655" y="111644"/>
                      <a:pt x="44657" y="107646"/>
                      <a:pt x="44657" y="102715"/>
                    </a:cubicBezTo>
                    <a:cubicBezTo>
                      <a:pt x="44657" y="97783"/>
                      <a:pt x="48655" y="93785"/>
                      <a:pt x="53587" y="93785"/>
                    </a:cubicBezTo>
                    <a:lnTo>
                      <a:pt x="58052" y="93785"/>
                    </a:lnTo>
                    <a:cubicBezTo>
                      <a:pt x="70381" y="93785"/>
                      <a:pt x="80376" y="83790"/>
                      <a:pt x="80376" y="71461"/>
                    </a:cubicBezTo>
                    <a:lnTo>
                      <a:pt x="80376" y="66996"/>
                    </a:lnTo>
                    <a:cubicBezTo>
                      <a:pt x="80376" y="62064"/>
                      <a:pt x="84374" y="58066"/>
                      <a:pt x="89306" y="58066"/>
                    </a:cubicBezTo>
                    <a:cubicBezTo>
                      <a:pt x="94237" y="58066"/>
                      <a:pt x="98235" y="62064"/>
                      <a:pt x="98235" y="66996"/>
                    </a:cubicBezTo>
                    <a:lnTo>
                      <a:pt x="98235" y="71461"/>
                    </a:lnTo>
                    <a:cubicBezTo>
                      <a:pt x="98235" y="93653"/>
                      <a:pt x="80244" y="111644"/>
                      <a:pt x="58052" y="111644"/>
                    </a:cubicBezTo>
                    <a:close/>
                  </a:path>
                </a:pathLst>
              </a:custGeom>
              <a:solidFill>
                <a:srgbClr val="3A86FF"/>
              </a:solidFill>
              <a:ln>
                <a:noFill/>
              </a:ln>
            </p:spPr>
          </p:sp>
        </p:grpSp>
        <p:sp>
          <p:nvSpPr>
            <p:cNvPr id="28" name="TextBox 28"/>
            <p:cNvSpPr txBox="1"/>
            <p:nvPr/>
          </p:nvSpPr>
          <p:spPr>
            <a:xfrm>
              <a:off x="7025640" y="3177540"/>
              <a:ext cx="109165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受约束 AI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033260" y="3585210"/>
              <a:ext cx="416699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DeepSeek 只重排合法候选，坏 JSON、虚构 ID 都会回退。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067811" y="32880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3A86FF">
                      <a:alphaMod val="30000"/>
                    </a:srgbClr>
                  </a:solidFill>
                  <a:latin typeface="Trebuchet MS"/>
                  <a:ea typeface="Microsoft YaHei"/>
                  <a:cs typeface="Trebuchet MS"/>
                </a:rPr>
                <a:t>02</a:t>
              </a:r>
            </a:p>
          </p:txBody>
        </p:sp>
      </p:grpSp>
      <p:grpSp>
        <p:nvGrpSpPr>
          <p:cNvPr id="40" name="Group 40"/>
          <p:cNvGrpSpPr/>
          <p:nvPr/>
        </p:nvGrpSpPr>
        <p:grpSpPr>
          <a:xfrm>
            <a:off x="6572250" y="4400550"/>
            <a:ext cx="5184648" cy="1104900"/>
            <a:chOff x="6572250" y="4400550"/>
            <a:chExt cx="5184648" cy="1104900"/>
          </a:xfrm>
        </p:grpSpPr>
        <p:sp>
          <p:nvSpPr>
            <p:cNvPr id="32" name="Rectangle 32"/>
            <p:cNvSpPr/>
            <p:nvPr/>
          </p:nvSpPr>
          <p:spPr>
            <a:xfrm>
              <a:off x="6572250" y="4400550"/>
              <a:ext cx="4343400" cy="1104900"/>
            </a:xfrm>
            <a:prstGeom prst="roundRect">
              <a:avLst>
                <a:gd name="adj" fmla="val 24138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33" name="Rectangle 33"/>
            <p:cNvSpPr/>
            <p:nvPr/>
          </p:nvSpPr>
          <p:spPr>
            <a:xfrm>
              <a:off x="6877050" y="4686300"/>
              <a:ext cx="552450" cy="552450"/>
            </a:xfrm>
            <a:prstGeom prst="roundRect">
              <a:avLst>
                <a:gd name="adj" fmla="val 31034"/>
              </a:avLst>
            </a:prstGeom>
            <a:solidFill>
              <a:srgbClr val="EAF7EF"/>
            </a:solidFill>
            <a:ln>
              <a:noFill/>
            </a:ln>
          </p:spPr>
        </p:sp>
        <p:grpSp>
          <p:nvGrpSpPr>
            <p:cNvPr id="36" name="Group 36"/>
            <p:cNvGrpSpPr/>
            <p:nvPr/>
          </p:nvGrpSpPr>
          <p:grpSpPr>
            <a:xfrm>
              <a:off x="7046119" y="4864299"/>
              <a:ext cx="214313" cy="223547"/>
              <a:chOff x="7046119" y="4864299"/>
              <a:chExt cx="214313" cy="223547"/>
            </a:xfrm>
          </p:grpSpPr>
          <p:sp>
            <p:nvSpPr>
              <p:cNvPr id="34" name="Freeform 34"/>
              <p:cNvSpPr/>
              <p:nvPr/>
            </p:nvSpPr>
            <p:spPr>
              <a:xfrm>
                <a:off x="7055049" y="4873228"/>
                <a:ext cx="196454" cy="205518"/>
              </a:xfrm>
              <a:custGeom>
                <a:avLst/>
                <a:gdLst/>
                <a:ahLst/>
                <a:cxnLst/>
                <a:rect l="l" t="t" r="r" b="b"/>
                <a:pathLst>
                  <a:path w="196454" h="205518">
                    <a:moveTo>
                      <a:pt x="196454" y="8930"/>
                    </a:moveTo>
                    <a:lnTo>
                      <a:pt x="196454" y="74530"/>
                    </a:lnTo>
                    <a:cubicBezTo>
                      <a:pt x="196454" y="168493"/>
                      <a:pt x="116857" y="199624"/>
                      <a:pt x="100973" y="204904"/>
                    </a:cubicBezTo>
                    <a:cubicBezTo>
                      <a:pt x="99194" y="205518"/>
                      <a:pt x="97260" y="205518"/>
                      <a:pt x="95481" y="204904"/>
                    </a:cubicBezTo>
                    <a:cubicBezTo>
                      <a:pt x="79597" y="199646"/>
                      <a:pt x="0" y="168549"/>
                      <a:pt x="0" y="74552"/>
                    </a:cubicBezTo>
                    <a:lnTo>
                      <a:pt x="0" y="8930"/>
                    </a:lnTo>
                    <a:cubicBezTo>
                      <a:pt x="0" y="3998"/>
                      <a:pt x="3998" y="0"/>
                      <a:pt x="8930" y="0"/>
                    </a:cubicBezTo>
                    <a:lnTo>
                      <a:pt x="187524" y="0"/>
                    </a:lnTo>
                    <a:cubicBezTo>
                      <a:pt x="192456" y="0"/>
                      <a:pt x="196454" y="3998"/>
                      <a:pt x="196454" y="8930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35" name="Freeform 35"/>
              <p:cNvSpPr/>
              <p:nvPr/>
            </p:nvSpPr>
            <p:spPr>
              <a:xfrm>
                <a:off x="7046119" y="4864299"/>
                <a:ext cx="214313" cy="223547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23547">
                    <a:moveTo>
                      <a:pt x="196454" y="0"/>
                    </a:moveTo>
                    <a:lnTo>
                      <a:pt x="17859" y="0"/>
                    </a:lnTo>
                    <a:cubicBezTo>
                      <a:pt x="7996" y="0"/>
                      <a:pt x="0" y="7996"/>
                      <a:pt x="0" y="17859"/>
                    </a:cubicBezTo>
                    <a:lnTo>
                      <a:pt x="0" y="83471"/>
                    </a:lnTo>
                    <a:cubicBezTo>
                      <a:pt x="0" y="183495"/>
                      <a:pt x="84631" y="216680"/>
                      <a:pt x="101576" y="222317"/>
                    </a:cubicBezTo>
                    <a:cubicBezTo>
                      <a:pt x="105195" y="223547"/>
                      <a:pt x="109119" y="223547"/>
                      <a:pt x="112738" y="222317"/>
                    </a:cubicBezTo>
                    <a:cubicBezTo>
                      <a:pt x="129704" y="216680"/>
                      <a:pt x="214313" y="183495"/>
                      <a:pt x="214313" y="83471"/>
                    </a:cubicBezTo>
                    <a:lnTo>
                      <a:pt x="214313" y="17859"/>
                    </a:lnTo>
                    <a:cubicBezTo>
                      <a:pt x="214313" y="7996"/>
                      <a:pt x="206317" y="0"/>
                      <a:pt x="196454" y="0"/>
                    </a:cubicBezTo>
                    <a:close/>
                    <a:moveTo>
                      <a:pt x="196454" y="83482"/>
                    </a:moveTo>
                    <a:cubicBezTo>
                      <a:pt x="196454" y="171015"/>
                      <a:pt x="122393" y="200260"/>
                      <a:pt x="107157" y="205350"/>
                    </a:cubicBezTo>
                    <a:cubicBezTo>
                      <a:pt x="92054" y="200316"/>
                      <a:pt x="17859" y="171094"/>
                      <a:pt x="17859" y="83482"/>
                    </a:cubicBezTo>
                    <a:lnTo>
                      <a:pt x="17859" y="17859"/>
                    </a:lnTo>
                    <a:lnTo>
                      <a:pt x="196454" y="17859"/>
                    </a:lnTo>
                    <a:close/>
                    <a:moveTo>
                      <a:pt x="56190" y="113474"/>
                    </a:moveTo>
                    <a:cubicBezTo>
                      <a:pt x="52701" y="109985"/>
                      <a:pt x="52701" y="104328"/>
                      <a:pt x="56190" y="100839"/>
                    </a:cubicBezTo>
                    <a:cubicBezTo>
                      <a:pt x="59680" y="97350"/>
                      <a:pt x="65337" y="97350"/>
                      <a:pt x="68826" y="100839"/>
                    </a:cubicBezTo>
                    <a:lnTo>
                      <a:pt x="89297" y="121310"/>
                    </a:lnTo>
                    <a:lnTo>
                      <a:pt x="145488" y="65120"/>
                    </a:lnTo>
                    <a:cubicBezTo>
                      <a:pt x="148977" y="61631"/>
                      <a:pt x="154634" y="61631"/>
                      <a:pt x="158123" y="65120"/>
                    </a:cubicBezTo>
                    <a:cubicBezTo>
                      <a:pt x="161612" y="68609"/>
                      <a:pt x="161612" y="74266"/>
                      <a:pt x="158123" y="77756"/>
                    </a:cubicBezTo>
                    <a:lnTo>
                      <a:pt x="95615" y="140264"/>
                    </a:lnTo>
                    <a:cubicBezTo>
                      <a:pt x="93940" y="141940"/>
                      <a:pt x="91667" y="142883"/>
                      <a:pt x="89297" y="142883"/>
                    </a:cubicBezTo>
                    <a:cubicBezTo>
                      <a:pt x="86927" y="142883"/>
                      <a:pt x="84654" y="141940"/>
                      <a:pt x="82979" y="140264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37" name="TextBox 37"/>
            <p:cNvSpPr txBox="1"/>
            <p:nvPr/>
          </p:nvSpPr>
          <p:spPr>
            <a:xfrm>
              <a:off x="7654290" y="4663440"/>
              <a:ext cx="1809941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可靠降级与治理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661910" y="5071110"/>
              <a:ext cx="4094988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没有 AI 或地图 Key，浏览、推荐、提交和管理仍可演示。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67811" y="4773930"/>
              <a:ext cx="645909" cy="7315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3600" b="1" dirty="0">
                  <a:solidFill>
                    <a:srgbClr val="1F8A70">
                      <a:alphaMod val="30000"/>
                    </a:srgbClr>
                  </a:solidFill>
                  <a:latin typeface="Trebuchet MS"/>
                  <a:ea typeface="Microsoft YaHei"/>
                  <a:cs typeface="Trebuchet MS"/>
                </a:rPr>
                <a:t>03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781050" y="5600700"/>
            <a:ext cx="4095750" cy="476250"/>
            <a:chOff x="781050" y="5600700"/>
            <a:chExt cx="4095750" cy="476250"/>
          </a:xfrm>
        </p:grpSpPr>
        <p:sp>
          <p:nvSpPr>
            <p:cNvPr id="41" name="Rectangle 41"/>
            <p:cNvSpPr/>
            <p:nvPr/>
          </p:nvSpPr>
          <p:spPr>
            <a:xfrm>
              <a:off x="781050" y="5600700"/>
              <a:ext cx="4095750" cy="4762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44" name="Group 44"/>
            <p:cNvGrpSpPr/>
            <p:nvPr/>
          </p:nvGrpSpPr>
          <p:grpSpPr>
            <a:xfrm>
              <a:off x="1091803" y="5748338"/>
              <a:ext cx="216694" cy="191691"/>
              <a:chOff x="1091803" y="5748338"/>
              <a:chExt cx="216694" cy="191691"/>
            </a:xfrm>
          </p:grpSpPr>
          <p:sp>
            <p:nvSpPr>
              <p:cNvPr id="42" name="Freeform 42"/>
              <p:cNvSpPr/>
              <p:nvPr/>
            </p:nvSpPr>
            <p:spPr>
              <a:xfrm>
                <a:off x="1225153" y="5756672"/>
                <a:ext cx="58341" cy="175022"/>
              </a:xfrm>
              <a:custGeom>
                <a:avLst/>
                <a:gdLst/>
                <a:ahLst/>
                <a:cxnLst/>
                <a:rect l="l" t="t" r="r" b="b"/>
                <a:pathLst>
                  <a:path w="58341" h="175022">
                    <a:moveTo>
                      <a:pt x="58341" y="0"/>
                    </a:moveTo>
                    <a:lnTo>
                      <a:pt x="58341" y="175022"/>
                    </a:lnTo>
                    <a:lnTo>
                      <a:pt x="0" y="175022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43" name="Freeform 43"/>
              <p:cNvSpPr/>
              <p:nvPr/>
            </p:nvSpPr>
            <p:spPr>
              <a:xfrm>
                <a:off x="1091803" y="5748338"/>
                <a:ext cx="216694" cy="191691"/>
              </a:xfrm>
              <a:custGeom>
                <a:avLst/>
                <a:gdLst/>
                <a:ahLst/>
                <a:cxnLst/>
                <a:rect l="l" t="t" r="r" b="b"/>
                <a:pathLst>
                  <a:path w="216694" h="191691">
                    <a:moveTo>
                      <a:pt x="208359" y="175022"/>
                    </a:moveTo>
                    <a:lnTo>
                      <a:pt x="200025" y="175022"/>
                    </a:lnTo>
                    <a:lnTo>
                      <a:pt x="200025" y="8334"/>
                    </a:lnTo>
                    <a:cubicBezTo>
                      <a:pt x="200025" y="3731"/>
                      <a:pt x="196294" y="0"/>
                      <a:pt x="191691" y="0"/>
                    </a:cubicBezTo>
                    <a:lnTo>
                      <a:pt x="133350" y="0"/>
                    </a:lnTo>
                    <a:cubicBezTo>
                      <a:pt x="128747" y="0"/>
                      <a:pt x="125016" y="3731"/>
                      <a:pt x="125016" y="8334"/>
                    </a:cubicBezTo>
                    <a:lnTo>
                      <a:pt x="125016" y="50006"/>
                    </a:lnTo>
                    <a:lnTo>
                      <a:pt x="75009" y="50006"/>
                    </a:lnTo>
                    <a:cubicBezTo>
                      <a:pt x="70406" y="50006"/>
                      <a:pt x="66675" y="53738"/>
                      <a:pt x="66675" y="58341"/>
                    </a:cubicBezTo>
                    <a:lnTo>
                      <a:pt x="66675" y="100012"/>
                    </a:lnTo>
                    <a:lnTo>
                      <a:pt x="25003" y="100012"/>
                    </a:lnTo>
                    <a:cubicBezTo>
                      <a:pt x="20400" y="100012"/>
                      <a:pt x="16669" y="103744"/>
                      <a:pt x="16669" y="108347"/>
                    </a:cubicBezTo>
                    <a:lnTo>
                      <a:pt x="16669" y="175022"/>
                    </a:lnTo>
                    <a:lnTo>
                      <a:pt x="8334" y="175022"/>
                    </a:lnTo>
                    <a:cubicBezTo>
                      <a:pt x="3731" y="175022"/>
                      <a:pt x="0" y="178753"/>
                      <a:pt x="0" y="183356"/>
                    </a:cubicBezTo>
                    <a:cubicBezTo>
                      <a:pt x="0" y="187959"/>
                      <a:pt x="3731" y="191691"/>
                      <a:pt x="8334" y="191691"/>
                    </a:cubicBezTo>
                    <a:lnTo>
                      <a:pt x="208359" y="191691"/>
                    </a:lnTo>
                    <a:cubicBezTo>
                      <a:pt x="212962" y="191691"/>
                      <a:pt x="216694" y="187959"/>
                      <a:pt x="216694" y="183356"/>
                    </a:cubicBezTo>
                    <a:cubicBezTo>
                      <a:pt x="216694" y="178753"/>
                      <a:pt x="212962" y="175022"/>
                      <a:pt x="208359" y="175022"/>
                    </a:cubicBezTo>
                    <a:close/>
                    <a:moveTo>
                      <a:pt x="141684" y="16669"/>
                    </a:moveTo>
                    <a:lnTo>
                      <a:pt x="183356" y="16669"/>
                    </a:lnTo>
                    <a:lnTo>
                      <a:pt x="183356" y="175022"/>
                    </a:lnTo>
                    <a:lnTo>
                      <a:pt x="141684" y="175022"/>
                    </a:lnTo>
                    <a:close/>
                    <a:moveTo>
                      <a:pt x="83344" y="66675"/>
                    </a:moveTo>
                    <a:lnTo>
                      <a:pt x="125016" y="66675"/>
                    </a:lnTo>
                    <a:lnTo>
                      <a:pt x="125016" y="175022"/>
                    </a:lnTo>
                    <a:lnTo>
                      <a:pt x="83344" y="175022"/>
                    </a:lnTo>
                    <a:close/>
                    <a:moveTo>
                      <a:pt x="33338" y="116681"/>
                    </a:moveTo>
                    <a:lnTo>
                      <a:pt x="66675" y="116681"/>
                    </a:lnTo>
                    <a:lnTo>
                      <a:pt x="66675" y="175022"/>
                    </a:lnTo>
                    <a:lnTo>
                      <a:pt x="33338" y="175022"/>
                    </a:ln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45" name="TextBox 45"/>
            <p:cNvSpPr txBox="1"/>
            <p:nvPr/>
          </p:nvSpPr>
          <p:spPr>
            <a:xfrm>
              <a:off x="1451610" y="5804535"/>
              <a:ext cx="2886837" cy="2438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游客优先、多校园基础、内容治理闭环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5"/>
          <p:cNvGrpSpPr/>
          <p:nvPr/>
        </p:nvGrpSpPr>
        <p:grpSpPr>
          <a:xfrm>
            <a:off x="0" y="-133350"/>
            <a:ext cx="12192000" cy="6991350"/>
            <a:chOff x="0" y="-133350"/>
            <a:chExt cx="12192000" cy="699135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solidFill>
              <a:srgbClr val="FBFFF7"/>
            </a:solidFill>
            <a:ln>
              <a:noFill/>
            </a:ln>
          </p:spPr>
        </p:sp>
        <p:sp>
          <p:nvSpPr>
            <p:cNvPr id="3" name="Freeform 3"/>
            <p:cNvSpPr/>
            <p:nvPr/>
          </p:nvSpPr>
          <p:spPr>
            <a:xfrm>
              <a:off x="0" y="0"/>
              <a:ext cx="5334000" cy="6858000"/>
            </a:xfrm>
            <a:custGeom>
              <a:avLst/>
              <a:gdLst/>
              <a:ahLst/>
              <a:cxnLst/>
              <a:rect l="l" t="t" r="r" b="b"/>
              <a:pathLst>
                <a:path w="5334000" h="6858000">
                  <a:moveTo>
                    <a:pt x="0" y="0"/>
                  </a:moveTo>
                  <a:lnTo>
                    <a:pt x="5334000" y="0"/>
                  </a:lnTo>
                  <a:cubicBezTo>
                    <a:pt x="4800600" y="1390650"/>
                    <a:pt x="5048250" y="2876550"/>
                    <a:pt x="4267200" y="4248150"/>
                  </a:cubicBezTo>
                  <a:cubicBezTo>
                    <a:pt x="3543300" y="5543550"/>
                    <a:pt x="2228850" y="6286500"/>
                    <a:pt x="0" y="6858000"/>
                  </a:cubicBezTo>
                  <a:close/>
                </a:path>
              </a:pathLst>
            </a:custGeom>
            <a:solidFill>
              <a:srgbClr val="EAF7EF"/>
            </a:solidFill>
            <a:ln>
              <a:noFill/>
            </a:ln>
          </p:spPr>
        </p:sp>
        <p:sp>
          <p:nvSpPr>
            <p:cNvPr id="4" name="Ellipse 4"/>
            <p:cNvSpPr/>
            <p:nvPr/>
          </p:nvSpPr>
          <p:spPr>
            <a:xfrm>
              <a:off x="9048750" y="-133350"/>
              <a:ext cx="2476500" cy="2476500"/>
            </a:xfrm>
            <a:prstGeom prst="ellipse">
              <a:avLst/>
            </a:prstGeom>
            <a:solidFill>
              <a:srgbClr val="FFB703">
                <a:alpha val="14000"/>
              </a:srgbClr>
            </a:solidFill>
            <a:ln>
              <a:noFill/>
            </a:ln>
          </p:spPr>
        </p:sp>
      </p:grpSp>
      <p:grpSp>
        <p:nvGrpSpPr>
          <p:cNvPr id="15" name="Group 15"/>
          <p:cNvGrpSpPr/>
          <p:nvPr/>
        </p:nvGrpSpPr>
        <p:grpSpPr>
          <a:xfrm>
            <a:off x="533400" y="781050"/>
            <a:ext cx="3238500" cy="4857750"/>
            <a:chOff x="533400" y="781050"/>
            <a:chExt cx="3238500" cy="4857750"/>
          </a:xfrm>
        </p:grpSpPr>
        <p:sp>
          <p:nvSpPr>
            <p:cNvPr id="6" name="Rectangle 6"/>
            <p:cNvSpPr/>
            <p:nvPr/>
          </p:nvSpPr>
          <p:spPr>
            <a:xfrm>
              <a:off x="533400" y="781050"/>
              <a:ext cx="1695450" cy="38100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2108" y="907256"/>
              <a:ext cx="698034" cy="22860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125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SUMMARY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34365" y="1677352"/>
              <a:ext cx="2803208" cy="15087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5400"/>
                </a:lnSpc>
              </a:pPr>
              <a:r>
                <a:rPr lang="zh-CN" sz="40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让校园选择</a:t>
              </a:r>
              <a:r>
                <a:rPr lang="zh-CN" sz="40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更轻一点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702945" y="3612832"/>
              <a:ext cx="2556510" cy="105918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t" anchorCtr="0"/>
            <a:lstStyle/>
            <a:p>
              <a:pPr algn="l">
                <a:lnSpc>
                  <a:spcPts val="2850"/>
                </a:lnSpc>
              </a:pPr>
              <a:r>
                <a:rPr lang="zh-CN" sz="16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Campus Foodie 已形成</a:t>
              </a:r>
              <a:r>
                <a:rPr lang="zh-CN" sz="16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从推荐、决策、评价、审核</a:t>
              </a:r>
              <a:r>
                <a:rPr lang="zh-CN" sz="1650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到影响统计的 MVP 闭环。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742950" y="5105400"/>
              <a:ext cx="3028950" cy="533400"/>
            </a:xfrm>
            <a:prstGeom prst="roundRect">
              <a:avLst>
                <a:gd name="adj" fmla="val 50000"/>
              </a:avLst>
            </a:prstGeom>
            <a:gradFill>
              <a:gsLst>
                <a:gs pos="0">
                  <a:srgbClr val="1F8A70"/>
                </a:gs>
                <a:gs pos="100000">
                  <a:srgbClr val="3A86FF"/>
                </a:gs>
              </a:gsLst>
              <a:lin ang="0" scaled="1"/>
            </a:gradFill>
            <a:ln>
              <a:noFill/>
            </a:ln>
          </p:spPr>
        </p:sp>
        <p:grpSp>
          <p:nvGrpSpPr>
            <p:cNvPr id="13" name="Group 13"/>
            <p:cNvGrpSpPr/>
            <p:nvPr/>
          </p:nvGrpSpPr>
          <p:grpSpPr>
            <a:xfrm>
              <a:off x="1071599" y="5271473"/>
              <a:ext cx="210138" cy="208977"/>
              <a:chOff x="1071599" y="5271473"/>
              <a:chExt cx="210138" cy="208977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1080531" y="5313759"/>
                <a:ext cx="158910" cy="158910"/>
              </a:xfrm>
              <a:custGeom>
                <a:avLst/>
                <a:gdLst/>
                <a:ahLst/>
                <a:cxnLst/>
                <a:rect l="l" t="t" r="r" b="b"/>
                <a:pathLst>
                  <a:path w="158910" h="158910">
                    <a:moveTo>
                      <a:pt x="42228" y="91678"/>
                    </a:moveTo>
                    <a:lnTo>
                      <a:pt x="67232" y="116681"/>
                    </a:lnTo>
                    <a:cubicBezTo>
                      <a:pt x="67232" y="116681"/>
                      <a:pt x="58897" y="150019"/>
                      <a:pt x="8891" y="150019"/>
                    </a:cubicBezTo>
                    <a:cubicBezTo>
                      <a:pt x="8891" y="100012"/>
                      <a:pt x="42228" y="91678"/>
                      <a:pt x="42228" y="91678"/>
                    </a:cubicBezTo>
                    <a:close/>
                    <a:moveTo>
                      <a:pt x="108903" y="0"/>
                    </a:moveTo>
                    <a:lnTo>
                      <a:pt x="44677" y="0"/>
                    </a:lnTo>
                    <a:cubicBezTo>
                      <a:pt x="42469" y="1"/>
                      <a:pt x="40352" y="878"/>
                      <a:pt x="38790" y="2438"/>
                    </a:cubicBezTo>
                    <a:lnTo>
                      <a:pt x="3005" y="38224"/>
                    </a:lnTo>
                    <a:cubicBezTo>
                      <a:pt x="776" y="40457"/>
                      <a:pt x="0" y="43757"/>
                      <a:pt x="999" y="46749"/>
                    </a:cubicBezTo>
                    <a:cubicBezTo>
                      <a:pt x="1998" y="49742"/>
                      <a:pt x="4601" y="51914"/>
                      <a:pt x="7724" y="52361"/>
                    </a:cubicBezTo>
                    <a:lnTo>
                      <a:pt x="50563" y="58341"/>
                    </a:lnTo>
                    <a:close/>
                    <a:moveTo>
                      <a:pt x="100569" y="108347"/>
                    </a:moveTo>
                    <a:lnTo>
                      <a:pt x="106549" y="151186"/>
                    </a:lnTo>
                    <a:cubicBezTo>
                      <a:pt x="106996" y="154309"/>
                      <a:pt x="109168" y="156912"/>
                      <a:pt x="112160" y="157911"/>
                    </a:cubicBezTo>
                    <a:cubicBezTo>
                      <a:pt x="115153" y="158910"/>
                      <a:pt x="118453" y="158133"/>
                      <a:pt x="120686" y="155905"/>
                    </a:cubicBezTo>
                    <a:lnTo>
                      <a:pt x="156472" y="120119"/>
                    </a:lnTo>
                    <a:cubicBezTo>
                      <a:pt x="158032" y="118557"/>
                      <a:pt x="158909" y="116440"/>
                      <a:pt x="158910" y="114233"/>
                    </a:cubicBezTo>
                    <a:lnTo>
                      <a:pt x="158910" y="50006"/>
                    </a:lnTo>
                    <a:close/>
                  </a:path>
                </a:pathLst>
              </a:custGeom>
              <a:solidFill>
                <a:srgbClr val="FFFFFF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12" name="Freeform 12"/>
              <p:cNvSpPr/>
              <p:nvPr/>
            </p:nvSpPr>
            <p:spPr>
              <a:xfrm>
                <a:off x="1071599" y="5271473"/>
                <a:ext cx="210138" cy="208977"/>
              </a:xfrm>
              <a:custGeom>
                <a:avLst/>
                <a:gdLst/>
                <a:ahLst/>
                <a:cxnLst/>
                <a:rect l="l" t="t" r="r" b="b"/>
                <a:pathLst>
                  <a:path w="210138" h="208977">
                    <a:moveTo>
                      <a:pt x="84258" y="160989"/>
                    </a:moveTo>
                    <a:cubicBezTo>
                      <a:pt x="83851" y="162604"/>
                      <a:pt x="73694" y="200640"/>
                      <a:pt x="17822" y="200640"/>
                    </a:cubicBezTo>
                    <a:cubicBezTo>
                      <a:pt x="13219" y="200640"/>
                      <a:pt x="9488" y="196908"/>
                      <a:pt x="9488" y="192305"/>
                    </a:cubicBezTo>
                    <a:cubicBezTo>
                      <a:pt x="9488" y="136434"/>
                      <a:pt x="47524" y="126276"/>
                      <a:pt x="49139" y="125870"/>
                    </a:cubicBezTo>
                    <a:cubicBezTo>
                      <a:pt x="53607" y="124754"/>
                      <a:pt x="58133" y="127471"/>
                      <a:pt x="59249" y="131938"/>
                    </a:cubicBezTo>
                    <a:cubicBezTo>
                      <a:pt x="60366" y="136406"/>
                      <a:pt x="57649" y="140933"/>
                      <a:pt x="53181" y="142049"/>
                    </a:cubicBezTo>
                    <a:cubicBezTo>
                      <a:pt x="52243" y="142309"/>
                      <a:pt x="29824" y="148862"/>
                      <a:pt x="26553" y="183575"/>
                    </a:cubicBezTo>
                    <a:cubicBezTo>
                      <a:pt x="61265" y="180304"/>
                      <a:pt x="67829" y="157926"/>
                      <a:pt x="68100" y="156884"/>
                    </a:cubicBezTo>
                    <a:cubicBezTo>
                      <a:pt x="69250" y="152422"/>
                      <a:pt x="73800" y="149738"/>
                      <a:pt x="78262" y="150889"/>
                    </a:cubicBezTo>
                    <a:cubicBezTo>
                      <a:pt x="82724" y="152039"/>
                      <a:pt x="85409" y="156589"/>
                      <a:pt x="84258" y="161051"/>
                    </a:cubicBezTo>
                    <a:close/>
                    <a:moveTo>
                      <a:pt x="181145" y="90772"/>
                    </a:moveTo>
                    <a:lnTo>
                      <a:pt x="176176" y="95741"/>
                    </a:lnTo>
                    <a:lnTo>
                      <a:pt x="176176" y="156509"/>
                    </a:lnTo>
                    <a:cubicBezTo>
                      <a:pt x="176201" y="160948"/>
                      <a:pt x="174444" y="165211"/>
                      <a:pt x="171300" y="168344"/>
                    </a:cubicBezTo>
                    <a:lnTo>
                      <a:pt x="135545" y="204078"/>
                    </a:lnTo>
                    <a:cubicBezTo>
                      <a:pt x="132431" y="207214"/>
                      <a:pt x="128193" y="208977"/>
                      <a:pt x="123773" y="208974"/>
                    </a:cubicBezTo>
                    <a:cubicBezTo>
                      <a:pt x="121967" y="208974"/>
                      <a:pt x="120173" y="208682"/>
                      <a:pt x="118460" y="208109"/>
                    </a:cubicBezTo>
                    <a:cubicBezTo>
                      <a:pt x="112460" y="206125"/>
                      <a:pt x="108107" y="200907"/>
                      <a:pt x="107229" y="194649"/>
                    </a:cubicBezTo>
                    <a:lnTo>
                      <a:pt x="101635" y="154551"/>
                    </a:lnTo>
                    <a:lnTo>
                      <a:pt x="55577" y="108493"/>
                    </a:lnTo>
                    <a:lnTo>
                      <a:pt x="15499" y="102898"/>
                    </a:lnTo>
                    <a:cubicBezTo>
                      <a:pt x="9234" y="102019"/>
                      <a:pt x="4006" y="97669"/>
                      <a:pt x="2003" y="91667"/>
                    </a:cubicBezTo>
                    <a:cubicBezTo>
                      <a:pt x="0" y="85666"/>
                      <a:pt x="1568" y="79048"/>
                      <a:pt x="6050" y="74582"/>
                    </a:cubicBezTo>
                    <a:lnTo>
                      <a:pt x="41784" y="38828"/>
                    </a:lnTo>
                    <a:cubicBezTo>
                      <a:pt x="44917" y="35683"/>
                      <a:pt x="49180" y="33927"/>
                      <a:pt x="53619" y="33952"/>
                    </a:cubicBezTo>
                    <a:lnTo>
                      <a:pt x="114387" y="33952"/>
                    </a:lnTo>
                    <a:lnTo>
                      <a:pt x="119356" y="28983"/>
                    </a:lnTo>
                    <a:cubicBezTo>
                      <a:pt x="147151" y="1198"/>
                      <a:pt x="180645" y="0"/>
                      <a:pt x="193751" y="781"/>
                    </a:cubicBezTo>
                    <a:cubicBezTo>
                      <a:pt x="202160" y="1292"/>
                      <a:pt x="208867" y="7999"/>
                      <a:pt x="209378" y="16408"/>
                    </a:cubicBezTo>
                    <a:cubicBezTo>
                      <a:pt x="210138" y="29483"/>
                      <a:pt x="208940" y="62977"/>
                      <a:pt x="181155" y="90772"/>
                    </a:cubicBezTo>
                    <a:close/>
                    <a:moveTo>
                      <a:pt x="17822" y="86396"/>
                    </a:moveTo>
                    <a:lnTo>
                      <a:pt x="56525" y="91793"/>
                    </a:lnTo>
                    <a:lnTo>
                      <a:pt x="97718" y="50621"/>
                    </a:lnTo>
                    <a:lnTo>
                      <a:pt x="53619" y="50621"/>
                    </a:lnTo>
                    <a:close/>
                    <a:moveTo>
                      <a:pt x="71287" y="100627"/>
                    </a:moveTo>
                    <a:lnTo>
                      <a:pt x="109501" y="138840"/>
                    </a:lnTo>
                    <a:lnTo>
                      <a:pt x="169352" y="78989"/>
                    </a:lnTo>
                    <a:cubicBezTo>
                      <a:pt x="185670" y="62780"/>
                      <a:pt x="194186" y="40309"/>
                      <a:pt x="192709" y="17356"/>
                    </a:cubicBezTo>
                    <a:cubicBezTo>
                      <a:pt x="169769" y="15932"/>
                      <a:pt x="147329" y="24463"/>
                      <a:pt x="131128" y="40766"/>
                    </a:cubicBezTo>
                    <a:close/>
                    <a:moveTo>
                      <a:pt x="159507" y="112410"/>
                    </a:moveTo>
                    <a:lnTo>
                      <a:pt x="118325" y="153592"/>
                    </a:lnTo>
                    <a:lnTo>
                      <a:pt x="123742" y="192305"/>
                    </a:lnTo>
                    <a:lnTo>
                      <a:pt x="159507" y="156509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</p:sp>
        </p:grpSp>
        <p:sp>
          <p:nvSpPr>
            <p:cNvPr id="14" name="TextBox 14"/>
            <p:cNvSpPr txBox="1"/>
            <p:nvPr/>
          </p:nvSpPr>
          <p:spPr>
            <a:xfrm>
              <a:off x="1506855" y="5302568"/>
              <a:ext cx="1924526" cy="2743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Arial"/>
                  <a:ea typeface="Microsoft YaHei"/>
                  <a:cs typeface="Arial"/>
                </a:rPr>
                <a:t>可演示，也能继续迭代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5715000" y="876300"/>
            <a:ext cx="5505450" cy="5105400"/>
            <a:chOff x="5715000" y="876300"/>
            <a:chExt cx="5505450" cy="5105400"/>
          </a:xfrm>
        </p:grpSpPr>
        <p:sp>
          <p:nvSpPr>
            <p:cNvPr id="16" name="Rectangle 16"/>
            <p:cNvSpPr/>
            <p:nvPr/>
          </p:nvSpPr>
          <p:spPr>
            <a:xfrm>
              <a:off x="5715000" y="876300"/>
              <a:ext cx="5505450" cy="5105400"/>
            </a:xfrm>
            <a:prstGeom prst="roundRect">
              <a:avLst>
                <a:gd name="adj" fmla="val 5597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6073140" y="1158240"/>
              <a:ext cx="1305878" cy="3657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下一步路线</a:t>
              </a:r>
            </a:p>
          </p:txBody>
        </p:sp>
        <p:sp>
          <p:nvSpPr>
            <p:cNvPr id="18" name="Line 18"/>
            <p:cNvSpPr/>
            <p:nvPr/>
          </p:nvSpPr>
          <p:spPr>
            <a:xfrm>
              <a:off x="6438900" y="1695450"/>
              <a:ext cx="9525" cy="3562350"/>
            </a:xfrm>
            <a:custGeom>
              <a:avLst/>
              <a:gdLst/>
              <a:ahLst/>
              <a:cxnLst/>
              <a:rect l="l" t="t" r="r" b="b"/>
              <a:pathLst>
                <a:path w="9525" h="3562350">
                  <a:moveTo>
                    <a:pt x="0" y="0"/>
                  </a:moveTo>
                  <a:lnTo>
                    <a:pt x="0" y="3562350"/>
                  </a:lnTo>
                </a:path>
              </a:pathLst>
            </a:custGeom>
            <a:noFill/>
            <a:ln w="38100" cap="rnd">
              <a:solidFill>
                <a:srgbClr val="DCEBE3"/>
              </a:solidFill>
            </a:ln>
          </p:spPr>
        </p:sp>
        <p:sp>
          <p:nvSpPr>
            <p:cNvPr id="19" name="Line 19"/>
            <p:cNvSpPr/>
            <p:nvPr/>
          </p:nvSpPr>
          <p:spPr>
            <a:xfrm>
              <a:off x="6438900" y="1695450"/>
              <a:ext cx="9525" cy="704850"/>
            </a:xfrm>
            <a:custGeom>
              <a:avLst/>
              <a:gdLst/>
              <a:ahLst/>
              <a:cxnLst/>
              <a:rect l="l" t="t" r="r" b="b"/>
              <a:pathLst>
                <a:path w="9525" h="704850">
                  <a:moveTo>
                    <a:pt x="0" y="0"/>
                  </a:moveTo>
                  <a:lnTo>
                    <a:pt x="0" y="704850"/>
                  </a:lnTo>
                </a:path>
              </a:pathLst>
            </a:custGeom>
            <a:noFill/>
            <a:ln w="38100" cap="rnd">
              <a:solidFill>
                <a:srgbClr val="1F8A70"/>
              </a:solidFill>
            </a:ln>
          </p:spPr>
        </p:sp>
      </p:grpSp>
      <p:grpSp>
        <p:nvGrpSpPr>
          <p:cNvPr id="27" name="Group 27"/>
          <p:cNvGrpSpPr/>
          <p:nvPr/>
        </p:nvGrpSpPr>
        <p:grpSpPr>
          <a:xfrm>
            <a:off x="5800327" y="1619250"/>
            <a:ext cx="4886723" cy="647700"/>
            <a:chOff x="5800327" y="1619250"/>
            <a:chExt cx="4886723" cy="647700"/>
          </a:xfrm>
        </p:grpSpPr>
        <p:sp>
          <p:nvSpPr>
            <p:cNvPr id="21" name="Ellipse 21"/>
            <p:cNvSpPr/>
            <p:nvPr/>
          </p:nvSpPr>
          <p:spPr>
            <a:xfrm>
              <a:off x="6276975" y="1781175"/>
              <a:ext cx="323850" cy="323850"/>
            </a:xfrm>
            <a:prstGeom prst="ellipse">
              <a:avLst/>
            </a:prstGeom>
            <a:solidFill>
              <a:srgbClr val="1F8A70"/>
            </a:solidFill>
            <a:ln w="38100">
              <a:solidFill>
                <a:srgbClr val="FFFFFF"/>
              </a:solidFill>
            </a:ln>
          </p:spPr>
        </p:sp>
        <p:sp>
          <p:nvSpPr>
            <p:cNvPr id="22" name="Freeform 22"/>
            <p:cNvSpPr/>
            <p:nvPr/>
          </p:nvSpPr>
          <p:spPr>
            <a:xfrm>
              <a:off x="6362700" y="1866900"/>
              <a:ext cx="171450" cy="133350"/>
            </a:xfrm>
            <a:custGeom>
              <a:avLst/>
              <a:gdLst/>
              <a:ahLst/>
              <a:cxnLst/>
              <a:rect l="l" t="t" r="r" b="b"/>
              <a:pathLst>
                <a:path w="171450" h="133350">
                  <a:moveTo>
                    <a:pt x="0" y="76200"/>
                  </a:moveTo>
                  <a:lnTo>
                    <a:pt x="57150" y="133350"/>
                  </a:lnTo>
                  <a:lnTo>
                    <a:pt x="171450" y="0"/>
                  </a:lnTo>
                </a:path>
              </a:pathLst>
            </a:custGeom>
            <a:noFill/>
            <a:ln w="28575" cap="rnd">
              <a:solidFill>
                <a:srgbClr val="FFFFFF"/>
              </a:solidFill>
              <a:round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5800327" y="1886902"/>
              <a:ext cx="328058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NOW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6819900" y="16192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EAF7EF"/>
            </a:solidFill>
            <a:ln w="9525">
              <a:solidFill>
                <a:srgbClr val="BFD9CC"/>
              </a:solidFill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7051358" y="1748314"/>
              <a:ext cx="1130297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MVP 闭环完成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7055168" y="2009299"/>
              <a:ext cx="2495074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推荐、地图、评价、审核、降级链路可路演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5939995" y="2457450"/>
            <a:ext cx="4747055" cy="647700"/>
            <a:chOff x="5939995" y="2457450"/>
            <a:chExt cx="4747055" cy="647700"/>
          </a:xfrm>
        </p:grpSpPr>
        <p:sp>
          <p:nvSpPr>
            <p:cNvPr id="28" name="Ellipse 28"/>
            <p:cNvSpPr/>
            <p:nvPr/>
          </p:nvSpPr>
          <p:spPr>
            <a:xfrm>
              <a:off x="6296025" y="26384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3A86FF"/>
              </a:solidFill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5939995" y="27251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01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6819900" y="24574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7051358" y="25865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统一身份接入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7055168" y="2847499"/>
              <a:ext cx="2105025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学校统一认证、微信或企业微信登录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5939995" y="3295650"/>
            <a:ext cx="4747055" cy="647700"/>
            <a:chOff x="5939995" y="3295650"/>
            <a:chExt cx="4747055" cy="647700"/>
          </a:xfrm>
        </p:grpSpPr>
        <p:sp>
          <p:nvSpPr>
            <p:cNvPr id="34" name="Ellipse 34"/>
            <p:cNvSpPr/>
            <p:nvPr/>
          </p:nvSpPr>
          <p:spPr>
            <a:xfrm>
              <a:off x="6296025" y="34766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FFB703"/>
              </a:solidFill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5939995" y="35633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FFB703"/>
                  </a:solidFill>
                  <a:latin typeface="Arial"/>
                  <a:ea typeface="Microsoft YaHei"/>
                  <a:cs typeface="Arial"/>
                </a:rPr>
                <a:t>02</a:t>
              </a:r>
            </a:p>
          </p:txBody>
        </p:sp>
        <p:sp>
          <p:nvSpPr>
            <p:cNvPr id="36" name="Rectangle 36"/>
            <p:cNvSpPr/>
            <p:nvPr/>
          </p:nvSpPr>
          <p:spPr>
            <a:xfrm>
              <a:off x="6819900" y="32956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7051358" y="34247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实时营业数据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7055168" y="36856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营业时间、拥挤度、售罄状态进入推荐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5939995" y="4133850"/>
            <a:ext cx="4747055" cy="647700"/>
            <a:chOff x="5939995" y="4133850"/>
            <a:chExt cx="4747055" cy="647700"/>
          </a:xfrm>
        </p:grpSpPr>
        <p:sp>
          <p:nvSpPr>
            <p:cNvPr id="40" name="Ellipse 40"/>
            <p:cNvSpPr/>
            <p:nvPr/>
          </p:nvSpPr>
          <p:spPr>
            <a:xfrm>
              <a:off x="6296025" y="43148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1F8A70"/>
              </a:solidFill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5939995" y="44015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1F8A70"/>
                  </a:solidFill>
                  <a:latin typeface="Arial"/>
                  <a:ea typeface="Microsoft YaHei"/>
                  <a:cs typeface="Arial"/>
                </a:rPr>
                <a:t>03</a:t>
              </a:r>
            </a:p>
          </p:txBody>
        </p:sp>
        <p:sp>
          <p:nvSpPr>
            <p:cNvPr id="42" name="Rectangle 42"/>
            <p:cNvSpPr/>
            <p:nvPr/>
          </p:nvSpPr>
          <p:spPr>
            <a:xfrm>
              <a:off x="6819900" y="41338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7051358" y="4262914"/>
              <a:ext cx="746474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情境推荐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055168" y="45238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时间段、天气、课程地点帮助更快决策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5939995" y="4972050"/>
            <a:ext cx="4747055" cy="647700"/>
            <a:chOff x="5939995" y="4972050"/>
            <a:chExt cx="4747055" cy="647700"/>
          </a:xfrm>
        </p:grpSpPr>
        <p:sp>
          <p:nvSpPr>
            <p:cNvPr id="46" name="Ellipse 46"/>
            <p:cNvSpPr/>
            <p:nvPr/>
          </p:nvSpPr>
          <p:spPr>
            <a:xfrm>
              <a:off x="6296025" y="5153025"/>
              <a:ext cx="285750" cy="285750"/>
            </a:xfrm>
            <a:prstGeom prst="ellipse">
              <a:avLst/>
            </a:prstGeom>
            <a:solidFill>
              <a:srgbClr val="FFFFFF"/>
            </a:solidFill>
            <a:ln w="38100">
              <a:solidFill>
                <a:srgbClr val="3A86FF"/>
              </a:solidFill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5939995" y="5239702"/>
              <a:ext cx="18839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1050" b="1" dirty="0">
                  <a:solidFill>
                    <a:srgbClr val="3A86FF"/>
                  </a:solidFill>
                  <a:latin typeface="Arial"/>
                  <a:ea typeface="Microsoft YaHei"/>
                  <a:cs typeface="Arial"/>
                </a:rPr>
                <a:t>04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6819900" y="4972050"/>
              <a:ext cx="3867150" cy="647700"/>
            </a:xfrm>
            <a:prstGeom prst="roundRect">
              <a:avLst>
                <a:gd name="adj" fmla="val 26471"/>
              </a:avLst>
            </a:prstGeom>
            <a:solidFill>
              <a:srgbClr val="FFFFFF"/>
            </a:solidFill>
            <a:ln w="9525">
              <a:solidFill>
                <a:srgbClr val="BFD9CC"/>
              </a:solidFill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7051358" y="5101114"/>
              <a:ext cx="1103519" cy="2590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75" b="1" dirty="0">
                  <a:solidFill>
                    <a:srgbClr val="182026"/>
                  </a:solidFill>
                  <a:latin typeface="Arial"/>
                  <a:ea typeface="Microsoft YaHei"/>
                  <a:cs typeface="Arial"/>
                </a:rPr>
                <a:t>推荐效果指标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7055168" y="5362099"/>
              <a:ext cx="2235041" cy="19812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75" dirty="0">
                  <a:solidFill>
                    <a:srgbClr val="4D5A57"/>
                  </a:solidFill>
                  <a:latin typeface="Arial"/>
                  <a:ea typeface="Microsoft YaHei"/>
                  <a:cs typeface="Arial"/>
                </a:rPr>
                <a:t>点击率、收藏率、评价转化率与多样性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4476750" y="6229350"/>
            <a:ext cx="3238500" cy="438150"/>
            <a:chOff x="4476750" y="6229350"/>
            <a:chExt cx="3238500" cy="438150"/>
          </a:xfrm>
        </p:grpSpPr>
        <p:sp>
          <p:nvSpPr>
            <p:cNvPr id="52" name="Rectangle 52"/>
            <p:cNvSpPr/>
            <p:nvPr/>
          </p:nvSpPr>
          <p:spPr>
            <a:xfrm>
              <a:off x="4476750" y="6229350"/>
              <a:ext cx="3238500" cy="438150"/>
            </a:xfrm>
            <a:prstGeom prst="roundRect">
              <a:avLst>
                <a:gd name="adj" fmla="val 50000"/>
              </a:avLst>
            </a:prstGeom>
            <a:solidFill>
              <a:srgbClr val="FFFFFF"/>
            </a:solidFill>
            <a:ln w="14288">
              <a:solidFill>
                <a:srgbClr val="BFD9CC"/>
              </a:solidFill>
            </a:ln>
          </p:spPr>
        </p:sp>
        <p:grpSp>
          <p:nvGrpSpPr>
            <p:cNvPr id="55" name="Group 55"/>
            <p:cNvGrpSpPr/>
            <p:nvPr/>
          </p:nvGrpSpPr>
          <p:grpSpPr>
            <a:xfrm>
              <a:off x="4822031" y="6355556"/>
              <a:ext cx="185738" cy="185738"/>
              <a:chOff x="4822031" y="6355556"/>
              <a:chExt cx="185738" cy="185738"/>
            </a:xfrm>
          </p:grpSpPr>
          <p:sp>
            <p:nvSpPr>
              <p:cNvPr id="53" name="Freeform 53"/>
              <p:cNvSpPr/>
              <p:nvPr/>
            </p:nvSpPr>
            <p:spPr>
              <a:xfrm>
                <a:off x="4829175" y="6362700"/>
                <a:ext cx="171450" cy="171450"/>
              </a:xfrm>
              <a:custGeom>
                <a:avLst/>
                <a:gdLst/>
                <a:ahLst/>
                <a:cxnLst/>
                <a:rect l="l" t="t" r="r" b="b"/>
                <a:pathLst>
                  <a:path w="171450" h="171450">
                    <a:moveTo>
                      <a:pt x="171450" y="85725"/>
                    </a:moveTo>
                    <a:cubicBezTo>
                      <a:pt x="171450" y="133070"/>
                      <a:pt x="133070" y="171450"/>
                      <a:pt x="85725" y="171450"/>
                    </a:cubicBezTo>
                    <a:cubicBezTo>
                      <a:pt x="38380" y="171450"/>
                      <a:pt x="0" y="133070"/>
                      <a:pt x="0" y="85725"/>
                    </a:cubicBezTo>
                    <a:cubicBezTo>
                      <a:pt x="0" y="38380"/>
                      <a:pt x="38380" y="0"/>
                      <a:pt x="85725" y="0"/>
                    </a:cubicBezTo>
                    <a:cubicBezTo>
                      <a:pt x="133070" y="0"/>
                      <a:pt x="171450" y="38380"/>
                      <a:pt x="171450" y="85725"/>
                    </a:cubicBezTo>
                    <a:close/>
                  </a:path>
                </a:pathLst>
              </a:custGeom>
              <a:solidFill>
                <a:srgbClr val="1F8A70">
                  <a:alpha val="20000"/>
                </a:srgbClr>
              </a:solidFill>
              <a:ln>
                <a:noFill/>
              </a:ln>
            </p:spPr>
          </p:sp>
          <p:sp>
            <p:nvSpPr>
              <p:cNvPr id="54" name="Freeform 54"/>
              <p:cNvSpPr/>
              <p:nvPr/>
            </p:nvSpPr>
            <p:spPr>
              <a:xfrm>
                <a:off x="4822031" y="6355556"/>
                <a:ext cx="185738" cy="185738"/>
              </a:xfrm>
              <a:custGeom>
                <a:avLst/>
                <a:gdLst/>
                <a:ahLst/>
                <a:cxnLst/>
                <a:rect l="l" t="t" r="r" b="b"/>
                <a:pathLst>
                  <a:path w="185738" h="185738">
                    <a:moveTo>
                      <a:pt x="103584" y="139303"/>
                    </a:moveTo>
                    <a:cubicBezTo>
                      <a:pt x="103584" y="145221"/>
                      <a:pt x="98787" y="150019"/>
                      <a:pt x="92869" y="150019"/>
                    </a:cubicBezTo>
                    <a:cubicBezTo>
                      <a:pt x="86951" y="150019"/>
                      <a:pt x="82153" y="145221"/>
                      <a:pt x="82153" y="139303"/>
                    </a:cubicBezTo>
                    <a:cubicBezTo>
                      <a:pt x="82153" y="133385"/>
                      <a:pt x="86951" y="128588"/>
                      <a:pt x="92869" y="128588"/>
                    </a:cubicBezTo>
                    <a:cubicBezTo>
                      <a:pt x="98787" y="128588"/>
                      <a:pt x="103584" y="133385"/>
                      <a:pt x="103584" y="139303"/>
                    </a:cubicBezTo>
                    <a:close/>
                    <a:moveTo>
                      <a:pt x="92869" y="42862"/>
                    </a:moveTo>
                    <a:cubicBezTo>
                      <a:pt x="73170" y="42862"/>
                      <a:pt x="57150" y="57284"/>
                      <a:pt x="57150" y="75009"/>
                    </a:cubicBezTo>
                    <a:lnTo>
                      <a:pt x="57150" y="78581"/>
                    </a:lnTo>
                    <a:cubicBezTo>
                      <a:pt x="57150" y="82527"/>
                      <a:pt x="60348" y="85725"/>
                      <a:pt x="64294" y="85725"/>
                    </a:cubicBezTo>
                    <a:cubicBezTo>
                      <a:pt x="68239" y="85725"/>
                      <a:pt x="71438" y="82527"/>
                      <a:pt x="71438" y="78581"/>
                    </a:cubicBezTo>
                    <a:lnTo>
                      <a:pt x="71438" y="75009"/>
                    </a:lnTo>
                    <a:cubicBezTo>
                      <a:pt x="71438" y="65187"/>
                      <a:pt x="81055" y="57150"/>
                      <a:pt x="92869" y="57150"/>
                    </a:cubicBezTo>
                    <a:cubicBezTo>
                      <a:pt x="104683" y="57150"/>
                      <a:pt x="114300" y="65187"/>
                      <a:pt x="114300" y="75009"/>
                    </a:cubicBezTo>
                    <a:cubicBezTo>
                      <a:pt x="114300" y="84832"/>
                      <a:pt x="104683" y="92869"/>
                      <a:pt x="92869" y="92869"/>
                    </a:cubicBezTo>
                    <a:cubicBezTo>
                      <a:pt x="88923" y="92869"/>
                      <a:pt x="85725" y="96067"/>
                      <a:pt x="85725" y="100012"/>
                    </a:cubicBezTo>
                    <a:lnTo>
                      <a:pt x="85725" y="107156"/>
                    </a:lnTo>
                    <a:cubicBezTo>
                      <a:pt x="85725" y="111102"/>
                      <a:pt x="88923" y="114300"/>
                      <a:pt x="92869" y="114300"/>
                    </a:cubicBezTo>
                    <a:cubicBezTo>
                      <a:pt x="96814" y="114300"/>
                      <a:pt x="100012" y="111102"/>
                      <a:pt x="100012" y="107156"/>
                    </a:cubicBezTo>
                    <a:lnTo>
                      <a:pt x="100012" y="106513"/>
                    </a:lnTo>
                    <a:cubicBezTo>
                      <a:pt x="116300" y="103522"/>
                      <a:pt x="128588" y="90529"/>
                      <a:pt x="128588" y="75009"/>
                    </a:cubicBezTo>
                    <a:cubicBezTo>
                      <a:pt x="128588" y="57284"/>
                      <a:pt x="112568" y="42862"/>
                      <a:pt x="92869" y="42862"/>
                    </a:cubicBezTo>
                    <a:close/>
                    <a:moveTo>
                      <a:pt x="185738" y="92869"/>
                    </a:moveTo>
                    <a:cubicBezTo>
                      <a:pt x="185738" y="144159"/>
                      <a:pt x="144159" y="185738"/>
                      <a:pt x="92869" y="185738"/>
                    </a:cubicBezTo>
                    <a:cubicBezTo>
                      <a:pt x="41579" y="185738"/>
                      <a:pt x="0" y="144159"/>
                      <a:pt x="0" y="92869"/>
                    </a:cubicBezTo>
                    <a:cubicBezTo>
                      <a:pt x="0" y="41579"/>
                      <a:pt x="41579" y="0"/>
                      <a:pt x="92869" y="0"/>
                    </a:cubicBezTo>
                    <a:cubicBezTo>
                      <a:pt x="144136" y="54"/>
                      <a:pt x="185683" y="41601"/>
                      <a:pt x="185738" y="92869"/>
                    </a:cubicBezTo>
                    <a:close/>
                    <a:moveTo>
                      <a:pt x="171450" y="92869"/>
                    </a:moveTo>
                    <a:cubicBezTo>
                      <a:pt x="171450" y="49470"/>
                      <a:pt x="136268" y="14288"/>
                      <a:pt x="92869" y="14288"/>
                    </a:cubicBezTo>
                    <a:cubicBezTo>
                      <a:pt x="49470" y="14288"/>
                      <a:pt x="14288" y="49470"/>
                      <a:pt x="14288" y="92869"/>
                    </a:cubicBezTo>
                    <a:cubicBezTo>
                      <a:pt x="14288" y="136268"/>
                      <a:pt x="49470" y="171450"/>
                      <a:pt x="92869" y="171450"/>
                    </a:cubicBezTo>
                    <a:cubicBezTo>
                      <a:pt x="136248" y="171401"/>
                      <a:pt x="171401" y="136248"/>
                      <a:pt x="171450" y="92869"/>
                    </a:cubicBezTo>
                    <a:close/>
                  </a:path>
                </a:pathLst>
              </a:custGeom>
              <a:solidFill>
                <a:srgbClr val="1F8A70"/>
              </a:solidFill>
              <a:ln>
                <a:noFill/>
              </a:ln>
            </p:spPr>
          </p:sp>
        </p:grpSp>
        <p:sp>
          <p:nvSpPr>
            <p:cNvPr id="56" name="TextBox 56"/>
            <p:cNvSpPr txBox="1"/>
            <p:nvPr/>
          </p:nvSpPr>
          <p:spPr>
            <a:xfrm>
              <a:off x="5861343" y="6327458"/>
              <a:ext cx="469313" cy="33528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650" b="1" dirty="0">
                  <a:solidFill>
                    <a:srgbClr val="182026"/>
                  </a:solidFill>
                  <a:latin typeface="Trebuchet MS"/>
                  <a:ea typeface="Microsoft YaHei"/>
                  <a:cs typeface="Trebuchet MS"/>
                </a:rPr>
                <a:t>Q&amp;A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16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2026-07-18T08:54:50Z</dcterms:created>
  <dcterms:modified xsi:type="dcterms:W3CDTF">2026-07-18T08:54:50Z</dcterms:modified>
  <cp:category/>
  <cp:contentStatus/>
</cp:coreProperties>
</file>